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9" r:id="rId5"/>
    <p:sldId id="292" r:id="rId18"/>
    <p:sldId id="288" r:id="rId7"/>
    <p:sldId id="291" r:id="rId8"/>
    <p:sldId id="264" r:id="rId9"/>
    <p:sldId id="265" r:id="rId10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Early DR (grades 1–2) on DDR, EyePACS and APTOS fundus images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r>
              <a:rPr lang="en-US" dirty="0">
                <a:solidFill>
                  <a:srgbClr val="121212"/>
                </a:solidFill>
              </a:rPr>
              <a:t>About Diabetic Retinopathy</a:t>
            </a:r>
            <a:endParaRPr sz="2200" b="1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9377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The clinical burden is growing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2903928" cy="55399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 dirty="0">
                <a:solidFill>
                  <a:srgbClr val="121212"/>
                </a:solidFill>
                <a:latin typeface="Arial"/>
              </a:rPr>
              <a:t>Diabetes has expanded rapidly worldwide, increasing the number of people who need retinal screening for diabetic retinopathy.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535" y="786384"/>
            <a:ext cx="1764792" cy="9683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97096" y="84181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0" y="854408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151M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6575" y="1204151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6535" y="2024253"/>
            <a:ext cx="1764792" cy="96240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97096" y="207568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36575" y="2065972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589M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6575" y="2396488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3168634"/>
            <a:ext cx="1759319" cy="104307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97096" y="3297313"/>
            <a:ext cx="73152" cy="914400"/>
          </a:xfrm>
          <a:prstGeom prst="rect">
            <a:avLst/>
          </a:prstGeom>
          <a:solidFill>
            <a:srgbClr val="FFCD00"/>
          </a:solidFill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36575" y="3254694"/>
            <a:ext cx="1444752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FCD00"/>
                </a:solidFill>
                <a:latin typeface="Arial"/>
              </a:rPr>
              <a:t>+290%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316" y="3661392"/>
            <a:ext cx="1346487" cy="3600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observed increase in
screening population</a:t>
            </a:r>
          </a:p>
        </p:txBody>
      </p:sp>
      <p:pic>
        <p:nvPicPr>
          <p:cNvPr id="17" name="Picture 16" descr="diabetes_growt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13" y="2361462"/>
            <a:ext cx="5331355" cy="22539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3567" y="989267"/>
            <a:ext cx="22860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D5F84"/>
                </a:solidFill>
                <a:latin typeface="Arial"/>
              </a:rPr>
              <a:t>Observed growth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3567" y="1243584"/>
            <a:ext cx="22402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21212"/>
                </a:solidFill>
                <a:latin typeface="Arial"/>
              </a:rPr>
              <a:t>More patients means more fundus images to grade - and more pressure for fast triage.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AF627-36D3-95EE-AFDE-3CCF0DD2912C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Research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Catch early DR (grades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58952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>
                <a:solidFill>
                  <a:srgbClr val="121212"/>
                </a:solidFill>
                <a:latin typeface="Arial"/>
              </a:rPr>
              <a:t>Many studies target referable DR (moderate or worse). This thesis targets the earliest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117" y="197510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Fundus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4066" y="196089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Deep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2015" y="195224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Early-DR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flag (1–2)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193167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Referral /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224028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Primary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Sensitivity for grades 1–2 vs No DR at a fixed specificity.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63240"/>
            <a:ext cx="23774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Secondary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Separate early (1–2) from late (3–4) DR for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3063240"/>
            <a:ext cx="23317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Robustness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Held-out EyePACS patients, then APTOS, never used in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" y="4160520"/>
            <a:ext cx="6903720" cy="365760"/>
          </a:xfrm>
          <a:prstGeom prst="roundRect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220" b="1" dirty="0">
                <a:solidFill>
                  <a:srgbClr val="121212"/>
                </a:solidFill>
                <a:latin typeface="Arial"/>
              </a:rPr>
              <a:t>Goal: high sensitivity at fixed specificity, with calibrated probabilities.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B9CBB-52B0-613A-C36E-30186E81F683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D7F2C5-3AAE-29A3-EB2B-01438851D29E}"/>
              </a:ext>
            </a:extLst>
          </p:cNvPr>
          <p:cNvSpPr/>
          <p:nvPr/>
        </p:nvSpPr>
        <p:spPr>
          <a:xfrm>
            <a:off x="2205893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86BF4C34-5860-73D0-4EEA-45BE3BDDA49D}"/>
              </a:ext>
            </a:extLst>
          </p:cNvPr>
          <p:cNvSpPr/>
          <p:nvPr/>
        </p:nvSpPr>
        <p:spPr>
          <a:xfrm>
            <a:off x="5943987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DBEF0C2C-37B6-B487-308F-4BFD2C35336C}"/>
              </a:ext>
            </a:extLst>
          </p:cNvPr>
          <p:cNvSpPr/>
          <p:nvPr/>
        </p:nvSpPr>
        <p:spPr>
          <a:xfrm>
            <a:off x="4094226" y="2265958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EyePACS,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C: version 1 merge (negative control)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wins on its own test but not on APTOS = it learned the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4B71B-F2B9-1E5F-2770-A74CF9CC5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>
            <a:extLst>
              <a:ext uri="{FF2B5EF4-FFF2-40B4-BE49-F238E27FC236}">
                <a16:creationId xmlns:a16="http://schemas.microsoft.com/office/drawing/2014/main" id="{10AB359D-1787-1D5D-0507-902E40C540B1}"/>
              </a:ext>
            </a:extLst>
          </p:cNvPr>
          <p:cNvSpPr/>
          <p:nvPr/>
        </p:nvSpPr>
        <p:spPr>
          <a:xfrm>
            <a:off x="771251" y="294894"/>
            <a:ext cx="7561219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616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Expected contribution &amp; impact</a:t>
            </a:r>
            <a:endParaRPr lang="en-US" sz="22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2110ED04-CB4F-B65A-25E6-FE5A4A8C05FA}"/>
              </a:ext>
            </a:extLst>
          </p:cNvPr>
          <p:cNvSpPr/>
          <p:nvPr/>
        </p:nvSpPr>
        <p:spPr>
          <a:xfrm>
            <a:off x="425196" y="781812"/>
            <a:ext cx="8126730" cy="35661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92500" lnSpcReduction="20000"/>
          </a:bodyPr>
          <a:lstStyle/>
          <a:p>
            <a:r>
              <a:rPr lang="en-US" sz="1365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accuracy gain is promised in advance: the value is in the design and the evidence.</a:t>
            </a:r>
            <a:endParaRPr lang="en-US" sz="1365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372C0346-9352-6765-D16D-4CC39CECC47F}"/>
              </a:ext>
            </a:extLst>
          </p:cNvPr>
          <p:cNvSpPr/>
          <p:nvPr/>
        </p:nvSpPr>
        <p:spPr>
          <a:xfrm>
            <a:off x="617220" y="1495044"/>
            <a:ext cx="1543050" cy="720090"/>
          </a:xfrm>
          <a:prstGeom prst="roundRect">
            <a:avLst/>
          </a:prstGeom>
          <a:solidFill>
            <a:srgbClr val="2E6B9A"/>
          </a:solidFill>
          <a:ln>
            <a:solidFill>
              <a:srgbClr val="2E6B9A"/>
            </a:solidFill>
          </a:ln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Early-first</a:t>
            </a:r>
            <a:endParaRPr lang="en-US" sz="1425" dirty="0"/>
          </a:p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425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BCA58AE5-59C7-CE42-9138-807712B940B7}"/>
              </a:ext>
            </a:extLst>
          </p:cNvPr>
          <p:cNvSpPr/>
          <p:nvPr/>
        </p:nvSpPr>
        <p:spPr>
          <a:xfrm>
            <a:off x="2228850" y="1851660"/>
            <a:ext cx="322326" cy="0"/>
          </a:xfrm>
          <a:prstGeom prst="line">
            <a:avLst/>
          </a:prstGeom>
          <a:noFill/>
          <a:ln w="2413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FD95AC9D-3F81-68B3-8F67-10FBDA3BCB20}"/>
              </a:ext>
            </a:extLst>
          </p:cNvPr>
          <p:cNvSpPr/>
          <p:nvPr/>
        </p:nvSpPr>
        <p:spPr>
          <a:xfrm>
            <a:off x="2674620" y="1495044"/>
            <a:ext cx="1543050" cy="720090"/>
          </a:xfrm>
          <a:prstGeom prst="roundRect">
            <a:avLst/>
          </a:prstGeom>
          <a:solidFill>
            <a:srgbClr val="0C5A3A"/>
          </a:solidFill>
          <a:ln>
            <a:solidFill>
              <a:srgbClr val="0C5A3A"/>
            </a:solidFill>
          </a:ln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tested</a:t>
            </a:r>
            <a:endParaRPr lang="en-US" sz="1425" dirty="0"/>
          </a:p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</a:t>
            </a:r>
            <a:endParaRPr lang="en-US" sz="1425" dirty="0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46BB3A90-212F-59D5-4FF7-5531A6DDBEF7}"/>
              </a:ext>
            </a:extLst>
          </p:cNvPr>
          <p:cNvSpPr/>
          <p:nvPr/>
        </p:nvSpPr>
        <p:spPr>
          <a:xfrm>
            <a:off x="4286250" y="1851660"/>
            <a:ext cx="322326" cy="0"/>
          </a:xfrm>
          <a:prstGeom prst="line">
            <a:avLst/>
          </a:prstGeom>
          <a:noFill/>
          <a:ln w="2413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243756AD-B017-AF7B-9B58-65010877601B}"/>
              </a:ext>
            </a:extLst>
          </p:cNvPr>
          <p:cNvSpPr/>
          <p:nvPr/>
        </p:nvSpPr>
        <p:spPr>
          <a:xfrm>
            <a:off x="4732020" y="1495044"/>
            <a:ext cx="1543050" cy="720090"/>
          </a:xfrm>
          <a:prstGeom prst="roundRect">
            <a:avLst/>
          </a:prstGeom>
          <a:solidFill>
            <a:srgbClr val="E8893A"/>
          </a:solidFill>
          <a:ln>
            <a:solidFill>
              <a:srgbClr val="E8893A"/>
            </a:solidFill>
          </a:ln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</a:t>
            </a:r>
            <a:endParaRPr lang="en-US" sz="1425" dirty="0"/>
          </a:p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1425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0FEED0C6-DE2D-FA83-5CF2-C2DFF4066A1F}"/>
              </a:ext>
            </a:extLst>
          </p:cNvPr>
          <p:cNvSpPr/>
          <p:nvPr/>
        </p:nvSpPr>
        <p:spPr>
          <a:xfrm>
            <a:off x="6343650" y="1851660"/>
            <a:ext cx="322326" cy="0"/>
          </a:xfrm>
          <a:prstGeom prst="line">
            <a:avLst/>
          </a:prstGeom>
          <a:noFill/>
          <a:ln w="2413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D5B34242-1956-7738-D8E5-A7EB41160152}"/>
              </a:ext>
            </a:extLst>
          </p:cNvPr>
          <p:cNvSpPr/>
          <p:nvPr/>
        </p:nvSpPr>
        <p:spPr>
          <a:xfrm>
            <a:off x="6789420" y="1495044"/>
            <a:ext cx="1543050" cy="720090"/>
          </a:xfrm>
          <a:prstGeom prst="roundRect">
            <a:avLst/>
          </a:prstGeom>
          <a:solidFill>
            <a:srgbClr val="6F4AA8"/>
          </a:solidFill>
          <a:ln>
            <a:solidFill>
              <a:srgbClr val="6F4AA8"/>
            </a:solidFill>
          </a:ln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Calibrated</a:t>
            </a:r>
            <a:endParaRPr lang="en-US" sz="1425" dirty="0"/>
          </a:p>
          <a:p>
            <a:pPr algn="ctr"/>
            <a:r>
              <a:rPr lang="en-US" sz="14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425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AE16797D-34E3-F329-1D4F-240F398A8E47}"/>
              </a:ext>
            </a:extLst>
          </p:cNvPr>
          <p:cNvSpPr/>
          <p:nvPr/>
        </p:nvSpPr>
        <p:spPr>
          <a:xfrm>
            <a:off x="617220" y="2708910"/>
            <a:ext cx="2263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1616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will show</a:t>
            </a:r>
            <a:endParaRPr lang="en-US" sz="15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4D86DBEE-896E-6969-CB42-B2E7DF6D22D1}"/>
              </a:ext>
            </a:extLst>
          </p:cNvPr>
          <p:cNvSpPr/>
          <p:nvPr/>
        </p:nvSpPr>
        <p:spPr>
          <a:xfrm>
            <a:off x="651510" y="3031236"/>
            <a:ext cx="3737610" cy="8778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r>
              <a:rPr lang="en-US" sz="117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Early-DR sensitivity at fixed specificity, with CIs</a:t>
            </a:r>
            <a:endParaRPr lang="en-US" sz="1178" dirty="0"/>
          </a:p>
          <a:p>
            <a:r>
              <a:rPr lang="en-US" sz="117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Does EyePACS help, or only teach the source?</a:t>
            </a:r>
            <a:endParaRPr lang="en-US" sz="1178" dirty="0"/>
          </a:p>
          <a:p>
            <a:r>
              <a:rPr lang="en-US" sz="117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Sampler, loss, augmentation: one change at a time</a:t>
            </a:r>
            <a:endParaRPr lang="en-US" sz="1178" dirty="0"/>
          </a:p>
          <a:p>
            <a:r>
              <a:rPr lang="en-US" sz="117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Calibrated probabilities on unseen sources</a:t>
            </a:r>
            <a:endParaRPr lang="en-US" sz="1178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82677C92-D021-AFA8-A43F-8D516186784B}"/>
              </a:ext>
            </a:extLst>
          </p:cNvPr>
          <p:cNvSpPr/>
          <p:nvPr/>
        </p:nvSpPr>
        <p:spPr>
          <a:xfrm>
            <a:off x="4629150" y="2674620"/>
            <a:ext cx="24003" cy="1337310"/>
          </a:xfrm>
          <a:prstGeom prst="rect">
            <a:avLst/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  <p:txBody>
          <a:bodyPr/>
          <a:lstStyle/>
          <a:p>
            <a:endParaRPr sz="1050"/>
          </a:p>
        </p:txBody>
      </p:sp>
      <p:sp>
        <p:nvSpPr>
          <p:cNvPr id="51" name="Text 17">
            <a:extLst>
              <a:ext uri="{FF2B5EF4-FFF2-40B4-BE49-F238E27FC236}">
                <a16:creationId xmlns:a16="http://schemas.microsoft.com/office/drawing/2014/main" id="{2EFF5BB0-36A9-BF66-F8D0-8349153C60B6}"/>
              </a:ext>
            </a:extLst>
          </p:cNvPr>
          <p:cNvSpPr/>
          <p:nvPr/>
        </p:nvSpPr>
        <p:spPr>
          <a:xfrm>
            <a:off x="4834890" y="270891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1616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it will be measured</a:t>
            </a:r>
            <a:endParaRPr lang="en-US" sz="1500" dirty="0"/>
          </a:p>
        </p:txBody>
      </p:sp>
      <p:sp>
        <p:nvSpPr>
          <p:cNvPr id="53" name="Text 18">
            <a:extLst>
              <a:ext uri="{FF2B5EF4-FFF2-40B4-BE49-F238E27FC236}">
                <a16:creationId xmlns:a16="http://schemas.microsoft.com/office/drawing/2014/main" id="{67B4E789-BF84-7A39-54EB-EC540B9FAB16}"/>
              </a:ext>
            </a:extLst>
          </p:cNvPr>
          <p:cNvSpPr/>
          <p:nvPr/>
        </p:nvSpPr>
        <p:spPr>
          <a:xfrm>
            <a:off x="4834890" y="3010661"/>
            <a:ext cx="3669030" cy="894309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850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Sensitivity at 90% specificity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PR-AUC and AUROC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ECE and Brier score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EyePACS patients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(external, last)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38" dirty="0">
                <a:solidFill>
                  <a:srgbClr val="2B2B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Grad-CAM sanity check</a:t>
            </a:r>
            <a:endParaRPr lang="en-US" sz="1238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B69AE644-92B0-943A-4322-90ADD474A737}"/>
              </a:ext>
            </a:extLst>
          </p:cNvPr>
          <p:cNvSpPr/>
          <p:nvPr/>
        </p:nvSpPr>
        <p:spPr>
          <a:xfrm>
            <a:off x="685800" y="4149090"/>
            <a:ext cx="7783830" cy="288036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 fontScale="70000" lnSpcReduction="20000"/>
          </a:bodyPr>
          <a:lstStyle/>
          <a:p>
            <a:pPr algn="ctr"/>
            <a:r>
              <a:rPr lang="en-US" sz="1613" b="1" dirty="0">
                <a:solidFill>
                  <a:srgbClr val="0C5A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Takeaway: a controlled, calibrated test of early-DR screening across datasets.</a:t>
            </a:r>
            <a:endParaRPr lang="en-US" sz="1613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DBF52E-C3DC-8D62-0F66-878616FDF01E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282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5669280" cy="219456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>
                <a:solidFill>
                  <a:srgbClr val="121212"/>
                </a:solidFill>
                <a:latin typeface="Arial"/>
              </a:rPr>
              <a:t>Pipeline built and tested on synthetic data; real-data runs are next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24128" y="1965960"/>
            <a:ext cx="6793992" cy="0"/>
          </a:xfrm>
          <a:prstGeom prst="line">
            <a:avLst/>
          </a:prstGeom>
          <a:ln w="26670">
            <a:solidFill>
              <a:srgbClr val="006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14400" y="1682496"/>
            <a:ext cx="566928" cy="566928"/>
          </a:xfrm>
          <a:prstGeom prst="ellipse">
            <a:avLst/>
          </a:prstGeom>
          <a:solidFill>
            <a:srgbClr val="00634A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19656"/>
            <a:ext cx="182880" cy="1645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395728"/>
            <a:ext cx="118872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3D5F84"/>
                </a:solidFill>
                <a:latin typeface="Arial"/>
              </a:rPr>
              <a:t>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706624"/>
            <a:ext cx="1627632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930" b="0" i="0">
                <a:solidFill>
                  <a:srgbClr val="121212"/>
                </a:solidFill>
                <a:latin typeface="Arial"/>
              </a:rPr>
              <a:t>Arms A, B and C on DDR</a:t>
            </a:r>
            <a:br>
              <a:rPr sz="930" b="0" i="0">
                <a:solidFill>
                  <a:srgbClr val="121212"/>
                </a:solidFill>
                <a:latin typeface="Arial"/>
              </a:rPr>
            </a:br>
            <a:r>
              <a:rPr sz="930" b="0" i="0">
                <a:solidFill>
                  <a:srgbClr val="121212"/>
                </a:solidFill>
                <a:latin typeface="Arial"/>
              </a:rPr>
              <a:t>and EyePACS, 3 seeds</a:t>
            </a:r>
          </a:p>
        </p:txBody>
      </p:sp>
      <p:sp>
        <p:nvSpPr>
          <p:cNvPr id="9" name="Oval 8"/>
          <p:cNvSpPr/>
          <p:nvPr/>
        </p:nvSpPr>
        <p:spPr>
          <a:xfrm>
            <a:off x="3017520" y="1682496"/>
            <a:ext cx="566928" cy="566928"/>
          </a:xfrm>
          <a:prstGeom prst="ellipse">
            <a:avLst/>
          </a:prstGeom>
          <a:solidFill>
            <a:srgbClr val="00634A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1819656"/>
            <a:ext cx="182880" cy="1645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2395728"/>
            <a:ext cx="118872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3D5F84"/>
                </a:solidFill>
                <a:latin typeface="Arial"/>
              </a:rPr>
              <a:t>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706624"/>
            <a:ext cx="1627632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930" b="0" i="0">
                <a:solidFill>
                  <a:srgbClr val="121212"/>
                </a:solidFill>
                <a:latin typeface="Arial"/>
              </a:rPr>
              <a:t>Imbalance ablations,</a:t>
            </a:r>
            <a:br>
              <a:rPr sz="930" b="0" i="0">
                <a:solidFill>
                  <a:srgbClr val="121212"/>
                </a:solidFill>
                <a:latin typeface="Arial"/>
              </a:rPr>
            </a:br>
            <a:r>
              <a:rPr sz="930" b="0" i="0">
                <a:solidFill>
                  <a:srgbClr val="121212"/>
                </a:solidFill>
                <a:latin typeface="Arial"/>
              </a:rPr>
              <a:t>chosen on validation only</a:t>
            </a:r>
          </a:p>
        </p:txBody>
      </p:sp>
      <p:sp>
        <p:nvSpPr>
          <p:cNvPr id="13" name="Oval 12"/>
          <p:cNvSpPr/>
          <p:nvPr/>
        </p:nvSpPr>
        <p:spPr>
          <a:xfrm>
            <a:off x="5120640" y="1682496"/>
            <a:ext cx="566928" cy="566928"/>
          </a:xfrm>
          <a:prstGeom prst="ellipse">
            <a:avLst/>
          </a:prstGeom>
          <a:solidFill>
            <a:srgbClr val="00634A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0" y="1819656"/>
            <a:ext cx="182880" cy="1645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744" y="2395728"/>
            <a:ext cx="118872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3D5F84"/>
                </a:solidFill>
                <a:latin typeface="Arial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706624"/>
            <a:ext cx="1627632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930" b="0" i="0">
                <a:solidFill>
                  <a:srgbClr val="121212"/>
                </a:solidFill>
                <a:latin typeface="Arial"/>
              </a:rPr>
              <a:t>Held-out EyePACS patients,</a:t>
            </a:r>
            <a:br>
              <a:rPr sz="930" b="0" i="0">
                <a:solidFill>
                  <a:srgbClr val="121212"/>
                </a:solidFill>
                <a:latin typeface="Arial"/>
              </a:rPr>
            </a:br>
            <a:r>
              <a:rPr sz="930" b="0" i="0">
                <a:solidFill>
                  <a:srgbClr val="121212"/>
                </a:solidFill>
                <a:latin typeface="Arial"/>
              </a:rPr>
              <a:t>then APTOS (last)</a:t>
            </a:r>
          </a:p>
        </p:txBody>
      </p:sp>
      <p:sp>
        <p:nvSpPr>
          <p:cNvPr id="17" name="Oval 16"/>
          <p:cNvSpPr/>
          <p:nvPr/>
        </p:nvSpPr>
        <p:spPr>
          <a:xfrm>
            <a:off x="7223759" y="1682496"/>
            <a:ext cx="566928" cy="566928"/>
          </a:xfrm>
          <a:prstGeom prst="ellipse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06640" y="1819656"/>
            <a:ext cx="182880" cy="16459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121212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2395728"/>
            <a:ext cx="118872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200" b="1" i="0">
                <a:solidFill>
                  <a:srgbClr val="3D5F84"/>
                </a:solidFill>
                <a:latin typeface="Arial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7" y="2706624"/>
            <a:ext cx="1627632" cy="18004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930" b="0" i="0" dirty="0">
                <a:solidFill>
                  <a:srgbClr val="121212"/>
                </a:solidFill>
                <a:latin typeface="Arial"/>
              </a:rPr>
              <a:t>Grad-CAM check,</a:t>
            </a:r>
            <a:br>
              <a:rPr sz="930" b="0" i="0" dirty="0">
                <a:solidFill>
                  <a:srgbClr val="121212"/>
                </a:solidFill>
                <a:latin typeface="Arial"/>
              </a:rPr>
            </a:br>
            <a:r>
              <a:rPr sz="930" b="0" i="0" dirty="0">
                <a:solidFill>
                  <a:srgbClr val="121212"/>
                </a:solidFill>
                <a:latin typeface="Arial"/>
              </a:rPr>
              <a:t>thesis chapters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977639"/>
            <a:ext cx="7498079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>
                <a:solidFill>
                  <a:srgbClr val="121212"/>
                </a:solidFill>
                <a:latin typeface="Arial"/>
              </a:rPr>
              <a:t>Goal: evidence that early-DR screening holds across datasets, with probabilities that can be trusted.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CD7E8A-D2EA-21C8-94EF-6410479B30B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1" y="987552"/>
            <a:ext cx="6640605" cy="137390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International Diabetes Federation. IDF Diabetes Atlas, 11th ed., 2025.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Ting, D. S. W., et al. 'Artificial intelligence-assisted diabetic retinopathy screening.' Ophthalmology, 2021.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Shah, P., et al. 'Progression of DR and screening demand.' JAMA Ophthalmology, 2024.</a:t>
            </a:r>
            <a:endParaRPr lang="en-US" sz="919" dirty="0">
              <a:solidFill>
                <a:srgbClr val="121212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WHO. Guidelines on diabetic retinopathy screening, 2023.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CDC. Eye-health guidance for people with diabetes, 2024.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Li, T., et al. Diagnostic assessment of deep learning algorithms for DR screening (DDR). Information Sciences, 2019.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Kaggle. Diabetic Retinopathy Detection (EyePACS), 2015; APTOS 2019 Blindness Detection.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Guo, C., et al. On calibration of modern neural networks. ICML, 2017.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Sipka, T., et al. The hitchhiker’s guide to prior-shift adaptation. WACV, 2022.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 sz="919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203F86-CDFA-B93E-DF6D-3F1C21538AE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Design consequence: three arms — A (DDR only), B (source-balanced) and C (this merge, kept as a negative control) —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