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7" r:id="rId1"/>
  </p:sldMasterIdLst>
  <p:notesMasterIdLst>
    <p:notesMasterId r:id="rId12"/>
  </p:notesMasterIdLst>
  <p:handoutMasterIdLst>
    <p:handoutMasterId r:id="rId13"/>
  </p:handoutMasterIdLst>
  <p:sldIdLst>
    <p:sldId id="256" r:id="rId2"/>
    <p:sldId id="258" r:id="rId3"/>
    <p:sldId id="259" r:id="rId5"/>
    <p:sldId id="292" r:id="rId18"/>
    <p:sldId id="288" r:id="rId7"/>
    <p:sldId id="293" r:id="rId19"/>
    <p:sldId id="291" r:id="rId8"/>
    <p:sldId id="264" r:id="rId9"/>
    <p:sldId id="265" r:id="rId10"/>
    <p:sldId id="267" r:id="rId11"/>
  </p:sldIdLst>
  <p:sldSz cx="9144000" cy="5143500" type="screen16x9"/>
  <p:notesSz cx="9144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46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5" Type="http://schemas.openxmlformats.org/officeDocument/2006/relationships/slide" Target="slides/slide4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1.xml"/>  <Relationship Id="rId19" Type="http://schemas.openxmlformats.org/officeDocument/2006/relationships/slide" Target="slides/slide12.xml"/>
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312860-1975-8061-2CE3-B8E45943A68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CFCB5A-3658-0982-E0B8-69C71A92D5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0A7F9D-9802-4ED6-BF56-25C5E2F82295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939F0A-E2E7-21E1-8E46-E4DB86F5B2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AE522C-0746-6130-9787-88A42369E1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1515B6-B6AE-41D6-8F0F-4DD928EAAC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30834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79484" y="0"/>
            <a:ext cx="39624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2" name="Google Shape;182;p1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2:notes"/>
          <p:cNvSpPr txBox="1">
            <a:spLocks noGrp="1"/>
          </p:cNvSpPr>
          <p:nvPr>
            <p:ph type="body" idx="1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9" name="Google Shape;26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This is what I have measured so far, and it changed the design of the project. Because the top-up is applied only to the short grades, grades 0 and 2 contain no EyePACS images while grades 1 and 3 are nearly 80 percent EyePACS. A quarter of the severity label is recoverable from the dataset name alone. Every merged EyePACS image carries disease, so a model that learns only to recognise the camera gets 38.7 percent of disease cases right with no false alarms — and only for the earliest decision, which is the one I am targeting. So the merge is not just an imbalance fix; it has a cost, and the thesis now measures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19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136195" y="2318983"/>
            <a:ext cx="5654749" cy="552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136195" y="2894946"/>
            <a:ext cx="565474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" name="Google Shape;19;p2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1262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" name="Google Shape;20;p2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299504" y="184149"/>
            <a:ext cx="1819687" cy="1937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2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96677" y="934104"/>
            <a:ext cx="6928451" cy="5385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2"/>
          <p:cNvPicPr preferRelativeResize="0"/>
          <p:nvPr/>
        </p:nvPicPr>
        <p:blipFill rotWithShape="1">
          <a:blip r:embed="rId5">
            <a:alphaModFix amt="12000"/>
          </a:blip>
          <a:srcRect l="4751" t="1941" r="-4750" b="51083"/>
          <a:stretch/>
        </p:blipFill>
        <p:spPr>
          <a:xfrm>
            <a:off x="6864096" y="1829521"/>
            <a:ext cx="1924301" cy="3313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536408" y="1177748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6" name="Google Shape;26;p3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28" name="Google Shape;28;p3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" name="Google Shape;29;p3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Section Header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l="2193" t="294" r="2531" b="-293"/>
          <a:stretch/>
        </p:blipFill>
        <p:spPr>
          <a:xfrm>
            <a:off x="1793311" y="0"/>
            <a:ext cx="7350689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2" name="Google Shape;32;p4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33" name="Google Shape;33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" name="Google Shape;35;p4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36" name="Google Shape;36;p4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4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Slide">
  <p:cSld name="2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4" name="Google Shape;44;p5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976603" y="556528"/>
            <a:ext cx="4167397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45" name="Google Shape;45;p5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47" name="Google Shape;47;p5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5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4840586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9" name="Google Shape;49;p5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06209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Title Slide">
  <p:cSld name="5_Title Slide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6"/>
          <p:cNvSpPr/>
          <p:nvPr/>
        </p:nvSpPr>
        <p:spPr>
          <a:xfrm>
            <a:off x="5332353" y="9004"/>
            <a:ext cx="3788497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3" name="Google Shape;53;p6" descr="A large white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r="16118"/>
          <a:stretch/>
        </p:blipFill>
        <p:spPr>
          <a:xfrm>
            <a:off x="5625197" y="556528"/>
            <a:ext cx="3495654" cy="4586971"/>
          </a:xfrm>
          <a:prstGeom prst="rect">
            <a:avLst/>
          </a:prstGeom>
          <a:noFill/>
          <a:ln>
            <a:noFill/>
          </a:ln>
          <a:effectLst>
            <a:outerShdw algn="ctr" rotWithShape="0">
              <a:srgbClr val="000000">
                <a:alpha val="42352"/>
              </a:srgbClr>
            </a:outerShdw>
          </a:effectLst>
        </p:spPr>
      </p:pic>
      <p:sp>
        <p:nvSpPr>
          <p:cNvPr id="54" name="Google Shape;54;p6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56" name="Google Shape;56;p6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6" descr="A close up of a logo  Description automatically generated"/>
          <p:cNvPicPr preferRelativeResize="0"/>
          <p:nvPr/>
        </p:nvPicPr>
        <p:blipFill rotWithShape="1">
          <a:blip r:embed="rId4">
            <a:alphaModFix/>
          </a:blip>
          <a:srcRect b="19853"/>
          <a:stretch/>
        </p:blipFill>
        <p:spPr>
          <a:xfrm>
            <a:off x="5489179" y="2791962"/>
            <a:ext cx="818534" cy="220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6" descr="A picture containing baseball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4802" y="1407073"/>
            <a:ext cx="1332108" cy="877805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6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Title Slide">
  <p:cSld name="3_Title Slide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7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7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7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65" name="Google Shape;65;p7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83760" y="702216"/>
            <a:ext cx="3865880" cy="44502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7"/>
          <p:cNvSpPr/>
          <p:nvPr/>
        </p:nvSpPr>
        <p:spPr>
          <a:xfrm flipH="1">
            <a:off x="4683073" y="720320"/>
            <a:ext cx="19949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7"/>
          <p:cNvPicPr preferRelativeResize="0"/>
          <p:nvPr/>
        </p:nvPicPr>
        <p:blipFill rotWithShape="1">
          <a:blip r:embed="rId3">
            <a:alphaModFix/>
          </a:blip>
          <a:srcRect b="6847"/>
          <a:stretch/>
        </p:blipFill>
        <p:spPr>
          <a:xfrm>
            <a:off x="7736668" y="9004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Section Header">
  <p:cSld name="5_Section 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8" descr="A tree lined street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836" y="0"/>
            <a:ext cx="4536037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>
            <a:spLocks noGrp="1"/>
          </p:cNvSpPr>
          <p:nvPr>
            <p:ph type="title"/>
          </p:nvPr>
        </p:nvSpPr>
        <p:spPr>
          <a:xfrm>
            <a:off x="4791393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8"/>
          <p:cNvSpPr txBox="1">
            <a:spLocks noGrp="1"/>
          </p:cNvSpPr>
          <p:nvPr>
            <p:ph type="body" idx="1"/>
          </p:nvPr>
        </p:nvSpPr>
        <p:spPr>
          <a:xfrm>
            <a:off x="4791393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3" name="Google Shape;73;p8"/>
          <p:cNvSpPr/>
          <p:nvPr/>
        </p:nvSpPr>
        <p:spPr>
          <a:xfrm>
            <a:off x="4427668" y="729324"/>
            <a:ext cx="143205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Slide">
  <p:cSld name="4_Title Slid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9"/>
          <p:cNvSpPr/>
          <p:nvPr/>
        </p:nvSpPr>
        <p:spPr>
          <a:xfrm>
            <a:off x="4683760" y="9004"/>
            <a:ext cx="4460240" cy="5134496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9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4677507" y="914401"/>
            <a:ext cx="4466494" cy="4229100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subTitle" idx="1"/>
          </p:nvPr>
        </p:nvSpPr>
        <p:spPr>
          <a:xfrm>
            <a:off x="318901" y="1224321"/>
            <a:ext cx="4009259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  <a:defRPr>
                <a:solidFill>
                  <a:srgbClr val="4A4F55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pic>
        <p:nvPicPr>
          <p:cNvPr id="79" name="Google Shape;79;p9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 b="19853"/>
          <a:stretch/>
        </p:blipFill>
        <p:spPr>
          <a:xfrm rot="-8851503">
            <a:off x="5255191" y="465522"/>
            <a:ext cx="930293" cy="24227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9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9"/>
          <p:cNvSpPr/>
          <p:nvPr/>
        </p:nvSpPr>
        <p:spPr>
          <a:xfrm>
            <a:off x="4677505" y="0"/>
            <a:ext cx="4466495" cy="914400"/>
          </a:xfrm>
          <a:prstGeom prst="rect">
            <a:avLst/>
          </a:prstGeom>
          <a:solidFill>
            <a:srgbClr val="272324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2" name="Google Shape;82;p9"/>
          <p:cNvPicPr preferRelativeResize="0"/>
          <p:nvPr/>
        </p:nvPicPr>
        <p:blipFill rotWithShape="1">
          <a:blip r:embed="rId4">
            <a:alphaModFix/>
          </a:blip>
          <a:srcRect b="6847"/>
          <a:stretch/>
        </p:blipFill>
        <p:spPr>
          <a:xfrm>
            <a:off x="7713518" y="2762"/>
            <a:ext cx="1407332" cy="14982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32058" y="2670664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>
            <a:spLocks noGrp="1"/>
          </p:cNvSpPr>
          <p:nvPr>
            <p:ph type="ctrTitle"/>
          </p:nvPr>
        </p:nvSpPr>
        <p:spPr>
          <a:xfrm>
            <a:off x="330905" y="295171"/>
            <a:ext cx="2249504" cy="551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0"/>
          <p:cNvSpPr txBox="1">
            <a:spLocks noGrp="1"/>
          </p:cNvSpPr>
          <p:nvPr>
            <p:ph type="sldNum" idx="12"/>
          </p:nvPr>
        </p:nvSpPr>
        <p:spPr>
          <a:xfrm>
            <a:off x="7010400" y="4869656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7" name="Google Shape;87;p10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115433" y="642359"/>
            <a:ext cx="804339" cy="810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15433" y="1660176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163311" y="665781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0"/>
          <p:cNvSpPr txBox="1"/>
          <p:nvPr/>
        </p:nvSpPr>
        <p:spPr>
          <a:xfrm>
            <a:off x="3186250" y="170068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0"/>
          <p:cNvSpPr txBox="1"/>
          <p:nvPr/>
        </p:nvSpPr>
        <p:spPr>
          <a:xfrm>
            <a:off x="3194563" y="2706528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" name="Google Shape;92;p10" descr="A close up of a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23746" y="3663543"/>
            <a:ext cx="804339" cy="810773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0"/>
          <p:cNvSpPr txBox="1"/>
          <p:nvPr/>
        </p:nvSpPr>
        <p:spPr>
          <a:xfrm>
            <a:off x="3186250" y="3704055"/>
            <a:ext cx="673331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b="1" i="0" u="none" strike="noStrike" cap="none">
                <a:solidFill>
                  <a:srgbClr val="89898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1" descr="A group of palm trees on the side of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 t="-186"/>
          <a:stretch/>
        </p:blipFill>
        <p:spPr>
          <a:xfrm>
            <a:off x="-26057" y="-9562"/>
            <a:ext cx="5432223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6" name="Google Shape;96;p11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97" name="Google Shape;97;p11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11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11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00" name="Google Shape;100;p11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11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11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1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5" name="Google Shape;105;p1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Section Header">
  <p:cSld name="3_Section 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2" descr="A group of people posing for the camera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9563"/>
            <a:ext cx="5387332" cy="516199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" name="Google Shape;108;p12"/>
          <p:cNvGrpSpPr/>
          <p:nvPr/>
        </p:nvGrpSpPr>
        <p:grpSpPr>
          <a:xfrm rot="10800000">
            <a:off x="2071688" y="-10886"/>
            <a:ext cx="6399490" cy="5143501"/>
            <a:chOff x="0" y="-1"/>
            <a:chExt cx="6377354" cy="5150732"/>
          </a:xfrm>
        </p:grpSpPr>
        <p:sp>
          <p:nvSpPr>
            <p:cNvPr id="109" name="Google Shape;109;p12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12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1" name="Google Shape;111;p12"/>
          <p:cNvGrpSpPr/>
          <p:nvPr/>
        </p:nvGrpSpPr>
        <p:grpSpPr>
          <a:xfrm rot="10800000">
            <a:off x="2589184" y="-16820"/>
            <a:ext cx="6548803" cy="5169255"/>
            <a:chOff x="-34290" y="-1"/>
            <a:chExt cx="6548804" cy="5150732"/>
          </a:xfrm>
        </p:grpSpPr>
        <p:sp>
          <p:nvSpPr>
            <p:cNvPr id="112" name="Google Shape;112;p12"/>
            <p:cNvSpPr/>
            <p:nvPr/>
          </p:nvSpPr>
          <p:spPr>
            <a:xfrm>
              <a:off x="-34290" y="1"/>
              <a:ext cx="3231326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3" name="Google Shape;113;p12"/>
            <p:cNvSpPr/>
            <p:nvPr/>
          </p:nvSpPr>
          <p:spPr>
            <a:xfrm rot="5400000">
              <a:off x="228040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2"/>
          <p:cNvSpPr/>
          <p:nvPr/>
        </p:nvSpPr>
        <p:spPr>
          <a:xfrm rot="-8820000">
            <a:off x="4208375" y="-421296"/>
            <a:ext cx="153842" cy="4527614"/>
          </a:xfrm>
          <a:custGeom>
            <a:avLst/>
            <a:gdLst/>
            <a:ahLst/>
            <a:cxnLst/>
            <a:rect l="l" t="t" r="r" b="b"/>
            <a:pathLst>
              <a:path w="81241" h="4522221" extrusionOk="0">
                <a:moveTo>
                  <a:pt x="10903" y="131585"/>
                </a:moveTo>
                <a:lnTo>
                  <a:pt x="76142" y="0"/>
                </a:lnTo>
                <a:cubicBezTo>
                  <a:pt x="77842" y="1472062"/>
                  <a:pt x="79541" y="2944124"/>
                  <a:pt x="81241" y="4416186"/>
                </a:cubicBezTo>
                <a:cubicBezTo>
                  <a:pt x="14484" y="4497775"/>
                  <a:pt x="27080" y="4486876"/>
                  <a:pt x="0" y="4522221"/>
                </a:cubicBezTo>
                <a:cubicBezTo>
                  <a:pt x="3151" y="3094021"/>
                  <a:pt x="7752" y="1559785"/>
                  <a:pt x="10903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2"/>
          <p:cNvSpPr txBox="1">
            <a:spLocks noGrp="1"/>
          </p:cNvSpPr>
          <p:nvPr>
            <p:ph type="title"/>
          </p:nvPr>
        </p:nvSpPr>
        <p:spPr>
          <a:xfrm>
            <a:off x="4520564" y="2612014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2"/>
          <p:cNvSpPr txBox="1">
            <a:spLocks noGrp="1"/>
          </p:cNvSpPr>
          <p:nvPr>
            <p:ph type="body" idx="1"/>
          </p:nvPr>
        </p:nvSpPr>
        <p:spPr>
          <a:xfrm>
            <a:off x="4520564" y="3633570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Section Header">
  <p:cSld name="4_Section Head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 descr="A group of people walking down a street  Description automatically generated"/>
          <p:cNvPicPr preferRelativeResize="0"/>
          <p:nvPr/>
        </p:nvPicPr>
        <p:blipFill rotWithShape="1">
          <a:blip r:embed="rId2">
            <a:alphaModFix/>
          </a:blip>
          <a:srcRect t="-162" b="-176"/>
          <a:stretch/>
        </p:blipFill>
        <p:spPr>
          <a:xfrm>
            <a:off x="3369971" y="-17293"/>
            <a:ext cx="5774029" cy="51607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13"/>
          <p:cNvGrpSpPr/>
          <p:nvPr/>
        </p:nvGrpSpPr>
        <p:grpSpPr>
          <a:xfrm>
            <a:off x="439200" y="0"/>
            <a:ext cx="6377354" cy="5154356"/>
            <a:chOff x="0" y="-1"/>
            <a:chExt cx="6377354" cy="5150732"/>
          </a:xfrm>
        </p:grpSpPr>
        <p:sp>
          <p:nvSpPr>
            <p:cNvPr id="121" name="Google Shape;121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-80647" y="-2"/>
            <a:ext cx="6377354" cy="5156081"/>
            <a:chOff x="0" y="-1"/>
            <a:chExt cx="6377354" cy="5150732"/>
          </a:xfrm>
        </p:grpSpPr>
        <p:sp>
          <p:nvSpPr>
            <p:cNvPr id="124" name="Google Shape;124;p13"/>
            <p:cNvSpPr/>
            <p:nvPr/>
          </p:nvSpPr>
          <p:spPr>
            <a:xfrm>
              <a:off x="0" y="0"/>
              <a:ext cx="3059877" cy="5143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13"/>
            <p:cNvSpPr/>
            <p:nvPr/>
          </p:nvSpPr>
          <p:spPr>
            <a:xfrm rot="5400000">
              <a:off x="2143249" y="916627"/>
              <a:ext cx="5150732" cy="3317477"/>
            </a:xfrm>
            <a:prstGeom prst="triangle">
              <a:avLst>
                <a:gd name="adj" fmla="val 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3"/>
          <p:cNvSpPr/>
          <p:nvPr/>
        </p:nvSpPr>
        <p:spPr>
          <a:xfrm rot="1956373">
            <a:off x="4575729" y="1038850"/>
            <a:ext cx="133535" cy="4514253"/>
          </a:xfrm>
          <a:custGeom>
            <a:avLst/>
            <a:gdLst/>
            <a:ahLst/>
            <a:cxnLst/>
            <a:rect l="l" t="t" r="r" b="b"/>
            <a:pathLst>
              <a:path w="74404" h="4514253" extrusionOk="0">
                <a:moveTo>
                  <a:pt x="4066" y="131585"/>
                </a:moveTo>
                <a:lnTo>
                  <a:pt x="69305" y="0"/>
                </a:lnTo>
                <a:cubicBezTo>
                  <a:pt x="71005" y="1472062"/>
                  <a:pt x="72704" y="2944124"/>
                  <a:pt x="74404" y="4416186"/>
                </a:cubicBezTo>
                <a:lnTo>
                  <a:pt x="0" y="4514253"/>
                </a:lnTo>
                <a:cubicBezTo>
                  <a:pt x="3151" y="3086053"/>
                  <a:pt x="915" y="1559785"/>
                  <a:pt x="4066" y="13158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/>
          </p:nvPr>
        </p:nvSpPr>
        <p:spPr>
          <a:xfrm>
            <a:off x="601358" y="470882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13"/>
          <p:cNvSpPr txBox="1">
            <a:spLocks noGrp="1"/>
          </p:cNvSpPr>
          <p:nvPr>
            <p:ph type="body" idx="1"/>
          </p:nvPr>
        </p:nvSpPr>
        <p:spPr>
          <a:xfrm>
            <a:off x="601358" y="1492438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9" name="Google Shape;129;p13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Section Header">
  <p:cSld name="6_Section Header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4" descr="A group of people walking down a street next to a building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607449" y="0"/>
            <a:ext cx="4536551" cy="512535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>
            <a:spLocks noGrp="1"/>
          </p:cNvSpPr>
          <p:nvPr>
            <p:ph type="title"/>
          </p:nvPr>
        </p:nvSpPr>
        <p:spPr>
          <a:xfrm>
            <a:off x="512001" y="644503"/>
            <a:ext cx="3592512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4"/>
          <p:cNvSpPr txBox="1">
            <a:spLocks noGrp="1"/>
          </p:cNvSpPr>
          <p:nvPr>
            <p:ph type="body" idx="1"/>
          </p:nvPr>
        </p:nvSpPr>
        <p:spPr>
          <a:xfrm>
            <a:off x="512001" y="1666059"/>
            <a:ext cx="3592512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14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5" name="Google Shape;135;p14"/>
          <p:cNvSpPr/>
          <p:nvPr/>
        </p:nvSpPr>
        <p:spPr>
          <a:xfrm flipH="1">
            <a:off x="4607449" y="729324"/>
            <a:ext cx="147431" cy="4414176"/>
          </a:xfrm>
          <a:custGeom>
            <a:avLst/>
            <a:gdLst/>
            <a:ahLst/>
            <a:cxnLst/>
            <a:rect l="l" t="t" r="r" b="b"/>
            <a:pathLst>
              <a:path w="79792" h="4414176" extrusionOk="0">
                <a:moveTo>
                  <a:pt x="9454" y="129575"/>
                </a:moveTo>
                <a:lnTo>
                  <a:pt x="79792" y="0"/>
                </a:lnTo>
                <a:lnTo>
                  <a:pt x="79792" y="4414176"/>
                </a:lnTo>
                <a:lnTo>
                  <a:pt x="0" y="4414176"/>
                </a:lnTo>
                <a:cubicBezTo>
                  <a:pt x="3151" y="2985976"/>
                  <a:pt x="6303" y="1557775"/>
                  <a:pt x="9454" y="129575"/>
                </a:cubicBezTo>
                <a:close/>
              </a:path>
            </a:pathLst>
          </a:custGeom>
          <a:solidFill>
            <a:srgbClr val="FCC90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ader Only">
  <p:cSld name="Header Only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5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8" name="Google Shape;138;p15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39" name="Google Shape;139;p15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0" name="Google Shape;140;p15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1" name="Google Shape;141;p15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2" name="Google Shape;142;p15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Header &amp; Subtitle">
  <p:cSld name="1_Header &amp; Subtitle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16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46" name="Google Shape;146;p16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536408" y="1146189"/>
            <a:ext cx="8140628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A4F55"/>
              </a:buClr>
              <a:buSzPts val="1500"/>
              <a:buNone/>
              <a:defRPr sz="1500">
                <a:solidFill>
                  <a:srgbClr val="4A4F55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grpSp>
        <p:nvGrpSpPr>
          <p:cNvPr id="148" name="Google Shape;148;p16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49" name="Google Shape;149;p16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0" name="Google Shape;150;p16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2718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" name="Google Shape;153;p17"/>
          <p:cNvGrpSpPr/>
          <p:nvPr/>
        </p:nvGrpSpPr>
        <p:grpSpPr>
          <a:xfrm>
            <a:off x="198023" y="147081"/>
            <a:ext cx="8503920" cy="543191"/>
            <a:chOff x="198023" y="147081"/>
            <a:chExt cx="8700480" cy="543191"/>
          </a:xfrm>
        </p:grpSpPr>
        <p:pic>
          <p:nvPicPr>
            <p:cNvPr id="154" name="Google Shape;154;p17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98023" y="151749"/>
              <a:ext cx="49224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5" name="Google Shape;155;p17"/>
            <p:cNvSpPr/>
            <p:nvPr/>
          </p:nvSpPr>
          <p:spPr>
            <a:xfrm>
              <a:off x="690269" y="147081"/>
              <a:ext cx="8208234" cy="64008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6" name="Google Shape;156;p17"/>
          <p:cNvSpPr txBox="1">
            <a:spLocks noGrp="1"/>
          </p:cNvSpPr>
          <p:nvPr>
            <p:ph type="title"/>
          </p:nvPr>
        </p:nvSpPr>
        <p:spPr>
          <a:xfrm>
            <a:off x="536408" y="229323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7"/>
          <p:cNvSpPr txBox="1">
            <a:spLocks noGrp="1"/>
          </p:cNvSpPr>
          <p:nvPr>
            <p:ph type="body" idx="1"/>
          </p:nvPr>
        </p:nvSpPr>
        <p:spPr>
          <a:xfrm>
            <a:off x="536408" y="1169435"/>
            <a:ext cx="8140628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o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lumn Content">
  <p:cSld name="Two Collumn Content"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8"/>
          <p:cNvSpPr txBox="1">
            <a:spLocks noGrp="1"/>
          </p:cNvSpPr>
          <p:nvPr>
            <p:ph type="body" idx="1"/>
          </p:nvPr>
        </p:nvSpPr>
        <p:spPr>
          <a:xfrm>
            <a:off x="536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0" name="Google Shape;160;p18"/>
          <p:cNvSpPr txBox="1">
            <a:spLocks noGrp="1"/>
          </p:cNvSpPr>
          <p:nvPr>
            <p:ph type="body" idx="2"/>
          </p:nvPr>
        </p:nvSpPr>
        <p:spPr>
          <a:xfrm>
            <a:off x="4727408" y="1200151"/>
            <a:ext cx="3959392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marL="1371600" lvl="2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o"/>
              <a:defRPr sz="1500"/>
            </a:lvl3pPr>
            <a:lvl4pPr marL="1828800" lvl="3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–"/>
              <a:defRPr sz="1350"/>
            </a:lvl4pPr>
            <a:lvl5pPr marL="2286000" lvl="4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rgbClr val="7F7F7F"/>
              </a:buClr>
              <a:buSzPts val="1350"/>
              <a:buChar char="»"/>
              <a:defRPr sz="1350"/>
            </a:lvl5pPr>
            <a:lvl6pPr marL="2743200" lvl="5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marL="3200400" lvl="6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marL="3657600" lvl="7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marL="4114800" lvl="8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>
            <a:endParaRPr/>
          </a:p>
        </p:txBody>
      </p:sp>
      <p:sp>
        <p:nvSpPr>
          <p:cNvPr id="161" name="Google Shape;161;p18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2" name="Google Shape;162;p18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63" name="Google Shape;163;p18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18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65" name="Google Shape;165;p18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6" name="Google Shape;166;p18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Comparison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 txBox="1">
            <a:spLocks noGrp="1"/>
          </p:cNvSpPr>
          <p:nvPr>
            <p:ph type="body" idx="1"/>
          </p:nvPr>
        </p:nvSpPr>
        <p:spPr>
          <a:xfrm>
            <a:off x="536408" y="1151335"/>
            <a:ext cx="3960980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69" name="Google Shape;169;p19"/>
          <p:cNvSpPr txBox="1">
            <a:spLocks noGrp="1"/>
          </p:cNvSpPr>
          <p:nvPr>
            <p:ph type="body" idx="2"/>
          </p:nvPr>
        </p:nvSpPr>
        <p:spPr>
          <a:xfrm>
            <a:off x="536408" y="1631156"/>
            <a:ext cx="3960980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0" name="Google Shape;170;p19"/>
          <p:cNvSpPr txBox="1">
            <a:spLocks noGrp="1"/>
          </p:cNvSpPr>
          <p:nvPr>
            <p:ph type="body" idx="3"/>
          </p:nvPr>
        </p:nvSpPr>
        <p:spPr>
          <a:xfrm>
            <a:off x="4724265" y="1151335"/>
            <a:ext cx="3962536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FCC90A"/>
              </a:buClr>
              <a:buSzPts val="1800"/>
              <a:buNone/>
              <a:defRPr sz="1800" b="1">
                <a:solidFill>
                  <a:srgbClr val="FCC90A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4"/>
          </p:nvPr>
        </p:nvSpPr>
        <p:spPr>
          <a:xfrm>
            <a:off x="4724265" y="1631156"/>
            <a:ext cx="3962536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marL="914400" lvl="1" indent="-32385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2pPr>
            <a:lvl3pPr marL="1371600" lvl="2" indent="-314325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o"/>
              <a:defRPr sz="1350"/>
            </a:lvl3pPr>
            <a:lvl4pPr marL="1828800" lvl="3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–"/>
              <a:defRPr sz="1200"/>
            </a:lvl4pPr>
            <a:lvl5pPr marL="2286000" lvl="4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Char char="»"/>
              <a:defRPr sz="1200"/>
            </a:lvl5pPr>
            <a:lvl6pPr marL="2743200" lvl="5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172" name="Google Shape;172;p19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" name="Google Shape;173;p19"/>
          <p:cNvSpPr txBox="1">
            <a:spLocks noGrp="1"/>
          </p:cNvSpPr>
          <p:nvPr>
            <p:ph type="title"/>
          </p:nvPr>
        </p:nvSpPr>
        <p:spPr>
          <a:xfrm>
            <a:off x="536408" y="237636"/>
            <a:ext cx="8140628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74" name="Google Shape;174;p19" descr="A close up of a logo  Description automatically generated"/>
          <p:cNvPicPr preferRelativeResize="0"/>
          <p:nvPr/>
        </p:nvPicPr>
        <p:blipFill rotWithShape="1">
          <a:blip r:embed="rId2">
            <a:alphaModFix/>
          </a:blip>
          <a:srcRect b="-4198"/>
          <a:stretch/>
        </p:blipFill>
        <p:spPr>
          <a:xfrm>
            <a:off x="0" y="0"/>
            <a:ext cx="876601" cy="79629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" name="Google Shape;175;p19"/>
          <p:cNvGrpSpPr/>
          <p:nvPr/>
        </p:nvGrpSpPr>
        <p:grpSpPr>
          <a:xfrm>
            <a:off x="182346" y="104249"/>
            <a:ext cx="570006" cy="4473696"/>
            <a:chOff x="182346" y="104249"/>
            <a:chExt cx="570006" cy="4473696"/>
          </a:xfrm>
        </p:grpSpPr>
        <p:pic>
          <p:nvPicPr>
            <p:cNvPr id="176" name="Google Shape;176;p19" descr="A close up of a logo  Description automatically generated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182346" y="104249"/>
              <a:ext cx="570006" cy="53852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7" name="Google Shape;177;p19"/>
            <p:cNvSpPr/>
            <p:nvPr/>
          </p:nvSpPr>
          <p:spPr>
            <a:xfrm rot="5400000">
              <a:off x="-1801902" y="2538833"/>
              <a:ext cx="4023360" cy="54864"/>
            </a:xfrm>
            <a:prstGeom prst="rect">
              <a:avLst/>
            </a:prstGeom>
            <a:solidFill>
              <a:srgbClr val="FCC90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0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theme" Target="../theme/theme1.xml"/><Relationship Id="rId2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228600" y="170261"/>
            <a:ext cx="8769096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228600" y="1126999"/>
            <a:ext cx="8769096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  <a:defRPr sz="1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o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rgbClr val="7F7F7F"/>
              </a:buClr>
              <a:buSzPts val="1200"/>
              <a:buFont typeface="Arial"/>
              <a:buChar char="–"/>
              <a:defRPr sz="12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6975564" y="4826111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" name="Google Shape;13;p1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80509" y="4720046"/>
            <a:ext cx="320286" cy="34098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/>
          <p:nvPr/>
        </p:nvSpPr>
        <p:spPr>
          <a:xfrm>
            <a:off x="357250" y="4806164"/>
            <a:ext cx="2673331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CAL STATE LA </a:t>
            </a:r>
            <a:r>
              <a:rPr lang="en-US" sz="600" b="0" i="0" u="none" strike="noStrike" cap="none">
                <a:solidFill>
                  <a:srgbClr val="FCC90A"/>
                </a:solidFill>
                <a:latin typeface="Arial"/>
                <a:ea typeface="Arial"/>
                <a:cs typeface="Arial"/>
                <a:sym typeface="Arial"/>
              </a:rPr>
              <a:t> |   </a:t>
            </a:r>
            <a:r>
              <a:rPr lang="en-US" sz="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>
            <a:spLocks noGrp="1"/>
          </p:cNvSpPr>
          <p:nvPr>
            <p:ph type="subTitle" idx="1"/>
          </p:nvPr>
        </p:nvSpPr>
        <p:spPr>
          <a:xfrm>
            <a:off x="2103863" y="3465715"/>
            <a:ext cx="4906537" cy="121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Early DR (grades 1–2) on DDR, EyePACS and APTOS fundus images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rPr lang="en-US">
                <a:solidFill>
                  <a:schemeClr val="dk1"/>
                </a:solidFill>
              </a:rPr>
              <a:t>Advisor: Navid Amini, PhD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r>
              <a:rPr lang="en-US"/>
              <a:t>Department of Computer Science</a:t>
            </a:r>
            <a:endParaRPr/>
          </a:p>
          <a:p>
            <a:pPr marL="0" lvl="0" indent="0" algn="ctr" rtl="0">
              <a:lnSpc>
                <a:spcPct val="100000"/>
              </a:lnSpc>
              <a:spcBef>
                <a:spcPts val="340"/>
              </a:spcBef>
              <a:spcAft>
                <a:spcPts val="0"/>
              </a:spcAft>
              <a:buClr>
                <a:srgbClr val="4A4F55"/>
              </a:buClr>
              <a:buSzPts val="1700"/>
              <a:buNone/>
            </a:pP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0" y="2112255"/>
            <a:ext cx="91440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lang="en-US" sz="3600" dirty="0">
                <a:solidFill>
                  <a:schemeClr val="dk1"/>
                </a:solidFill>
              </a:rPr>
              <a:t>Early Detection of Diabetic Retinopathy</a:t>
            </a:r>
            <a:endParaRPr sz="3600" dirty="0">
              <a:solidFill>
                <a:schemeClr val="dk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837E60-3D38-F4EB-DDD8-AB78CC76A96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r>
              <a:rPr lang="en-US" dirty="0">
                <a:solidFill>
                  <a:srgbClr val="121212"/>
                </a:solidFill>
              </a:rPr>
              <a:t>About Diabetic Retinopathy</a:t>
            </a:r>
            <a:endParaRPr sz="2200" b="1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960120"/>
            <a:ext cx="49377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The clinical burden is growing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43584"/>
            <a:ext cx="2903928" cy="5539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 dirty="0">
                <a:solidFill>
                  <a:srgbClr val="121212"/>
                </a:solidFill>
                <a:latin typeface="Arial"/>
              </a:rPr>
              <a:t>Diabetes has expanded rapidly worldwide, increasing the number of people who need retinal screening for diabetic retinopathy.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6535" y="786384"/>
            <a:ext cx="1764792" cy="96830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097096" y="84181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223760" y="854408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151M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6575" y="1204151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16535" y="2024253"/>
            <a:ext cx="1764792" cy="96240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097096" y="2075688"/>
            <a:ext cx="73152" cy="914400"/>
          </a:xfrm>
          <a:prstGeom prst="rect">
            <a:avLst/>
          </a:prstGeom>
          <a:solidFill>
            <a:srgbClr val="00634A"/>
          </a:solidFill>
          <a:ln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6575" y="2065972"/>
            <a:ext cx="1371600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00634A"/>
                </a:solidFill>
                <a:latin typeface="Arial"/>
              </a:rPr>
              <a:t>589M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6575" y="2396488"/>
            <a:ext cx="1371600" cy="40233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adults living with diabetes
in 2024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22008" y="3168634"/>
            <a:ext cx="1759319" cy="10430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097096" y="3297313"/>
            <a:ext cx="73152" cy="914400"/>
          </a:xfrm>
          <a:prstGeom prst="rect">
            <a:avLst/>
          </a:prstGeom>
          <a:solidFill>
            <a:srgbClr val="FFCD00"/>
          </a:solidFill>
          <a:ln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236575" y="3254694"/>
            <a:ext cx="1444752" cy="329184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300" b="1" i="0" dirty="0">
                <a:solidFill>
                  <a:srgbClr val="FFCD00"/>
                </a:solidFill>
                <a:latin typeface="Arial"/>
              </a:rPr>
              <a:t>+290%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6316" y="3661392"/>
            <a:ext cx="1346487" cy="36009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0" i="0" dirty="0">
                <a:solidFill>
                  <a:srgbClr val="121212"/>
                </a:solidFill>
                <a:latin typeface="Arial"/>
              </a:rPr>
              <a:t>observed increase in
screening population</a:t>
            </a:r>
          </a:p>
        </p:txBody>
      </p:sp>
      <p:pic>
        <p:nvPicPr>
          <p:cNvPr id="17" name="Picture 16" descr="diabetes_growth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113" y="2361462"/>
            <a:ext cx="5331355" cy="225394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743567" y="989267"/>
            <a:ext cx="228600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 dirty="0">
                <a:solidFill>
                  <a:srgbClr val="3D5F84"/>
                </a:solidFill>
                <a:latin typeface="Arial"/>
              </a:rPr>
              <a:t>Observed growth over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3567" y="1243584"/>
            <a:ext cx="2240280" cy="7315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 dirty="0">
                <a:solidFill>
                  <a:srgbClr val="121212"/>
                </a:solidFill>
                <a:latin typeface="Arial"/>
              </a:rPr>
              <a:t>More patients means more fundus images to grade - and more pressure for fast triage.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AF627-36D3-95EE-AFDE-3CCF0DD2912C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Research Aim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420624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Catch early DR (grades 1–2)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589520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00" b="0" i="0">
                <a:solidFill>
                  <a:srgbClr val="121212"/>
                </a:solidFill>
                <a:latin typeface="Arial"/>
              </a:rPr>
              <a:t>Many studies target referable DR (moderate or worse). This thesis targets the earliest grades.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36117" y="197510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Fundus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photo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14066" y="196089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Deep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92015" y="1952244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 dirty="0">
                <a:solidFill>
                  <a:srgbClr val="121212"/>
                </a:solidFill>
                <a:latin typeface="Arial"/>
              </a:rPr>
              <a:t>Early-DR</a:t>
            </a:r>
            <a:br>
              <a:rPr sz="1100" b="1" dirty="0">
                <a:solidFill>
                  <a:srgbClr val="121212"/>
                </a:solidFill>
                <a:latin typeface="Arial"/>
              </a:rPr>
            </a:br>
            <a:r>
              <a:rPr sz="1100" b="1" dirty="0">
                <a:solidFill>
                  <a:srgbClr val="121212"/>
                </a:solidFill>
                <a:latin typeface="Arial"/>
              </a:rPr>
              <a:t>flag (1–2)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69964" y="1931670"/>
            <a:ext cx="1170432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100" b="1">
                <a:solidFill>
                  <a:srgbClr val="121212"/>
                </a:solidFill>
                <a:latin typeface="Arial"/>
              </a:rPr>
              <a:t>Referral /</a:t>
            </a:r>
            <a:br>
              <a:rPr sz="1100" b="1">
                <a:solidFill>
                  <a:srgbClr val="121212"/>
                </a:solidFill>
                <a:latin typeface="Arial"/>
              </a:rPr>
            </a:br>
            <a:r>
              <a:rPr sz="1100" b="1">
                <a:solidFill>
                  <a:srgbClr val="121212"/>
                </a:solidFill>
                <a:latin typeface="Arial"/>
              </a:rPr>
              <a:t>review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63240"/>
            <a:ext cx="224028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Primary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Sensitivity for grades 1–2 vs No DR at a fixed specificity.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3063240"/>
            <a:ext cx="237744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Secondary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Separate early (1–2) from late (3–4) DR for triage.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89320" y="3063240"/>
            <a:ext cx="2331720" cy="84124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l"/>
            <a:r>
              <a:rPr sz="1019" b="0">
                <a:solidFill>
                  <a:srgbClr val="121212"/>
                </a:solidFill>
                <a:latin typeface="Arial"/>
              </a:rPr>
              <a:t>Robustness</a:t>
            </a:r>
            <a:br>
              <a:rPr sz="1019" b="0">
                <a:solidFill>
                  <a:srgbClr val="121212"/>
                </a:solidFill>
                <a:latin typeface="Arial"/>
              </a:rPr>
            </a:br>
            <a:r>
              <a:rPr sz="1019" b="0">
                <a:solidFill>
                  <a:srgbClr val="121212"/>
                </a:solidFill>
                <a:latin typeface="Arial"/>
              </a:rPr>
              <a:t>Held-out EyePACS patients, then APTOS, never used in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4160520"/>
            <a:ext cx="6903720" cy="365760"/>
          </a:xfrm>
          <a:prstGeom prst="roundRect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220" b="1" dirty="0">
                <a:solidFill>
                  <a:srgbClr val="121212"/>
                </a:solidFill>
                <a:latin typeface="Arial"/>
              </a:rPr>
              <a:t>Goal: high sensitivity at fixed specificity, with calibrated probabilities.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EFB9CBB-52B0-613A-C36E-30186E81F683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3</a:t>
            </a:r>
          </a:p>
        </p:txBody>
      </p:sp>
      <p:sp>
        <p:nvSpPr>
          <p:cNvPr id="22" name="Shape 8">
            <a:extLst>
              <a:ext uri="{FF2B5EF4-FFF2-40B4-BE49-F238E27FC236}">
                <a16:creationId xmlns:a16="http://schemas.microsoft.com/office/drawing/2014/main" id="{21D7F2C5-3AAE-29A3-EB2B-01438851D29E}"/>
              </a:ext>
            </a:extLst>
          </p:cNvPr>
          <p:cNvSpPr/>
          <p:nvPr/>
        </p:nvSpPr>
        <p:spPr>
          <a:xfrm>
            <a:off x="2205893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4" name="Shape 8">
            <a:extLst>
              <a:ext uri="{FF2B5EF4-FFF2-40B4-BE49-F238E27FC236}">
                <a16:creationId xmlns:a16="http://schemas.microsoft.com/office/drawing/2014/main" id="{86BF4C34-5860-73D0-4EEA-45BE3BDDA49D}"/>
              </a:ext>
            </a:extLst>
          </p:cNvPr>
          <p:cNvSpPr/>
          <p:nvPr/>
        </p:nvSpPr>
        <p:spPr>
          <a:xfrm>
            <a:off x="5943987" y="2273089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DBEF0C2C-37B6-B487-308F-4BFD2C35336C}"/>
              </a:ext>
            </a:extLst>
          </p:cNvPr>
          <p:cNvSpPr/>
          <p:nvPr/>
        </p:nvSpPr>
        <p:spPr>
          <a:xfrm>
            <a:off x="4094226" y="2265958"/>
            <a:ext cx="53492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Proposed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Three data arms, one change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207008"/>
            <a:ext cx="7315200" cy="27432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20" b="0" i="0">
                <a:solidFill>
                  <a:srgbClr val="121212"/>
                </a:solidFill>
                <a:latin typeface="Arial"/>
              </a:rPr>
              <a:t>Same model, image size and epochs; frozen patient-level splits; test sets opened once.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Data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DDR, EyePACS, APTOS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249424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Prepare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Crop, pad, 512 px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58768" y="1737360"/>
            <a:ext cx="1335024" cy="64008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Merge arms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A, B,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68112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Model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EfficientNet-B0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77456" y="1737360"/>
            <a:ext cx="1335024" cy="640080"/>
          </a:xfrm>
          <a:prstGeom prst="roundRect">
            <a:avLst/>
          </a:prstGeom>
          <a:solidFill>
            <a:srgbClr val="E0F1EB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80" b="1">
                <a:solidFill>
                  <a:srgbClr val="121212"/>
                </a:solidFill>
                <a:latin typeface="Arial"/>
              </a:rPr>
              <a:t>Output</a:t>
            </a:r>
            <a:br>
              <a:rPr sz="880" b="1">
                <a:solidFill>
                  <a:srgbClr val="121212"/>
                </a:solidFill>
                <a:latin typeface="Arial"/>
              </a:rPr>
            </a:br>
            <a:r>
              <a:rPr sz="880" b="1">
                <a:solidFill>
                  <a:srgbClr val="121212"/>
                </a:solidFill>
                <a:latin typeface="Arial"/>
              </a:rPr>
              <a:t>Calibrated, 95% CI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743200"/>
            <a:ext cx="25146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Imbalance methods tested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Weighted sampler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30552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Class-balanced loss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29584" y="3044952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Focal loss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Strong augmentation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483864"/>
            <a:ext cx="1261872" cy="3200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869" b="1">
                <a:solidFill>
                  <a:srgbClr val="121212"/>
                </a:solidFill>
                <a:latin typeface="Arial"/>
              </a:rPr>
              <a:t>Augmentation control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10912" y="2743200"/>
            <a:ext cx="292608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20" b="1" i="0">
                <a:solidFill>
                  <a:srgbClr val="3D5F84"/>
                </a:solidFill>
                <a:latin typeface="Arial"/>
              </a:rPr>
              <a:t>The three arms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2999232"/>
            <a:ext cx="3520440" cy="96012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A: DDR only (clean baseline)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B: DDR + EyePACS, source-balanced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C: version 1 merge (negative control)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>
                <a:solidFill>
                  <a:srgbClr val="121212"/>
                </a:solidFill>
                <a:latin typeface="Arial"/>
              </a:rPr>
              <a:t>• C wins on its own test but not on APTOS = it learned the source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97280" y="4160520"/>
            <a:ext cx="6903720" cy="329184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Not a new network: the value is the design, the controls and the evidence.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5</a:t>
            </a:r>
          </a:p>
        </p:txBody>
      </p:sp>
      <p:sp>
        <p:nvSpPr>
          <p:cNvPr id="27" name="Shape 8">
            <a:extLst>
              <a:ext uri="{FF2B5EF4-FFF2-40B4-BE49-F238E27FC236}">
                <a16:creationId xmlns:a16="http://schemas.microsoft.com/office/drawing/2014/main" id="{D3022105-94A7-5198-D6E2-77CC59383713}"/>
              </a:ext>
            </a:extLst>
          </p:cNvPr>
          <p:cNvSpPr/>
          <p:nvPr/>
        </p:nvSpPr>
        <p:spPr>
          <a:xfrm flipV="1">
            <a:off x="2059718" y="205701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29" name="Shape 8">
            <a:extLst>
              <a:ext uri="{FF2B5EF4-FFF2-40B4-BE49-F238E27FC236}">
                <a16:creationId xmlns:a16="http://schemas.microsoft.com/office/drawing/2014/main" id="{582591C4-F68D-4A15-B6B9-5FEB08D109EA}"/>
              </a:ext>
            </a:extLst>
          </p:cNvPr>
          <p:cNvSpPr/>
          <p:nvPr/>
        </p:nvSpPr>
        <p:spPr>
          <a:xfrm flipV="1">
            <a:off x="3660991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856019FD-6159-C16E-82A6-31C9B8A4135D}"/>
              </a:ext>
            </a:extLst>
          </p:cNvPr>
          <p:cNvSpPr/>
          <p:nvPr/>
        </p:nvSpPr>
        <p:spPr>
          <a:xfrm flipV="1">
            <a:off x="5262264" y="2074875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3" name="Shape 8">
            <a:extLst>
              <a:ext uri="{FF2B5EF4-FFF2-40B4-BE49-F238E27FC236}">
                <a16:creationId xmlns:a16="http://schemas.microsoft.com/office/drawing/2014/main" id="{6B13386C-625D-A28B-390E-14BA0411E195}"/>
              </a:ext>
            </a:extLst>
          </p:cNvPr>
          <p:cNvSpPr/>
          <p:nvPr/>
        </p:nvSpPr>
        <p:spPr>
          <a:xfrm flipV="1">
            <a:off x="6876416" y="2059850"/>
            <a:ext cx="141667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4B71B-F2B9-1E5F-2770-A74CF9CC5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5">
            <a:extLst>
              <a:ext uri="{FF2B5EF4-FFF2-40B4-BE49-F238E27FC236}">
                <a16:creationId xmlns:a16="http://schemas.microsoft.com/office/drawing/2014/main" id="{10AB359D-1787-1D5D-0507-902E40C540B1}"/>
              </a:ext>
            </a:extLst>
          </p:cNvPr>
          <p:cNvSpPr/>
          <p:nvPr/>
        </p:nvSpPr>
        <p:spPr>
          <a:xfrm>
            <a:off x="771251" y="294894"/>
            <a:ext cx="7561219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5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contribution &amp; impact</a:t>
            </a:r>
            <a:endParaRPr lang="en-US" sz="2250" dirty="0"/>
          </a:p>
        </p:txBody>
      </p:sp>
      <p:sp>
        <p:nvSpPr>
          <p:cNvPr id="24" name="Text 6">
            <a:extLst>
              <a:ext uri="{FF2B5EF4-FFF2-40B4-BE49-F238E27FC236}">
                <a16:creationId xmlns:a16="http://schemas.microsoft.com/office/drawing/2014/main" id="{2110ED04-CB4F-B65A-25E6-FE5A4A8C05FA}"/>
              </a:ext>
            </a:extLst>
          </p:cNvPr>
          <p:cNvSpPr/>
          <p:nvPr/>
        </p:nvSpPr>
        <p:spPr>
          <a:xfrm>
            <a:off x="425196" y="781812"/>
            <a:ext cx="8126730" cy="35661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92500" lnSpcReduction="20000"/>
          </a:bodyPr>
          <a:lstStyle/>
          <a:p>
            <a:r>
              <a:rPr lang="en-US" sz="1365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accuracy gain is promised in advance: the value is in the design and the evidence.</a:t>
            </a:r>
            <a:endParaRPr lang="en-US" sz="1365" dirty="0"/>
          </a:p>
        </p:txBody>
      </p:sp>
      <p:sp>
        <p:nvSpPr>
          <p:cNvPr id="28" name="Text 7">
            <a:extLst>
              <a:ext uri="{FF2B5EF4-FFF2-40B4-BE49-F238E27FC236}">
                <a16:creationId xmlns:a16="http://schemas.microsoft.com/office/drawing/2014/main" id="{372C0346-9352-6765-D16D-4CC39CECC47F}"/>
              </a:ext>
            </a:extLst>
          </p:cNvPr>
          <p:cNvSpPr/>
          <p:nvPr/>
        </p:nvSpPr>
        <p:spPr>
          <a:xfrm>
            <a:off x="617220" y="1495044"/>
            <a:ext cx="1543050" cy="720090"/>
          </a:xfrm>
          <a:prstGeom prst="roundRect">
            <a:avLst/>
          </a:prstGeom>
          <a:solidFill>
            <a:srgbClr val="2E6B9A"/>
          </a:solidFill>
          <a:ln>
            <a:solidFill>
              <a:srgbClr val="2E6B9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Early-first</a:t>
            </a:r>
            <a:endParaRPr lang="en-US" sz="1425" dirty="0"/>
          </a:p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425" dirty="0"/>
          </a:p>
        </p:txBody>
      </p:sp>
      <p:sp>
        <p:nvSpPr>
          <p:cNvPr id="32" name="Shape 8">
            <a:extLst>
              <a:ext uri="{FF2B5EF4-FFF2-40B4-BE49-F238E27FC236}">
                <a16:creationId xmlns:a16="http://schemas.microsoft.com/office/drawing/2014/main" id="{BCA58AE5-59C7-CE42-9138-807712B940B7}"/>
              </a:ext>
            </a:extLst>
          </p:cNvPr>
          <p:cNvSpPr/>
          <p:nvPr/>
        </p:nvSpPr>
        <p:spPr>
          <a:xfrm>
            <a:off x="2228850" y="1851660"/>
            <a:ext cx="322326" cy="0"/>
          </a:xfrm>
          <a:prstGeom prst="line">
            <a:avLst/>
          </a:prstGeom>
          <a:noFill/>
          <a:ln w="2413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FD95AC9D-3F81-68B3-8F67-10FBDA3BCB20}"/>
              </a:ext>
            </a:extLst>
          </p:cNvPr>
          <p:cNvSpPr/>
          <p:nvPr/>
        </p:nvSpPr>
        <p:spPr>
          <a:xfrm>
            <a:off x="2674620" y="1495044"/>
            <a:ext cx="1543050" cy="720090"/>
          </a:xfrm>
          <a:prstGeom prst="roundRect">
            <a:avLst/>
          </a:prstGeom>
          <a:solidFill>
            <a:srgbClr val="0C5A3A"/>
          </a:solidFill>
          <a:ln>
            <a:solidFill>
              <a:srgbClr val="0C5A3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tested</a:t>
            </a:r>
            <a:endParaRPr lang="en-US" sz="1425" dirty="0"/>
          </a:p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1425" dirty="0"/>
          </a:p>
        </p:txBody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46BB3A90-212F-59D5-4FF7-5531A6DDBEF7}"/>
              </a:ext>
            </a:extLst>
          </p:cNvPr>
          <p:cNvSpPr/>
          <p:nvPr/>
        </p:nvSpPr>
        <p:spPr>
          <a:xfrm>
            <a:off x="4286250" y="1851660"/>
            <a:ext cx="322326" cy="0"/>
          </a:xfrm>
          <a:prstGeom prst="line">
            <a:avLst/>
          </a:prstGeom>
          <a:noFill/>
          <a:ln w="2413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39" name="Text 11">
            <a:extLst>
              <a:ext uri="{FF2B5EF4-FFF2-40B4-BE49-F238E27FC236}">
                <a16:creationId xmlns:a16="http://schemas.microsoft.com/office/drawing/2014/main" id="{243756AD-B017-AF7B-9B58-65010877601B}"/>
              </a:ext>
            </a:extLst>
          </p:cNvPr>
          <p:cNvSpPr/>
          <p:nvPr/>
        </p:nvSpPr>
        <p:spPr>
          <a:xfrm>
            <a:off x="4732020" y="1495044"/>
            <a:ext cx="1543050" cy="720090"/>
          </a:xfrm>
          <a:prstGeom prst="roundRect">
            <a:avLst/>
          </a:prstGeom>
          <a:solidFill>
            <a:srgbClr val="E8893A"/>
          </a:solidFill>
          <a:ln>
            <a:solidFill>
              <a:srgbClr val="E8893A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Controlled</a:t>
            </a:r>
            <a:endParaRPr lang="en-US" sz="1425" dirty="0"/>
          </a:p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</a:t>
            </a:r>
            <a:endParaRPr lang="en-US" sz="1425" dirty="0"/>
          </a:p>
        </p:txBody>
      </p:sp>
      <p:sp>
        <p:nvSpPr>
          <p:cNvPr id="41" name="Shape 12">
            <a:extLst>
              <a:ext uri="{FF2B5EF4-FFF2-40B4-BE49-F238E27FC236}">
                <a16:creationId xmlns:a16="http://schemas.microsoft.com/office/drawing/2014/main" id="{0FEED0C6-DE2D-FA83-5CF2-C2DFF4066A1F}"/>
              </a:ext>
            </a:extLst>
          </p:cNvPr>
          <p:cNvSpPr/>
          <p:nvPr/>
        </p:nvSpPr>
        <p:spPr>
          <a:xfrm>
            <a:off x="6343650" y="1851660"/>
            <a:ext cx="322326" cy="0"/>
          </a:xfrm>
          <a:prstGeom prst="line">
            <a:avLst/>
          </a:prstGeom>
          <a:noFill/>
          <a:ln w="2413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D5B34242-1956-7738-D8E5-A7EB41160152}"/>
              </a:ext>
            </a:extLst>
          </p:cNvPr>
          <p:cNvSpPr/>
          <p:nvPr/>
        </p:nvSpPr>
        <p:spPr>
          <a:xfrm>
            <a:off x="6789420" y="1495044"/>
            <a:ext cx="1543050" cy="720090"/>
          </a:xfrm>
          <a:prstGeom prst="roundRect">
            <a:avLst/>
          </a:prstGeom>
          <a:solidFill>
            <a:srgbClr val="6F4AA8"/>
          </a:solidFill>
          <a:ln>
            <a:solidFill>
              <a:srgbClr val="6F4AA8"/>
            </a:solidFill>
          </a:ln>
        </p:spPr>
        <p:txBody>
          <a:bodyPr wrap="square" lIns="572" tIns="572" rIns="572" bIns="572" rtlCol="0" anchor="ctr">
            <a:normAutofit/>
          </a:bodyPr>
          <a:lstStyle/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Calibrated</a:t>
            </a:r>
            <a:endParaRPr lang="en-US" sz="1425" dirty="0"/>
          </a:p>
          <a:p>
            <a:pPr algn="ctr"/>
            <a:r>
              <a:rPr lang="en-US" sz="1425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</a:t>
            </a:r>
            <a:endParaRPr lang="en-US" sz="1425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AE16797D-34E3-F329-1D4F-240F398A8E47}"/>
              </a:ext>
            </a:extLst>
          </p:cNvPr>
          <p:cNvSpPr/>
          <p:nvPr/>
        </p:nvSpPr>
        <p:spPr>
          <a:xfrm>
            <a:off x="617220" y="2708910"/>
            <a:ext cx="22631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 will show</a:t>
            </a:r>
            <a:endParaRPr lang="en-US" sz="1500" dirty="0"/>
          </a:p>
        </p:txBody>
      </p:sp>
      <p:sp>
        <p:nvSpPr>
          <p:cNvPr id="47" name="Text 15">
            <a:extLst>
              <a:ext uri="{FF2B5EF4-FFF2-40B4-BE49-F238E27FC236}">
                <a16:creationId xmlns:a16="http://schemas.microsoft.com/office/drawing/2014/main" id="{4D86DBEE-896E-6969-CB42-B2E7DF6D22D1}"/>
              </a:ext>
            </a:extLst>
          </p:cNvPr>
          <p:cNvSpPr/>
          <p:nvPr/>
        </p:nvSpPr>
        <p:spPr>
          <a:xfrm>
            <a:off x="651510" y="3031236"/>
            <a:ext cx="3737610" cy="877824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/>
          </a:bodyPr>
          <a:lstStyle/>
          <a:p>
            <a:r>
              <a:rPr lang="en-US" sz="117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Early-DR sensitivity at fixed specificity, with CIs</a:t>
            </a:r>
            <a:endParaRPr lang="en-US" sz="1178" dirty="0"/>
          </a:p>
          <a:p>
            <a:r>
              <a:rPr lang="en-US" sz="117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Does EyePACS help, or only teach the source?</a:t>
            </a:r>
            <a:endParaRPr lang="en-US" sz="1178" dirty="0"/>
          </a:p>
          <a:p>
            <a:r>
              <a:rPr lang="en-US" sz="117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Sampler, loss, augmentation: one change at a time</a:t>
            </a:r>
            <a:endParaRPr lang="en-US" sz="1178" dirty="0"/>
          </a:p>
          <a:p>
            <a:r>
              <a:rPr lang="en-US" sz="117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Calibrated probabilities on unseen sources</a:t>
            </a:r>
            <a:endParaRPr lang="en-US" sz="1178" dirty="0"/>
          </a:p>
        </p:txBody>
      </p:sp>
      <p:sp>
        <p:nvSpPr>
          <p:cNvPr id="49" name="Shape 16">
            <a:extLst>
              <a:ext uri="{FF2B5EF4-FFF2-40B4-BE49-F238E27FC236}">
                <a16:creationId xmlns:a16="http://schemas.microsoft.com/office/drawing/2014/main" id="{82677C92-D021-AFA8-A43F-8D516186784B}"/>
              </a:ext>
            </a:extLst>
          </p:cNvPr>
          <p:cNvSpPr/>
          <p:nvPr/>
        </p:nvSpPr>
        <p:spPr>
          <a:xfrm>
            <a:off x="4629150" y="2674620"/>
            <a:ext cx="24003" cy="1337310"/>
          </a:xfrm>
          <a:prstGeom prst="rect">
            <a:avLst/>
          </a:prstGeom>
          <a:solidFill>
            <a:srgbClr val="FFCC00"/>
          </a:solidFill>
          <a:ln w="12700">
            <a:solidFill>
              <a:srgbClr val="FFCC00"/>
            </a:solidFill>
            <a:prstDash val="solid"/>
          </a:ln>
        </p:spPr>
        <p:txBody>
          <a:bodyPr/>
          <a:lstStyle/>
          <a:p>
            <a:endParaRPr sz="1050"/>
          </a:p>
        </p:txBody>
      </p:sp>
      <p:sp>
        <p:nvSpPr>
          <p:cNvPr id="51" name="Text 17">
            <a:extLst>
              <a:ext uri="{FF2B5EF4-FFF2-40B4-BE49-F238E27FC236}">
                <a16:creationId xmlns:a16="http://schemas.microsoft.com/office/drawing/2014/main" id="{2EFF5BB0-36A9-BF66-F8D0-8349153C60B6}"/>
              </a:ext>
            </a:extLst>
          </p:cNvPr>
          <p:cNvSpPr/>
          <p:nvPr/>
        </p:nvSpPr>
        <p:spPr>
          <a:xfrm>
            <a:off x="4834890" y="270891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it will be measured</a:t>
            </a:r>
            <a:endParaRPr lang="en-US" sz="15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67B4E789-BF84-7A39-54EB-EC540B9FAB16}"/>
              </a:ext>
            </a:extLst>
          </p:cNvPr>
          <p:cNvSpPr/>
          <p:nvPr/>
        </p:nvSpPr>
        <p:spPr>
          <a:xfrm>
            <a:off x="4834890" y="3010661"/>
            <a:ext cx="3669030" cy="894309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85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23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Sensitivity at 90% specificity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3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PR-AUC and AUROC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3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ECE and Brier score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3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Held-out EyePACS patients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3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APTOS (external, last)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238" dirty="0">
                <a:solidFill>
                  <a:srgbClr val="2B2B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Grad-CAM sanity check</a:t>
            </a:r>
            <a:endParaRPr lang="en-US" sz="1238" dirty="0"/>
          </a:p>
        </p:txBody>
      </p:sp>
      <p:sp>
        <p:nvSpPr>
          <p:cNvPr id="55" name="Text 19">
            <a:extLst>
              <a:ext uri="{FF2B5EF4-FFF2-40B4-BE49-F238E27FC236}">
                <a16:creationId xmlns:a16="http://schemas.microsoft.com/office/drawing/2014/main" id="{B69AE644-92B0-943A-4322-90ADD474A737}"/>
              </a:ext>
            </a:extLst>
          </p:cNvPr>
          <p:cNvSpPr/>
          <p:nvPr/>
        </p:nvSpPr>
        <p:spPr>
          <a:xfrm>
            <a:off x="685800" y="4149090"/>
            <a:ext cx="7783830" cy="288036"/>
          </a:xfrm>
          <a:prstGeom prst="rect">
            <a:avLst/>
          </a:prstGeom>
          <a:noFill/>
          <a:ln/>
        </p:spPr>
        <p:txBody>
          <a:bodyPr wrap="square" lIns="191" tIns="191" rIns="191" bIns="191" rtlCol="0" anchor="ctr">
            <a:normAutofit fontScale="70000" lnSpcReduction="20000"/>
          </a:bodyPr>
          <a:lstStyle/>
          <a:p>
            <a:pPr algn="ctr"/>
            <a:r>
              <a:rPr lang="en-US" sz="1613" b="1" dirty="0">
                <a:solidFill>
                  <a:srgbClr val="0C5A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Takeaway: a controlled, calibrated test of early-DR screening across datasets.</a:t>
            </a:r>
            <a:endParaRPr lang="en-US" sz="1613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8BDBF52E-C3DC-8D62-0F66-878616FDF01E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602826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50976"/>
            <a:ext cx="5669280" cy="219456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300" b="1" i="0">
                <a:solidFill>
                  <a:srgbClr val="121212"/>
                </a:solidFill>
                <a:latin typeface="Arial"/>
              </a:rPr>
              <a:t>Pipeline built and tested on synthetic data; real-data runs are next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024128" y="1965960"/>
            <a:ext cx="6793992" cy="0"/>
          </a:xfrm>
          <a:prstGeom prst="line">
            <a:avLst/>
          </a:prstGeom>
          <a:ln w="26670">
            <a:solidFill>
              <a:srgbClr val="006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914400" y="1682496"/>
            <a:ext cx="566928" cy="566928"/>
          </a:xfrm>
          <a:prstGeom prst="ellipse">
            <a:avLst/>
          </a:prstGeom>
          <a:solidFill>
            <a:srgbClr val="00634A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819656"/>
            <a:ext cx="182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3" y="2395728"/>
            <a:ext cx="11887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3D5F84"/>
                </a:solidFill>
                <a:latin typeface="Arial"/>
              </a:rPr>
              <a:t>Train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2706624"/>
            <a:ext cx="1627632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30" b="0" i="0">
                <a:solidFill>
                  <a:srgbClr val="121212"/>
                </a:solidFill>
                <a:latin typeface="Arial"/>
              </a:rPr>
              <a:t>Arms A, B and C on DDR</a:t>
            </a:r>
            <a:br>
              <a:rPr sz="930" b="0" i="0">
                <a:solidFill>
                  <a:srgbClr val="121212"/>
                </a:solidFill>
                <a:latin typeface="Arial"/>
              </a:rPr>
            </a:br>
            <a:r>
              <a:rPr sz="930" b="0" i="0">
                <a:solidFill>
                  <a:srgbClr val="121212"/>
                </a:solidFill>
                <a:latin typeface="Arial"/>
              </a:rPr>
              <a:t>and EyePACS, 3 seeds</a:t>
            </a:r>
          </a:p>
        </p:txBody>
      </p:sp>
      <p:sp>
        <p:nvSpPr>
          <p:cNvPr id="9" name="Oval 8"/>
          <p:cNvSpPr/>
          <p:nvPr/>
        </p:nvSpPr>
        <p:spPr>
          <a:xfrm>
            <a:off x="3017520" y="1682496"/>
            <a:ext cx="566928" cy="566928"/>
          </a:xfrm>
          <a:prstGeom prst="ellipse">
            <a:avLst/>
          </a:prstGeom>
          <a:solidFill>
            <a:srgbClr val="00634A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819656"/>
            <a:ext cx="182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06624" y="2395728"/>
            <a:ext cx="11887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3D5F84"/>
                </a:solidFill>
                <a:latin typeface="Arial"/>
              </a:rPr>
              <a:t>Compare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2706624"/>
            <a:ext cx="1627632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30" b="0" i="0">
                <a:solidFill>
                  <a:srgbClr val="121212"/>
                </a:solidFill>
                <a:latin typeface="Arial"/>
              </a:rPr>
              <a:t>Imbalance ablations,</a:t>
            </a:r>
            <a:br>
              <a:rPr sz="930" b="0" i="0">
                <a:solidFill>
                  <a:srgbClr val="121212"/>
                </a:solidFill>
                <a:latin typeface="Arial"/>
              </a:rPr>
            </a:br>
            <a:r>
              <a:rPr sz="930" b="0" i="0">
                <a:solidFill>
                  <a:srgbClr val="121212"/>
                </a:solidFill>
                <a:latin typeface="Arial"/>
              </a:rPr>
              <a:t>chosen on validation only</a:t>
            </a:r>
          </a:p>
        </p:txBody>
      </p:sp>
      <p:sp>
        <p:nvSpPr>
          <p:cNvPr id="13" name="Oval 12"/>
          <p:cNvSpPr/>
          <p:nvPr/>
        </p:nvSpPr>
        <p:spPr>
          <a:xfrm>
            <a:off x="5120640" y="1682496"/>
            <a:ext cx="566928" cy="566928"/>
          </a:xfrm>
          <a:prstGeom prst="ellipse">
            <a:avLst/>
          </a:prstGeom>
          <a:solidFill>
            <a:srgbClr val="00634A"/>
          </a:solidFill>
          <a:ln w="9525">
            <a:solidFill>
              <a:srgbClr val="00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303520" y="1819656"/>
            <a:ext cx="182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9744" y="2395728"/>
            <a:ext cx="11887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3D5F84"/>
                </a:solidFill>
                <a:latin typeface="Arial"/>
              </a:rPr>
              <a:t>Test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706624"/>
            <a:ext cx="1627632" cy="64008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30" b="0" i="0">
                <a:solidFill>
                  <a:srgbClr val="121212"/>
                </a:solidFill>
                <a:latin typeface="Arial"/>
              </a:rPr>
              <a:t>Held-out EyePACS patients,</a:t>
            </a:r>
            <a:br>
              <a:rPr sz="930" b="0" i="0">
                <a:solidFill>
                  <a:srgbClr val="121212"/>
                </a:solidFill>
                <a:latin typeface="Arial"/>
              </a:rPr>
            </a:br>
            <a:r>
              <a:rPr sz="930" b="0" i="0">
                <a:solidFill>
                  <a:srgbClr val="121212"/>
                </a:solidFill>
                <a:latin typeface="Arial"/>
              </a:rPr>
              <a:t>then APTOS (last)</a:t>
            </a:r>
          </a:p>
        </p:txBody>
      </p:sp>
      <p:sp>
        <p:nvSpPr>
          <p:cNvPr id="17" name="Oval 16"/>
          <p:cNvSpPr/>
          <p:nvPr/>
        </p:nvSpPr>
        <p:spPr>
          <a:xfrm>
            <a:off x="7223759" y="1682496"/>
            <a:ext cx="566928" cy="566928"/>
          </a:xfrm>
          <a:prstGeom prst="ellipse">
            <a:avLst/>
          </a:prstGeom>
          <a:solidFill>
            <a:srgbClr val="FFCD00"/>
          </a:solidFill>
          <a:ln w="9525">
            <a:solidFill>
              <a:srgbClr val="FFC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06640" y="1819656"/>
            <a:ext cx="182880" cy="16459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121212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2864" y="2395728"/>
            <a:ext cx="1188720" cy="22860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200" b="1" i="0">
                <a:solidFill>
                  <a:srgbClr val="3D5F84"/>
                </a:solidFill>
                <a:latin typeface="Arial"/>
              </a:rPr>
              <a:t>Write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7" y="2706624"/>
            <a:ext cx="1627632" cy="180049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930" b="0" i="0" dirty="0">
                <a:solidFill>
                  <a:srgbClr val="121212"/>
                </a:solidFill>
                <a:latin typeface="Arial"/>
              </a:rPr>
              <a:t>Grad-CAM check,</a:t>
            </a:r>
            <a:br>
              <a:rPr sz="930" b="0" i="0" dirty="0">
                <a:solidFill>
                  <a:srgbClr val="121212"/>
                </a:solidFill>
                <a:latin typeface="Arial"/>
              </a:rPr>
            </a:br>
            <a:r>
              <a:rPr sz="930" b="0" i="0" dirty="0">
                <a:solidFill>
                  <a:srgbClr val="121212"/>
                </a:solidFill>
                <a:latin typeface="Arial"/>
              </a:rPr>
              <a:t>thesis chapters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" y="3977639"/>
            <a:ext cx="7498079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50" b="1">
                <a:solidFill>
                  <a:srgbClr val="121212"/>
                </a:solidFill>
                <a:latin typeface="Arial"/>
              </a:rPr>
              <a:t>Goal: evidence that early-DR screening holds across datasets, with probabilities that can be trusted.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CD7E8A-D2EA-21C8-94EF-6410479B30B5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1" y="987552"/>
            <a:ext cx="6640605" cy="1373902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International Diabetes Federation. IDF Diabetes Atlas, 11th ed., 2025.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Ting, D. S. W., et al. 'Artificial intelligence-assisted diabetic retinopathy screening.' Ophthalmology, 2021.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19" dirty="0">
                <a:solidFill>
                  <a:srgbClr val="121212"/>
                </a:solidFill>
                <a:latin typeface="Arial"/>
              </a:rPr>
              <a:t>• Shah, P., et al. 'Progression of DR and screening demand.' JAMA Ophthalmology, 2024.</a:t>
            </a:r>
            <a:endParaRPr lang="en-US" sz="919" dirty="0">
              <a:solidFill>
                <a:srgbClr val="121212"/>
              </a:solidFill>
              <a:latin typeface="Arial"/>
            </a:endParaRP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WHO. Guidelines on diabetic retinopathy screening, 2023.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CDC. Eye-health guidance for people with diabetes, 2024.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Li, T., et al. Diagnostic assessment of deep learning algorithms for DR screening (DDR). Information Sciences, 2019.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Kaggle. Diabetic Retinopathy Detection (EyePACS), 2015; APTOS 2019 Blindness Detection.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Guo, C., et al. On calibration of modern neural networks. ICML, 2017.</a:t>
            </a:r>
          </a:p>
          <a:p>
            <a:pPr>
              <a:lnSpc>
                <a:spcPct val="105000"/>
              </a:lnSpc>
              <a:spcAft>
                <a:spcPts val="400"/>
              </a:spcAft>
            </a:pPr>
            <a:r>
              <a:rPr lang="en-US" sz="919" dirty="0">
                <a:solidFill>
                  <a:srgbClr val="121212"/>
                </a:solidFill>
              </a:rPr>
              <a:t>• Sipka, T., et al. The hitchhiker’s guide to prior-shift adaptation. WACV, 2022.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endParaRPr sz="919" dirty="0">
              <a:solidFill>
                <a:srgbClr val="121212"/>
              </a:solidFill>
              <a:latin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203F86-CDFA-B93E-DF6D-3F1C21538AE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2"/>
          <p:cNvSpPr txBox="1">
            <a:spLocks noGrp="1"/>
          </p:cNvSpPr>
          <p:nvPr>
            <p:ph type="title"/>
          </p:nvPr>
        </p:nvSpPr>
        <p:spPr>
          <a:xfrm>
            <a:off x="866073" y="1977949"/>
            <a:ext cx="3592512" cy="59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3600"/>
              <a:t>THANK YOU</a:t>
            </a:r>
            <a:endParaRPr/>
          </a:p>
        </p:txBody>
      </p:sp>
      <p:sp>
        <p:nvSpPr>
          <p:cNvPr id="12" name="TYSub"/>
          <p:cNvSpPr txBox="1"/>
          <p:nvPr/>
        </p:nvSpPr>
        <p:spPr>
          <a:xfrm>
            <a:off x="500000" y="2650000"/>
            <a:ext cx="4000000" cy="38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en-US" sz="1400" i="1" dirty="0">
                <a:solidFill>
                  <a:srgbClr val="444444"/>
                </a:solidFill>
              </a:rPr>
              <a:t>Questions? We’d love to discuss!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27432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E6E6E"/>
                </a:solidFill>
                <a:latin typeface="Arial"/>
              </a:rPr>
              <a:t>PROGRESS  ·  MEASURED ON THE REAL DDR + EYEPACS LABELS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548640"/>
            <a:ext cx="82296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A1A1A"/>
                </a:solidFill>
                <a:latin typeface="Arial"/>
              </a:rPr>
              <a:t>The EyePACS merge has a measurable cost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1024128"/>
            <a:ext cx="828446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5F7173"/>
                </a:solidFill>
                <a:latin typeface="Arial"/>
              </a:rPr>
              <a:t>Topping up only the short grades links “which dataset” to “how severe”. Measured from the label files alone — no images, no GPU, no training.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" y="1426464"/>
            <a:ext cx="3977639" cy="2148840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572768"/>
            <a:ext cx="3566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>
                <a:solidFill>
                  <a:srgbClr val="5F7173"/>
                </a:solidFill>
                <a:latin typeface="Arial"/>
              </a:rPr>
              <a:t>SHARE OF EACH GRADE TAKEN FROM EYEPACS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883664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0</a:t>
            </a:r>
          </a:p>
        </p:txBody>
      </p:sp>
      <p:sp>
        <p:nvSpPr>
          <p:cNvPr id="8" name="Rectangle 7"/>
          <p:cNvSpPr/>
          <p:nvPr/>
        </p:nvSpPr>
        <p:spPr>
          <a:xfrm>
            <a:off x="1389888" y="1929384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883664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194560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89888" y="2240279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89888" y="2240279"/>
            <a:ext cx="173370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75887" y="2194560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79.0%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05456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89888" y="2551176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7" y="250545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5F7173"/>
                </a:solidFill>
                <a:latin typeface="Arial"/>
              </a:rPr>
              <a:t>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816352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89888" y="2862072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389888" y="2862072"/>
            <a:ext cx="1727118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75887" y="2816352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78.7%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3127248"/>
            <a:ext cx="6858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1A1A1A"/>
                </a:solidFill>
                <a:latin typeface="Arial"/>
              </a:rPr>
              <a:t>Grade 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89888" y="3172968"/>
            <a:ext cx="2194560" cy="1371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89888" y="3172968"/>
            <a:ext cx="959022" cy="137160"/>
          </a:xfrm>
          <a:prstGeom prst="rect">
            <a:avLst/>
          </a:prstGeom>
          <a:solidFill>
            <a:srgbClr val="A845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75887" y="3127248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 i="0">
                <a:solidFill>
                  <a:srgbClr val="A8452A"/>
                </a:solidFill>
                <a:latin typeface="Arial"/>
              </a:rPr>
              <a:t>43.7%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26864" y="1426464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28032" y="1508760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0.512 bits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28032" y="1755648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the severity label is recoverable from the dataset name alone — 24.6% of its information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26864" y="2185416"/>
            <a:ext cx="4087368" cy="731520"/>
          </a:xfrm>
          <a:prstGeom prst="roundRect">
            <a:avLst>
              <a:gd name="adj" fmla="val 6000"/>
            </a:avLst>
          </a:prstGeom>
          <a:solidFill>
            <a:srgbClr val="F7E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2" y="2267712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A8452A"/>
                </a:solidFill>
                <a:latin typeface="Arial"/>
              </a:rPr>
              <a:t>100%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2514600"/>
            <a:ext cx="37033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of merged EyePACS images carry disease, so 38.7% of all disease cases are identifiable purely by recognising the camera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26864" y="3017520"/>
            <a:ext cx="4087368" cy="658368"/>
          </a:xfrm>
          <a:prstGeom prst="roundRect">
            <a:avLst>
              <a:gd name="adj" fmla="val 6000"/>
            </a:avLst>
          </a:prstGeom>
          <a:solidFill>
            <a:srgbClr val="EDF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28032" y="3099816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0E6E6E"/>
                </a:solidFill>
                <a:latin typeface="Arial"/>
              </a:rPr>
              <a:t>0.167 → 0.000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28032" y="3346704"/>
            <a:ext cx="3703320" cy="256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</a:pPr>
            <a:r>
              <a:rPr sz="850" b="0" i="0">
                <a:solidFill>
                  <a:srgbClr val="5F7173"/>
                </a:solidFill>
                <a:latin typeface="Arial"/>
              </a:rPr>
              <a:t>score of a dataset-name-only predictor: under a random split, versus in a single-clinic test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" y="3712463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The shortcut is specific to the earliest decision — any disease versus none (AUC 0.694), and useless for referable disease (0.482).</a:t>
            </a:r>
          </a:p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1A1A1A"/>
                </a:solidFill>
                <a:latin typeface="Arial"/>
              </a:rPr>
              <a:t>That is exactly the decision this thesis targets, so the merge must be audited rather than assumed safe.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4389120"/>
            <a:ext cx="828446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 i="1">
                <a:solidFill>
                  <a:srgbClr val="5F7173"/>
                </a:solidFill>
                <a:latin typeface="Arial"/>
              </a:rPr>
              <a:t>Design consequence: three arms — A (DDR only), B (source-balanced) and C (this merge, kept as a negative control) — with every result reported per source.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96528" y="4736592"/>
            <a:ext cx="3474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0" i="0">
                <a:solidFill>
                  <a:srgbClr val="5F717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3232" y="283464"/>
            <a:ext cx="7909560" cy="502920"/>
          </a:xfrm>
        </p:spPr>
        <p:txBody>
          <a:bodyPr/>
          <a:lstStyle/>
          <a:p>
            <a:pPr algn="l"/>
            <a:r>
              <a:rPr sz="2200" b="1">
                <a:solidFill>
                  <a:srgbClr val="121212"/>
                </a:solidFill>
                <a:latin typeface="Arial"/>
              </a:rPr>
              <a:t>Complete Model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932688"/>
            <a:ext cx="548640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480" b="1" i="0">
                <a:solidFill>
                  <a:srgbClr val="121212"/>
                </a:solidFill>
                <a:latin typeface="Arial"/>
              </a:rPr>
              <a:t>From fundus image to a calibrated early-DR flag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B72007-F5D0-AF78-B89C-794457398D1F}"/>
              </a:ext>
            </a:extLst>
          </p:cNvPr>
          <p:cNvSpPr txBox="1"/>
          <p:nvPr/>
        </p:nvSpPr>
        <p:spPr>
          <a:xfrm>
            <a:off x="8801100" y="4792436"/>
            <a:ext cx="3429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6</a:t>
            </a:r>
          </a:p>
        </p:txBody>
      </p:sp>
      <p:sp>
        <p:nvSpPr>
          <p:cNvPr id="101" name="Label train"/>
          <p:cNvSpPr txBox="1"/>
          <p:nvPr/>
        </p:nvSpPr>
        <p:spPr>
          <a:xfrm>
            <a:off x="502920" y="118872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TRAIN: one model per arm, task and seed</a:t>
            </a:r>
          </a:p>
        </p:txBody>
      </p:sp>
      <p:sp>
        <p:nvSpPr>
          <p:cNvPr id="102" name="Train 1"/>
          <p:cNvSpPr/>
          <p:nvPr/>
        </p:nvSpPr>
        <p:spPr>
          <a:xfrm>
            <a:off x="502920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Fundus image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DDR, EyePACS, APTOS; frozen patient-level splits</a:t>
            </a:r>
          </a:p>
        </p:txBody>
      </p:sp>
      <p:sp>
        <p:nvSpPr>
          <p:cNvPr id="103" name="Arrow 1"/>
          <p:cNvSpPr/>
          <p:nvPr/>
        </p:nvSpPr>
        <p:spPr>
          <a:xfrm>
            <a:off x="1746504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4" name="Train 2"/>
          <p:cNvSpPr/>
          <p:nvPr/>
        </p:nvSpPr>
        <p:spPr>
          <a:xfrm>
            <a:off x="1901952" y="1481328"/>
            <a:ext cx="1216152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Preprocess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Crop border, pad to square, resize to 512 px (colour norm optional)</a:t>
            </a:r>
          </a:p>
        </p:txBody>
      </p:sp>
      <p:sp>
        <p:nvSpPr>
          <p:cNvPr id="105" name="Arrow 2"/>
          <p:cNvSpPr/>
          <p:nvPr/>
        </p:nvSpPr>
        <p:spPr>
          <a:xfrm>
            <a:off x="3145536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6" name="Train 3"/>
          <p:cNvSpPr/>
          <p:nvPr/>
        </p:nvSpPr>
        <p:spPr>
          <a:xfrm>
            <a:off x="3300984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Sampler + augment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Arm B: source-balanced. Weighted, class-aware or repeat-factor. Mild or strong</a:t>
            </a:r>
          </a:p>
        </p:txBody>
      </p:sp>
      <p:sp>
        <p:nvSpPr>
          <p:cNvPr id="107" name="Arrow 3"/>
          <p:cNvSpPr/>
          <p:nvPr/>
        </p:nvSpPr>
        <p:spPr>
          <a:xfrm>
            <a:off x="4544568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08" name="Train 4"/>
          <p:cNvSpPr/>
          <p:nvPr/>
        </p:nvSpPr>
        <p:spPr>
          <a:xfrm>
            <a:off x="4700016" y="1481328"/>
            <a:ext cx="1216152" cy="914400"/>
          </a:xfrm>
          <a:prstGeom prst="roundRect">
            <a:avLst/>
          </a:prstGeom>
          <a:solidFill>
            <a:srgbClr val="E3F2EA"/>
          </a:solidFill>
          <a:ln w="9525">
            <a:solidFill>
              <a:srgbClr val="1E7A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Backbone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EfficientNet-B0, ImageNet weights (ViT + RETFound as extension)</a:t>
            </a:r>
          </a:p>
        </p:txBody>
      </p:sp>
      <p:sp>
        <p:nvSpPr>
          <p:cNvPr id="109" name="Arrow 4"/>
          <p:cNvSpPr/>
          <p:nvPr/>
        </p:nvSpPr>
        <p:spPr>
          <a:xfrm>
            <a:off x="5943600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0" name="Train 5"/>
          <p:cNvSpPr/>
          <p:nvPr/>
        </p:nvSpPr>
        <p:spPr>
          <a:xfrm>
            <a:off x="6099048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Head (1 per run)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0 vs 1-4, early vs late, 3-class or 5-grade</a:t>
            </a:r>
          </a:p>
        </p:txBody>
      </p:sp>
      <p:sp>
        <p:nvSpPr>
          <p:cNvPr id="111" name="Arrow 5"/>
          <p:cNvSpPr/>
          <p:nvPr/>
        </p:nvSpPr>
        <p:spPr>
          <a:xfrm>
            <a:off x="7342631" y="1938528"/>
            <a:ext cx="128016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2" name="Train 6"/>
          <p:cNvSpPr/>
          <p:nvPr/>
        </p:nvSpPr>
        <p:spPr>
          <a:xfrm>
            <a:off x="7498080" y="1481328"/>
            <a:ext cx="1216152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Loss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Cross-entropy, class-balanced CE, or focal (gamma 1-3)</a:t>
            </a:r>
          </a:p>
        </p:txBody>
      </p:sp>
      <p:sp>
        <p:nvSpPr>
          <p:cNvPr id="113" name="Arrow down"/>
          <p:cNvSpPr/>
          <p:nvPr/>
        </p:nvSpPr>
        <p:spPr>
          <a:xfrm>
            <a:off x="8106156" y="2423160"/>
            <a:ext cx="0" cy="50292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4" name="Label validate"/>
          <p:cNvSpPr txBox="1"/>
          <p:nvPr/>
        </p:nvSpPr>
        <p:spPr>
          <a:xfrm>
            <a:off x="502920" y="2651760"/>
            <a:ext cx="5486400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950" b="1">
                <a:solidFill>
                  <a:srgbClr val="1E7A5A"/>
                </a:solidFill>
                <a:latin typeface="Arial"/>
              </a:rPr>
              <a:t>VALIDATE AND FREEZE, THEN TEST</a:t>
            </a:r>
          </a:p>
        </p:txBody>
      </p:sp>
      <p:sp>
        <p:nvSpPr>
          <p:cNvPr id="115" name="Eval 1"/>
          <p:cNvSpPr/>
          <p:nvPr/>
        </p:nvSpPr>
        <p:spPr>
          <a:xfrm>
            <a:off x="7251192" y="3017520"/>
            <a:ext cx="1463040" cy="914400"/>
          </a:xfrm>
          <a:prstGeom prst="roundRect">
            <a:avLst/>
          </a:prstGeom>
          <a:solidFill>
            <a:srgbClr val="BCCFE4"/>
          </a:solidFill>
          <a:ln w="9525">
            <a:solidFill>
              <a:srgbClr val="BCCF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Best epoch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Chosen on validation score only</a:t>
            </a:r>
          </a:p>
        </p:txBody>
      </p:sp>
      <p:sp>
        <p:nvSpPr>
          <p:cNvPr id="116" name="Arrow back 1"/>
          <p:cNvSpPr/>
          <p:nvPr/>
        </p:nvSpPr>
        <p:spPr>
          <a:xfrm flipH="1">
            <a:off x="7054596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7" name="Eval 2"/>
          <p:cNvSpPr/>
          <p:nvPr/>
        </p:nvSpPr>
        <p:spPr>
          <a:xfrm>
            <a:off x="5564124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Temperature scaling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One number T, fitted on validation</a:t>
            </a:r>
          </a:p>
        </p:txBody>
      </p:sp>
      <p:sp>
        <p:nvSpPr>
          <p:cNvPr id="118" name="Arrow back 2"/>
          <p:cNvSpPr/>
          <p:nvPr/>
        </p:nvSpPr>
        <p:spPr>
          <a:xfrm flipH="1">
            <a:off x="5367528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19" name="Eval 3"/>
          <p:cNvSpPr/>
          <p:nvPr/>
        </p:nvSpPr>
        <p:spPr>
          <a:xfrm>
            <a:off x="3877056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Prior-shift correction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Training class mix back to natural prevalence</a:t>
            </a:r>
          </a:p>
        </p:txBody>
      </p:sp>
      <p:sp>
        <p:nvSpPr>
          <p:cNvPr id="120" name="Arrow back 3"/>
          <p:cNvSpPr/>
          <p:nvPr/>
        </p:nvSpPr>
        <p:spPr>
          <a:xfrm flipH="1">
            <a:off x="3680460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1" name="Eval 4"/>
          <p:cNvSpPr/>
          <p:nvPr/>
        </p:nvSpPr>
        <p:spPr>
          <a:xfrm>
            <a:off x="2189988" y="3017520"/>
            <a:ext cx="1463040" cy="914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Frozen threshold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Set at the declared specificity (0.90) on validation</a:t>
            </a:r>
          </a:p>
        </p:txBody>
      </p:sp>
      <p:sp>
        <p:nvSpPr>
          <p:cNvPr id="122" name="Arrow back 4"/>
          <p:cNvSpPr/>
          <p:nvPr/>
        </p:nvSpPr>
        <p:spPr>
          <a:xfrm flipH="1">
            <a:off x="1993392" y="3474720"/>
            <a:ext cx="169164" cy="0"/>
          </a:xfrm>
          <a:prstGeom prst="line">
            <a:avLst/>
          </a:prstGeom>
          <a:noFill/>
          <a:ln w="25400">
            <a:solidFill>
              <a:srgbClr val="555555"/>
            </a:solidFill>
            <a:prstDash val="solid"/>
            <a:tailEnd type="triangle"/>
          </a:ln>
        </p:spPr>
        <p:txBody>
          <a:bodyPr/>
          <a:lstStyle/>
          <a:p>
            <a:endParaRPr sz="1050"/>
          </a:p>
        </p:txBody>
      </p:sp>
      <p:sp>
        <p:nvSpPr>
          <p:cNvPr id="123" name="Eval 5"/>
          <p:cNvSpPr/>
          <p:nvPr/>
        </p:nvSpPr>
        <p:spPr>
          <a:xfrm>
            <a:off x="502920" y="3017520"/>
            <a:ext cx="1463040" cy="914400"/>
          </a:xfrm>
          <a:prstGeom prst="roundRect">
            <a:avLst/>
          </a:prstGeom>
          <a:solidFill>
            <a:srgbClr val="FFF0B3"/>
          </a:solidFill>
          <a:ln w="9525">
            <a:solidFill>
              <a:srgbClr val="E0B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1000" b="1">
                <a:solidFill>
                  <a:srgbClr val="121212"/>
                </a:solidFill>
                <a:latin typeface="Arial"/>
              </a:rPr>
              <a:t>Outputs</a:t>
            </a:r>
          </a:p>
          <a:p>
            <a:pPr algn="ctr"/>
            <a:r>
              <a:rPr sz="800" b="0">
                <a:solidFill>
                  <a:srgbClr val="2B2B2B"/>
                </a:solidFill>
                <a:latin typeface="Arial"/>
              </a:rPr>
              <a:t>Calibrated probability, early-DR flag, per-source metrics with 95% CI</a:t>
            </a:r>
          </a:p>
        </p:txBody>
      </p:sp>
      <p:sp>
        <p:nvSpPr>
          <p:cNvPr id="124" name="Banner"/>
          <p:cNvSpPr/>
          <p:nvPr/>
        </p:nvSpPr>
        <p:spPr>
          <a:xfrm>
            <a:off x="502920" y="4133087"/>
            <a:ext cx="8211312" cy="384048"/>
          </a:xfrm>
          <a:prstGeom prst="roundRect">
            <a:avLst/>
          </a:prstGeom>
          <a:solidFill>
            <a:srgbClr val="F2F5F8"/>
          </a:solidFill>
          <a:ln w="9525">
            <a:solidFill>
              <a:srgbClr val="CDD2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36576" rIns="54864" bIns="36576" rtlCol="0" anchor="ctr"/>
          <a:lstStyle/>
          <a:p>
            <a:pPr algn="ctr"/>
            <a:r>
              <a:rPr sz="980" b="1">
                <a:solidFill>
                  <a:srgbClr val="121212"/>
                </a:solidFill>
                <a:latin typeface="Arial"/>
              </a:rPr>
              <a:t>Test sets opened once: DDR + held-out EyePACS, then APTOS last. Grad-CAM with a randomised-weights check.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16647</TotalTime>
  <Words>737</Words>
  <Application>Microsoft Office PowerPoint</Application>
  <PresentationFormat>On-screen Show (16:9)</PresentationFormat>
  <Paragraphs>142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About Diabetic Retinopathy</vt:lpstr>
      <vt:lpstr>PowerPoint Presentation</vt:lpstr>
      <vt:lpstr>Research Aim</vt:lpstr>
      <vt:lpstr>PowerPoint Presentation</vt:lpstr>
      <vt:lpstr>How It Differs From Current Work</vt:lpstr>
      <vt:lpstr>PowerPoint Presentation</vt:lpstr>
      <vt:lpstr>Next Steps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Roy Suja, Roshan</dc:creator>
  <cp:lastModifiedBy>Kazim Alikhan</cp:lastModifiedBy>
  <cp:revision>18</cp:revision>
  <dcterms:modified xsi:type="dcterms:W3CDTF">2026-08-01T08:50:42Z</dcterms:modified>
</cp:coreProperties>
</file>