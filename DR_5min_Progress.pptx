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7" r:id="rId1"/>
  </p:sldMasterIdLst>
  <p:notesMasterIdLst>
    <p:notesMasterId r:id="rId12"/>
  </p:notesMasterIdLst>
  <p:handoutMasterIdLst>
    <p:handoutMasterId r:id="rId13"/>
  </p:handoutMasterIdLst>
  <p:sldIdLst>
    <p:sldId id="256" r:id="rId2"/>
    <p:sldId id="303" r:id="rId29"/>
    <p:sldId id="304" r:id="rId30"/>
    <p:sldId id="305" r:id="rId31"/>
    <p:sldId id="307" r:id="rId33"/>
    <p:sldId id="308" r:id="rId34"/>
    <p:sldId id="267" r:id="rId11"/>
  </p:sldIdLst>
  <p:sldSz cx="9144000" cy="5143500" type="screen16x9"/>
  <p:notesSz cx="9144000" cy="6858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2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446" y="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handoutMaster" Target="handoutMasters/handout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  
  
  
  
  
  
  
  
  
  
  <Relationship Id="rId29" Type="http://schemas.openxmlformats.org/officeDocument/2006/relationships/slide" Target="slides/slide22.xml"/>
  <Relationship Id="rId30" Type="http://schemas.openxmlformats.org/officeDocument/2006/relationships/slide" Target="slides/slide23.xml"/>
  <Relationship Id="rId31" Type="http://schemas.openxmlformats.org/officeDocument/2006/relationships/slide" Target="slides/slide24.xml"/>
  
  <Relationship Id="rId33" Type="http://schemas.openxmlformats.org/officeDocument/2006/relationships/slide" Target="slides/slide26.xml"/>
  <Relationship Id="rId34" Type="http://schemas.openxmlformats.org/officeDocument/2006/relationships/slide" Target="slides/slide27.xml"/>
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B312860-1975-8061-2CE3-B8E45943A68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CFCB5A-3658-0982-E0B8-69C71A92D5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0A7F9D-9802-4ED6-BF56-25C5E2F82295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939F0A-E2E7-21E1-8E46-E4DB86F5B26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AE522C-0746-6130-9787-88A42369E18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1515B6-B6AE-41D6-8F0F-4DD928EAAC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30834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5179484" y="0"/>
            <a:ext cx="3962400" cy="34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2514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6513910"/>
            <a:ext cx="39624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sldNum="0"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p1:notes"/>
          <p:cNvSpPr txBox="1">
            <a:spLocks noGrp="1"/>
          </p:cNvSpPr>
          <p:nvPr>
            <p:ph type="body" idx="1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22:notes"/>
          <p:cNvSpPr txBox="1">
            <a:spLocks noGrp="1"/>
          </p:cNvSpPr>
          <p:nvPr>
            <p:ph type="body" idx="1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69" name="Google Shape;269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Relationship Id="rId3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9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136195" y="2318983"/>
            <a:ext cx="5654749" cy="552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1136195" y="2894946"/>
            <a:ext cx="565474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9" name="Google Shape;19;p2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1262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20;p2"/>
          <p:cNvPicPr preferRelativeResize="0"/>
          <p:nvPr/>
        </p:nvPicPr>
        <p:blipFill rotWithShape="1">
          <a:blip r:embed="rId3">
            <a:alphaModFix/>
          </a:blip>
          <a:srcRect b="6847"/>
          <a:stretch/>
        </p:blipFill>
        <p:spPr>
          <a:xfrm>
            <a:off x="299504" y="184149"/>
            <a:ext cx="1819687" cy="193725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2" descr="A close up of a logo  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96677" y="934104"/>
            <a:ext cx="6928451" cy="538523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2"/>
          <p:cNvPicPr preferRelativeResize="0"/>
          <p:nvPr/>
        </p:nvPicPr>
        <p:blipFill rotWithShape="1">
          <a:blip r:embed="rId5">
            <a:alphaModFix amt="12000"/>
          </a:blip>
          <a:srcRect l="4751" t="1941" r="-4750" b="51083"/>
          <a:stretch/>
        </p:blipFill>
        <p:spPr>
          <a:xfrm>
            <a:off x="6864096" y="1829521"/>
            <a:ext cx="1924301" cy="331397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and Content" type="obj">
  <p:cSld name="OBJEC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3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body" idx="1"/>
          </p:nvPr>
        </p:nvSpPr>
        <p:spPr>
          <a:xfrm>
            <a:off x="536408" y="1177748"/>
            <a:ext cx="8140628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o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26" name="Google Shape;26;p3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7" name="Google Shape;27;p3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28" name="Google Shape;28;p3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9" name="Google Shape;29;p3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Section Header" type="secHead">
  <p:cSld name="SECTION_HEADER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oogle Shape;31;p4" descr="A large white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 l="2193" t="294" r="2531" b="-293"/>
          <a:stretch/>
        </p:blipFill>
        <p:spPr>
          <a:xfrm>
            <a:off x="1793311" y="0"/>
            <a:ext cx="7350689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2" name="Google Shape;32;p4"/>
          <p:cNvGrpSpPr/>
          <p:nvPr/>
        </p:nvGrpSpPr>
        <p:grpSpPr>
          <a:xfrm>
            <a:off x="439200" y="0"/>
            <a:ext cx="6377354" cy="5154356"/>
            <a:chOff x="0" y="-1"/>
            <a:chExt cx="6377354" cy="5150732"/>
          </a:xfrm>
        </p:grpSpPr>
        <p:sp>
          <p:nvSpPr>
            <p:cNvPr id="33" name="Google Shape;33;p4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" name="Google Shape;34;p4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" name="Google Shape;35;p4"/>
          <p:cNvGrpSpPr/>
          <p:nvPr/>
        </p:nvGrpSpPr>
        <p:grpSpPr>
          <a:xfrm>
            <a:off x="-80647" y="-2"/>
            <a:ext cx="6377354" cy="5156081"/>
            <a:chOff x="0" y="-1"/>
            <a:chExt cx="6377354" cy="5150732"/>
          </a:xfrm>
        </p:grpSpPr>
        <p:sp>
          <p:nvSpPr>
            <p:cNvPr id="36" name="Google Shape;36;p4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37;p4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" name="Google Shape;38;p4"/>
          <p:cNvSpPr/>
          <p:nvPr/>
        </p:nvSpPr>
        <p:spPr>
          <a:xfrm rot="1956373">
            <a:off x="4575729" y="1038850"/>
            <a:ext cx="133535" cy="4514253"/>
          </a:xfrm>
          <a:custGeom>
            <a:avLst/>
            <a:gdLst/>
            <a:ahLst/>
            <a:cxnLst/>
            <a:rect l="l" t="t" r="r" b="b"/>
            <a:pathLst>
              <a:path w="74404" h="4514253" extrusionOk="0">
                <a:moveTo>
                  <a:pt x="4066" y="131585"/>
                </a:moveTo>
                <a:lnTo>
                  <a:pt x="69305" y="0"/>
                </a:lnTo>
                <a:cubicBezTo>
                  <a:pt x="71005" y="1472062"/>
                  <a:pt x="72704" y="2944124"/>
                  <a:pt x="74404" y="4416186"/>
                </a:cubicBezTo>
                <a:lnTo>
                  <a:pt x="0" y="4514253"/>
                </a:lnTo>
                <a:cubicBezTo>
                  <a:pt x="3151" y="3086053"/>
                  <a:pt x="915" y="1559785"/>
                  <a:pt x="4066" y="13158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4"/>
          <p:cNvSpPr txBox="1">
            <a:spLocks noGrp="1"/>
          </p:cNvSpPr>
          <p:nvPr>
            <p:ph type="title"/>
          </p:nvPr>
        </p:nvSpPr>
        <p:spPr>
          <a:xfrm>
            <a:off x="601358" y="470882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4"/>
          <p:cNvSpPr txBox="1">
            <a:spLocks noGrp="1"/>
          </p:cNvSpPr>
          <p:nvPr>
            <p:ph type="body" idx="1"/>
          </p:nvPr>
        </p:nvSpPr>
        <p:spPr>
          <a:xfrm>
            <a:off x="601358" y="1492438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4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Slide">
  <p:cSld name="2_Title Slide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5"/>
          <p:cNvSpPr/>
          <p:nvPr/>
        </p:nvSpPr>
        <p:spPr>
          <a:xfrm>
            <a:off x="4683760" y="9004"/>
            <a:ext cx="4460240" cy="5134496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4" name="Google Shape;44;p5" descr="A large white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976603" y="556528"/>
            <a:ext cx="4167397" cy="4586971"/>
          </a:xfrm>
          <a:prstGeom prst="rect">
            <a:avLst/>
          </a:prstGeom>
          <a:noFill/>
          <a:ln>
            <a:noFill/>
          </a:ln>
          <a:effectLst>
            <a:outerShdw algn="ctr" rotWithShape="0">
              <a:srgbClr val="000000">
                <a:alpha val="42352"/>
              </a:srgbClr>
            </a:outerShdw>
          </a:effectLst>
        </p:spPr>
      </p:pic>
      <p:sp>
        <p:nvSpPr>
          <p:cNvPr id="45" name="Google Shape;45;p5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" name="Google Shape;46;p5"/>
          <p:cNvSpPr txBox="1">
            <a:spLocks noGrp="1"/>
          </p:cNvSpPr>
          <p:nvPr>
            <p:ph type="subTitle" idx="1"/>
          </p:nvPr>
        </p:nvSpPr>
        <p:spPr>
          <a:xfrm>
            <a:off x="318901" y="1224321"/>
            <a:ext cx="400925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pic>
        <p:nvPicPr>
          <p:cNvPr id="47" name="Google Shape;47;p5"/>
          <p:cNvPicPr preferRelativeResize="0"/>
          <p:nvPr/>
        </p:nvPicPr>
        <p:blipFill rotWithShape="1">
          <a:blip r:embed="rId3">
            <a:alphaModFix/>
          </a:blip>
          <a:srcRect b="6847"/>
          <a:stretch/>
        </p:blipFill>
        <p:spPr>
          <a:xfrm>
            <a:off x="7713518" y="2762"/>
            <a:ext cx="1407332" cy="1498261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5" descr="A close up of a logo  Description automatically generated"/>
          <p:cNvPicPr preferRelativeResize="0"/>
          <p:nvPr/>
        </p:nvPicPr>
        <p:blipFill rotWithShape="1">
          <a:blip r:embed="rId4">
            <a:alphaModFix/>
          </a:blip>
          <a:srcRect b="19853"/>
          <a:stretch/>
        </p:blipFill>
        <p:spPr>
          <a:xfrm>
            <a:off x="4840586" y="2791962"/>
            <a:ext cx="818534" cy="220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5" descr="A picture containing baseball  Description automatically generated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606209" y="1407073"/>
            <a:ext cx="1332108" cy="877805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5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Title Slide">
  <p:cSld name="5_Title Slide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6"/>
          <p:cNvSpPr/>
          <p:nvPr/>
        </p:nvSpPr>
        <p:spPr>
          <a:xfrm>
            <a:off x="5332353" y="9004"/>
            <a:ext cx="3788497" cy="5134496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3" name="Google Shape;53;p6" descr="A large white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 r="16118"/>
          <a:stretch/>
        </p:blipFill>
        <p:spPr>
          <a:xfrm>
            <a:off x="5625197" y="556528"/>
            <a:ext cx="3495654" cy="4586971"/>
          </a:xfrm>
          <a:prstGeom prst="rect">
            <a:avLst/>
          </a:prstGeom>
          <a:noFill/>
          <a:ln>
            <a:noFill/>
          </a:ln>
          <a:effectLst>
            <a:outerShdw algn="ctr" rotWithShape="0">
              <a:srgbClr val="000000">
                <a:alpha val="42352"/>
              </a:srgbClr>
            </a:outerShdw>
          </a:effectLst>
        </p:spPr>
      </p:pic>
      <p:sp>
        <p:nvSpPr>
          <p:cNvPr id="54" name="Google Shape;54;p6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5" name="Google Shape;55;p6"/>
          <p:cNvSpPr txBox="1">
            <a:spLocks noGrp="1"/>
          </p:cNvSpPr>
          <p:nvPr>
            <p:ph type="subTitle" idx="1"/>
          </p:nvPr>
        </p:nvSpPr>
        <p:spPr>
          <a:xfrm>
            <a:off x="318901" y="1224321"/>
            <a:ext cx="400925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pic>
        <p:nvPicPr>
          <p:cNvPr id="56" name="Google Shape;56;p6"/>
          <p:cNvPicPr preferRelativeResize="0"/>
          <p:nvPr/>
        </p:nvPicPr>
        <p:blipFill rotWithShape="1">
          <a:blip r:embed="rId3">
            <a:alphaModFix/>
          </a:blip>
          <a:srcRect b="6847"/>
          <a:stretch/>
        </p:blipFill>
        <p:spPr>
          <a:xfrm>
            <a:off x="7713518" y="2762"/>
            <a:ext cx="1407332" cy="1498261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6" descr="A close up of a logo  Description automatically generated"/>
          <p:cNvPicPr preferRelativeResize="0"/>
          <p:nvPr/>
        </p:nvPicPr>
        <p:blipFill rotWithShape="1">
          <a:blip r:embed="rId4">
            <a:alphaModFix/>
          </a:blip>
          <a:srcRect b="19853"/>
          <a:stretch/>
        </p:blipFill>
        <p:spPr>
          <a:xfrm>
            <a:off x="5489179" y="2791962"/>
            <a:ext cx="818534" cy="220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6" descr="A picture containing baseball  Description automatically generated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254802" y="1407073"/>
            <a:ext cx="1332108" cy="877805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6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Title Slide">
  <p:cSld name="3_Title Slide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7"/>
          <p:cNvSpPr/>
          <p:nvPr/>
        </p:nvSpPr>
        <p:spPr>
          <a:xfrm>
            <a:off x="4683760" y="9004"/>
            <a:ext cx="4460240" cy="5134496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7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3" name="Google Shape;63;p7"/>
          <p:cNvSpPr txBox="1">
            <a:spLocks noGrp="1"/>
          </p:cNvSpPr>
          <p:nvPr>
            <p:ph type="subTitle" idx="1"/>
          </p:nvPr>
        </p:nvSpPr>
        <p:spPr>
          <a:xfrm>
            <a:off x="318901" y="1224321"/>
            <a:ext cx="400925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64" name="Google Shape;64;p7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65" name="Google Shape;65;p7" descr="A tree lined street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683760" y="702216"/>
            <a:ext cx="3865880" cy="4450287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7"/>
          <p:cNvSpPr/>
          <p:nvPr/>
        </p:nvSpPr>
        <p:spPr>
          <a:xfrm flipH="1">
            <a:off x="4683073" y="720320"/>
            <a:ext cx="199495" cy="4414176"/>
          </a:xfrm>
          <a:custGeom>
            <a:avLst/>
            <a:gdLst/>
            <a:ahLst/>
            <a:cxnLst/>
            <a:rect l="l" t="t" r="r" b="b"/>
            <a:pathLst>
              <a:path w="79792" h="4414176" extrusionOk="0">
                <a:moveTo>
                  <a:pt x="9454" y="129575"/>
                </a:moveTo>
                <a:lnTo>
                  <a:pt x="79792" y="0"/>
                </a:lnTo>
                <a:lnTo>
                  <a:pt x="79792" y="4414176"/>
                </a:lnTo>
                <a:lnTo>
                  <a:pt x="0" y="4414176"/>
                </a:lnTo>
                <a:cubicBezTo>
                  <a:pt x="3151" y="2985976"/>
                  <a:pt x="6303" y="1557775"/>
                  <a:pt x="9454" y="12957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7" name="Google Shape;67;p7"/>
          <p:cNvPicPr preferRelativeResize="0"/>
          <p:nvPr/>
        </p:nvPicPr>
        <p:blipFill rotWithShape="1">
          <a:blip r:embed="rId3">
            <a:alphaModFix/>
          </a:blip>
          <a:srcRect b="6847"/>
          <a:stretch/>
        </p:blipFill>
        <p:spPr>
          <a:xfrm>
            <a:off x="7736668" y="9004"/>
            <a:ext cx="1407332" cy="14982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Section Header">
  <p:cSld name="5_Section Header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8" descr="A tree lined street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4836" y="0"/>
            <a:ext cx="4536037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8"/>
          <p:cNvSpPr txBox="1">
            <a:spLocks noGrp="1"/>
          </p:cNvSpPr>
          <p:nvPr>
            <p:ph type="title"/>
          </p:nvPr>
        </p:nvSpPr>
        <p:spPr>
          <a:xfrm>
            <a:off x="4791393" y="644503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8"/>
          <p:cNvSpPr txBox="1">
            <a:spLocks noGrp="1"/>
          </p:cNvSpPr>
          <p:nvPr>
            <p:ph type="body" idx="1"/>
          </p:nvPr>
        </p:nvSpPr>
        <p:spPr>
          <a:xfrm>
            <a:off x="4791393" y="1666059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72" name="Google Shape;72;p8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3" name="Google Shape;73;p8"/>
          <p:cNvSpPr/>
          <p:nvPr/>
        </p:nvSpPr>
        <p:spPr>
          <a:xfrm>
            <a:off x="4427668" y="729324"/>
            <a:ext cx="143205" cy="4414176"/>
          </a:xfrm>
          <a:custGeom>
            <a:avLst/>
            <a:gdLst/>
            <a:ahLst/>
            <a:cxnLst/>
            <a:rect l="l" t="t" r="r" b="b"/>
            <a:pathLst>
              <a:path w="79792" h="4414176" extrusionOk="0">
                <a:moveTo>
                  <a:pt x="9454" y="129575"/>
                </a:moveTo>
                <a:lnTo>
                  <a:pt x="79792" y="0"/>
                </a:lnTo>
                <a:lnTo>
                  <a:pt x="79792" y="4414176"/>
                </a:lnTo>
                <a:lnTo>
                  <a:pt x="0" y="4414176"/>
                </a:lnTo>
                <a:cubicBezTo>
                  <a:pt x="3151" y="2985976"/>
                  <a:pt x="6303" y="1557775"/>
                  <a:pt x="9454" y="12957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itle Slide">
  <p:cSld name="4_Title Slide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9"/>
          <p:cNvSpPr/>
          <p:nvPr/>
        </p:nvSpPr>
        <p:spPr>
          <a:xfrm>
            <a:off x="4683760" y="9004"/>
            <a:ext cx="4460240" cy="5134496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6" name="Google Shape;76;p9" descr="A group of palm trees on the side of a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 t="-186"/>
          <a:stretch/>
        </p:blipFill>
        <p:spPr>
          <a:xfrm>
            <a:off x="4677507" y="914401"/>
            <a:ext cx="4466494" cy="42291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9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8" name="Google Shape;78;p9"/>
          <p:cNvSpPr txBox="1">
            <a:spLocks noGrp="1"/>
          </p:cNvSpPr>
          <p:nvPr>
            <p:ph type="subTitle" idx="1"/>
          </p:nvPr>
        </p:nvSpPr>
        <p:spPr>
          <a:xfrm>
            <a:off x="318901" y="1224321"/>
            <a:ext cx="400925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pic>
        <p:nvPicPr>
          <p:cNvPr id="79" name="Google Shape;79;p9" descr="A close up of a logo  Description automatically generated"/>
          <p:cNvPicPr preferRelativeResize="0"/>
          <p:nvPr/>
        </p:nvPicPr>
        <p:blipFill rotWithShape="1">
          <a:blip r:embed="rId3">
            <a:alphaModFix/>
          </a:blip>
          <a:srcRect b="19853"/>
          <a:stretch/>
        </p:blipFill>
        <p:spPr>
          <a:xfrm rot="-8851503">
            <a:off x="5255191" y="465522"/>
            <a:ext cx="930293" cy="242273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9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9"/>
          <p:cNvSpPr/>
          <p:nvPr/>
        </p:nvSpPr>
        <p:spPr>
          <a:xfrm>
            <a:off x="4677505" y="0"/>
            <a:ext cx="4466495" cy="914400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2" name="Google Shape;82;p9"/>
          <p:cNvPicPr preferRelativeResize="0"/>
          <p:nvPr/>
        </p:nvPicPr>
        <p:blipFill rotWithShape="1">
          <a:blip r:embed="rId4">
            <a:alphaModFix/>
          </a:blip>
          <a:srcRect b="6847"/>
          <a:stretch/>
        </p:blipFill>
        <p:spPr>
          <a:xfrm>
            <a:off x="7713518" y="2762"/>
            <a:ext cx="1407332" cy="14982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0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132058" y="2670664"/>
            <a:ext cx="804339" cy="810773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0"/>
          <p:cNvSpPr txBox="1">
            <a:spLocks noGrp="1"/>
          </p:cNvSpPr>
          <p:nvPr>
            <p:ph type="ctrTitle"/>
          </p:nvPr>
        </p:nvSpPr>
        <p:spPr>
          <a:xfrm>
            <a:off x="330905" y="295171"/>
            <a:ext cx="2249504" cy="551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10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7" name="Google Shape;87;p10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115433" y="642359"/>
            <a:ext cx="804339" cy="810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0" descr="A close up of a logo  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15433" y="1660176"/>
            <a:ext cx="804339" cy="810773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0"/>
          <p:cNvSpPr txBox="1"/>
          <p:nvPr/>
        </p:nvSpPr>
        <p:spPr>
          <a:xfrm>
            <a:off x="3163311" y="665781"/>
            <a:ext cx="67333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0"/>
          <p:cNvSpPr txBox="1"/>
          <p:nvPr/>
        </p:nvSpPr>
        <p:spPr>
          <a:xfrm>
            <a:off x="3186250" y="1700688"/>
            <a:ext cx="67333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0"/>
          <p:cNvSpPr txBox="1"/>
          <p:nvPr/>
        </p:nvSpPr>
        <p:spPr>
          <a:xfrm>
            <a:off x="3194563" y="2706528"/>
            <a:ext cx="67333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2" name="Google Shape;92;p10" descr="A close up of a logo  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23746" y="3663543"/>
            <a:ext cx="804339" cy="810773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0"/>
          <p:cNvSpPr txBox="1"/>
          <p:nvPr/>
        </p:nvSpPr>
        <p:spPr>
          <a:xfrm>
            <a:off x="3186250" y="3704055"/>
            <a:ext cx="67333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Section Header">
  <p:cSld name="1_Section Header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1" descr="A group of palm trees on the side of a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 t="-186"/>
          <a:stretch/>
        </p:blipFill>
        <p:spPr>
          <a:xfrm>
            <a:off x="-26057" y="-9562"/>
            <a:ext cx="5432223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6" name="Google Shape;96;p11"/>
          <p:cNvGrpSpPr/>
          <p:nvPr/>
        </p:nvGrpSpPr>
        <p:grpSpPr>
          <a:xfrm rot="10800000">
            <a:off x="2071688" y="-10886"/>
            <a:ext cx="6399490" cy="5143501"/>
            <a:chOff x="0" y="-1"/>
            <a:chExt cx="6377354" cy="5150732"/>
          </a:xfrm>
        </p:grpSpPr>
        <p:sp>
          <p:nvSpPr>
            <p:cNvPr id="97" name="Google Shape;97;p11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8" name="Google Shape;98;p11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9" name="Google Shape;99;p11"/>
          <p:cNvGrpSpPr/>
          <p:nvPr/>
        </p:nvGrpSpPr>
        <p:grpSpPr>
          <a:xfrm rot="10800000">
            <a:off x="2589184" y="-16820"/>
            <a:ext cx="6548803" cy="5169255"/>
            <a:chOff x="-34290" y="-1"/>
            <a:chExt cx="6548804" cy="5150732"/>
          </a:xfrm>
        </p:grpSpPr>
        <p:sp>
          <p:nvSpPr>
            <p:cNvPr id="100" name="Google Shape;100;p11"/>
            <p:cNvSpPr/>
            <p:nvPr/>
          </p:nvSpPr>
          <p:spPr>
            <a:xfrm>
              <a:off x="-34290" y="1"/>
              <a:ext cx="3231326" cy="514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" name="Google Shape;101;p11"/>
            <p:cNvSpPr/>
            <p:nvPr/>
          </p:nvSpPr>
          <p:spPr>
            <a:xfrm rot="5400000">
              <a:off x="228040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2" name="Google Shape;102;p11"/>
          <p:cNvSpPr/>
          <p:nvPr/>
        </p:nvSpPr>
        <p:spPr>
          <a:xfrm rot="-8820000">
            <a:off x="4208375" y="-421296"/>
            <a:ext cx="153842" cy="4527614"/>
          </a:xfrm>
          <a:custGeom>
            <a:avLst/>
            <a:gdLst/>
            <a:ahLst/>
            <a:cxnLst/>
            <a:rect l="l" t="t" r="r" b="b"/>
            <a:pathLst>
              <a:path w="81241" h="4522221" extrusionOk="0">
                <a:moveTo>
                  <a:pt x="10903" y="131585"/>
                </a:moveTo>
                <a:lnTo>
                  <a:pt x="76142" y="0"/>
                </a:lnTo>
                <a:cubicBezTo>
                  <a:pt x="77842" y="1472062"/>
                  <a:pt x="79541" y="2944124"/>
                  <a:pt x="81241" y="4416186"/>
                </a:cubicBezTo>
                <a:cubicBezTo>
                  <a:pt x="14484" y="4497775"/>
                  <a:pt x="27080" y="4486876"/>
                  <a:pt x="0" y="4522221"/>
                </a:cubicBezTo>
                <a:cubicBezTo>
                  <a:pt x="3151" y="3094021"/>
                  <a:pt x="7752" y="1559785"/>
                  <a:pt x="10903" y="13158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1"/>
          <p:cNvSpPr txBox="1">
            <a:spLocks noGrp="1"/>
          </p:cNvSpPr>
          <p:nvPr>
            <p:ph type="title"/>
          </p:nvPr>
        </p:nvSpPr>
        <p:spPr>
          <a:xfrm>
            <a:off x="4520564" y="2612014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11"/>
          <p:cNvSpPr txBox="1">
            <a:spLocks noGrp="1"/>
          </p:cNvSpPr>
          <p:nvPr>
            <p:ph type="body" idx="1"/>
          </p:nvPr>
        </p:nvSpPr>
        <p:spPr>
          <a:xfrm>
            <a:off x="4520564" y="3633570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05" name="Google Shape;105;p11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Section Header">
  <p:cSld name="3_Section Header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12" descr="A group of people posing for the camera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-9563"/>
            <a:ext cx="5387332" cy="516199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12"/>
          <p:cNvGrpSpPr/>
          <p:nvPr/>
        </p:nvGrpSpPr>
        <p:grpSpPr>
          <a:xfrm rot="10800000">
            <a:off x="2071688" y="-10886"/>
            <a:ext cx="6399490" cy="5143501"/>
            <a:chOff x="0" y="-1"/>
            <a:chExt cx="6377354" cy="5150732"/>
          </a:xfrm>
        </p:grpSpPr>
        <p:sp>
          <p:nvSpPr>
            <p:cNvPr id="109" name="Google Shape;109;p12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0" name="Google Shape;110;p12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1" name="Google Shape;111;p12"/>
          <p:cNvGrpSpPr/>
          <p:nvPr/>
        </p:nvGrpSpPr>
        <p:grpSpPr>
          <a:xfrm rot="10800000">
            <a:off x="2589184" y="-16820"/>
            <a:ext cx="6548803" cy="5169255"/>
            <a:chOff x="-34290" y="-1"/>
            <a:chExt cx="6548804" cy="5150732"/>
          </a:xfrm>
        </p:grpSpPr>
        <p:sp>
          <p:nvSpPr>
            <p:cNvPr id="112" name="Google Shape;112;p12"/>
            <p:cNvSpPr/>
            <p:nvPr/>
          </p:nvSpPr>
          <p:spPr>
            <a:xfrm>
              <a:off x="-34290" y="1"/>
              <a:ext cx="3231326" cy="514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" name="Google Shape;113;p12"/>
            <p:cNvSpPr/>
            <p:nvPr/>
          </p:nvSpPr>
          <p:spPr>
            <a:xfrm rot="5400000">
              <a:off x="228040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4" name="Google Shape;114;p12"/>
          <p:cNvSpPr/>
          <p:nvPr/>
        </p:nvSpPr>
        <p:spPr>
          <a:xfrm rot="-8820000">
            <a:off x="4208375" y="-421296"/>
            <a:ext cx="153842" cy="4527614"/>
          </a:xfrm>
          <a:custGeom>
            <a:avLst/>
            <a:gdLst/>
            <a:ahLst/>
            <a:cxnLst/>
            <a:rect l="l" t="t" r="r" b="b"/>
            <a:pathLst>
              <a:path w="81241" h="4522221" extrusionOk="0">
                <a:moveTo>
                  <a:pt x="10903" y="131585"/>
                </a:moveTo>
                <a:lnTo>
                  <a:pt x="76142" y="0"/>
                </a:lnTo>
                <a:cubicBezTo>
                  <a:pt x="77842" y="1472062"/>
                  <a:pt x="79541" y="2944124"/>
                  <a:pt x="81241" y="4416186"/>
                </a:cubicBezTo>
                <a:cubicBezTo>
                  <a:pt x="14484" y="4497775"/>
                  <a:pt x="27080" y="4486876"/>
                  <a:pt x="0" y="4522221"/>
                </a:cubicBezTo>
                <a:cubicBezTo>
                  <a:pt x="3151" y="3094021"/>
                  <a:pt x="7752" y="1559785"/>
                  <a:pt x="10903" y="13158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2"/>
          <p:cNvSpPr txBox="1">
            <a:spLocks noGrp="1"/>
          </p:cNvSpPr>
          <p:nvPr>
            <p:ph type="title"/>
          </p:nvPr>
        </p:nvSpPr>
        <p:spPr>
          <a:xfrm>
            <a:off x="4520564" y="2612014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12"/>
          <p:cNvSpPr txBox="1">
            <a:spLocks noGrp="1"/>
          </p:cNvSpPr>
          <p:nvPr>
            <p:ph type="body" idx="1"/>
          </p:nvPr>
        </p:nvSpPr>
        <p:spPr>
          <a:xfrm>
            <a:off x="4520564" y="3633570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17" name="Google Shape;117;p12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Section Header">
  <p:cSld name="4_Section Header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13" descr="A group of people walking down a street  Description automatically generated"/>
          <p:cNvPicPr preferRelativeResize="0"/>
          <p:nvPr/>
        </p:nvPicPr>
        <p:blipFill rotWithShape="1">
          <a:blip r:embed="rId2">
            <a:alphaModFix/>
          </a:blip>
          <a:srcRect t="-162" b="-176"/>
          <a:stretch/>
        </p:blipFill>
        <p:spPr>
          <a:xfrm>
            <a:off x="3369971" y="-17293"/>
            <a:ext cx="5774029" cy="51607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0" name="Google Shape;120;p13"/>
          <p:cNvGrpSpPr/>
          <p:nvPr/>
        </p:nvGrpSpPr>
        <p:grpSpPr>
          <a:xfrm>
            <a:off x="439200" y="0"/>
            <a:ext cx="6377354" cy="5154356"/>
            <a:chOff x="0" y="-1"/>
            <a:chExt cx="6377354" cy="5150732"/>
          </a:xfrm>
        </p:grpSpPr>
        <p:sp>
          <p:nvSpPr>
            <p:cNvPr id="121" name="Google Shape;121;p13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2" name="Google Shape;122;p13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3" name="Google Shape;123;p13"/>
          <p:cNvGrpSpPr/>
          <p:nvPr/>
        </p:nvGrpSpPr>
        <p:grpSpPr>
          <a:xfrm>
            <a:off x="-80647" y="-2"/>
            <a:ext cx="6377354" cy="5156081"/>
            <a:chOff x="0" y="-1"/>
            <a:chExt cx="6377354" cy="5150732"/>
          </a:xfrm>
        </p:grpSpPr>
        <p:sp>
          <p:nvSpPr>
            <p:cNvPr id="124" name="Google Shape;124;p13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5" name="Google Shape;125;p13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6" name="Google Shape;126;p13"/>
          <p:cNvSpPr/>
          <p:nvPr/>
        </p:nvSpPr>
        <p:spPr>
          <a:xfrm rot="1956373">
            <a:off x="4575729" y="1038850"/>
            <a:ext cx="133535" cy="4514253"/>
          </a:xfrm>
          <a:custGeom>
            <a:avLst/>
            <a:gdLst/>
            <a:ahLst/>
            <a:cxnLst/>
            <a:rect l="l" t="t" r="r" b="b"/>
            <a:pathLst>
              <a:path w="74404" h="4514253" extrusionOk="0">
                <a:moveTo>
                  <a:pt x="4066" y="131585"/>
                </a:moveTo>
                <a:lnTo>
                  <a:pt x="69305" y="0"/>
                </a:lnTo>
                <a:cubicBezTo>
                  <a:pt x="71005" y="1472062"/>
                  <a:pt x="72704" y="2944124"/>
                  <a:pt x="74404" y="4416186"/>
                </a:cubicBezTo>
                <a:lnTo>
                  <a:pt x="0" y="4514253"/>
                </a:lnTo>
                <a:cubicBezTo>
                  <a:pt x="3151" y="3086053"/>
                  <a:pt x="915" y="1559785"/>
                  <a:pt x="4066" y="13158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3"/>
          <p:cNvSpPr txBox="1">
            <a:spLocks noGrp="1"/>
          </p:cNvSpPr>
          <p:nvPr>
            <p:ph type="title"/>
          </p:nvPr>
        </p:nvSpPr>
        <p:spPr>
          <a:xfrm>
            <a:off x="601358" y="470882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13"/>
          <p:cNvSpPr txBox="1">
            <a:spLocks noGrp="1"/>
          </p:cNvSpPr>
          <p:nvPr>
            <p:ph type="body" idx="1"/>
          </p:nvPr>
        </p:nvSpPr>
        <p:spPr>
          <a:xfrm>
            <a:off x="601358" y="1492438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29" name="Google Shape;129;p13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Section Header">
  <p:cSld name="6_Section Header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14" descr="A group of people walking down a street next to a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607449" y="0"/>
            <a:ext cx="4536551" cy="5125355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14"/>
          <p:cNvSpPr txBox="1">
            <a:spLocks noGrp="1"/>
          </p:cNvSpPr>
          <p:nvPr>
            <p:ph type="title"/>
          </p:nvPr>
        </p:nvSpPr>
        <p:spPr>
          <a:xfrm>
            <a:off x="512001" y="644503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14"/>
          <p:cNvSpPr txBox="1">
            <a:spLocks noGrp="1"/>
          </p:cNvSpPr>
          <p:nvPr>
            <p:ph type="body" idx="1"/>
          </p:nvPr>
        </p:nvSpPr>
        <p:spPr>
          <a:xfrm>
            <a:off x="512001" y="1666059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34" name="Google Shape;134;p14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5" name="Google Shape;135;p14"/>
          <p:cNvSpPr/>
          <p:nvPr/>
        </p:nvSpPr>
        <p:spPr>
          <a:xfrm flipH="1">
            <a:off x="4607449" y="729324"/>
            <a:ext cx="147431" cy="4414176"/>
          </a:xfrm>
          <a:custGeom>
            <a:avLst/>
            <a:gdLst/>
            <a:ahLst/>
            <a:cxnLst/>
            <a:rect l="l" t="t" r="r" b="b"/>
            <a:pathLst>
              <a:path w="79792" h="4414176" extrusionOk="0">
                <a:moveTo>
                  <a:pt x="9454" y="129575"/>
                </a:moveTo>
                <a:lnTo>
                  <a:pt x="79792" y="0"/>
                </a:lnTo>
                <a:lnTo>
                  <a:pt x="79792" y="4414176"/>
                </a:lnTo>
                <a:lnTo>
                  <a:pt x="0" y="4414176"/>
                </a:lnTo>
                <a:cubicBezTo>
                  <a:pt x="3151" y="2985976"/>
                  <a:pt x="6303" y="1557775"/>
                  <a:pt x="9454" y="12957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eader Only">
  <p:cSld name="Header Only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5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8" name="Google Shape;138;p15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39" name="Google Shape;139;p15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0" name="Google Shape;140;p15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141" name="Google Shape;141;p15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42" name="Google Shape;142;p15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Header &amp; Subtitle">
  <p:cSld name="1_Header &amp; Subtitle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6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5" name="Google Shape;145;p16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46" name="Google Shape;146;p16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6"/>
          <p:cNvSpPr txBox="1">
            <a:spLocks noGrp="1"/>
          </p:cNvSpPr>
          <p:nvPr>
            <p:ph type="body" idx="1"/>
          </p:nvPr>
        </p:nvSpPr>
        <p:spPr>
          <a:xfrm>
            <a:off x="536408" y="1146189"/>
            <a:ext cx="8140628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grpSp>
        <p:nvGrpSpPr>
          <p:cNvPr id="148" name="Google Shape;148;p16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149" name="Google Shape;149;p16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50" name="Google Shape;150;p16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and Content">
  <p:cSld name="2_Title and Content"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17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2718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3" name="Google Shape;153;p17"/>
          <p:cNvGrpSpPr/>
          <p:nvPr/>
        </p:nvGrpSpPr>
        <p:grpSpPr>
          <a:xfrm>
            <a:off x="198023" y="147081"/>
            <a:ext cx="8503920" cy="543191"/>
            <a:chOff x="198023" y="147081"/>
            <a:chExt cx="8700480" cy="543191"/>
          </a:xfrm>
        </p:grpSpPr>
        <p:pic>
          <p:nvPicPr>
            <p:cNvPr id="154" name="Google Shape;154;p17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98023" y="151749"/>
              <a:ext cx="49224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55" name="Google Shape;155;p17"/>
            <p:cNvSpPr/>
            <p:nvPr/>
          </p:nvSpPr>
          <p:spPr>
            <a:xfrm>
              <a:off x="690269" y="147081"/>
              <a:ext cx="8208234" cy="64008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6" name="Google Shape;156;p17"/>
          <p:cNvSpPr txBox="1">
            <a:spLocks noGrp="1"/>
          </p:cNvSpPr>
          <p:nvPr>
            <p:ph type="title"/>
          </p:nvPr>
        </p:nvSpPr>
        <p:spPr>
          <a:xfrm>
            <a:off x="536408" y="229323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7" name="Google Shape;157;p17"/>
          <p:cNvSpPr txBox="1">
            <a:spLocks noGrp="1"/>
          </p:cNvSpPr>
          <p:nvPr>
            <p:ph type="body" idx="1"/>
          </p:nvPr>
        </p:nvSpPr>
        <p:spPr>
          <a:xfrm>
            <a:off x="536408" y="1169435"/>
            <a:ext cx="8140628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o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llumn Content">
  <p:cSld name="Two Collumn Content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8"/>
          <p:cNvSpPr txBox="1">
            <a:spLocks noGrp="1"/>
          </p:cNvSpPr>
          <p:nvPr>
            <p:ph type="body" idx="1"/>
          </p:nvPr>
        </p:nvSpPr>
        <p:spPr>
          <a:xfrm>
            <a:off x="536408" y="1200151"/>
            <a:ext cx="3959392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o"/>
              <a:defRPr sz="1500"/>
            </a:lvl3pPr>
            <a:lvl4pPr marL="1828800" lvl="3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7F7F7F"/>
              </a:buClr>
              <a:buSzPts val="1350"/>
              <a:buChar char="–"/>
              <a:defRPr sz="1350"/>
            </a:lvl4pPr>
            <a:lvl5pPr marL="2286000" lvl="4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7F7F7F"/>
              </a:buClr>
              <a:buSzPts val="1350"/>
              <a:buChar char="»"/>
              <a:defRPr sz="1350"/>
            </a:lvl5pPr>
            <a:lvl6pPr marL="2743200" lvl="5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160" name="Google Shape;160;p18"/>
          <p:cNvSpPr txBox="1">
            <a:spLocks noGrp="1"/>
          </p:cNvSpPr>
          <p:nvPr>
            <p:ph type="body" idx="2"/>
          </p:nvPr>
        </p:nvSpPr>
        <p:spPr>
          <a:xfrm>
            <a:off x="4727408" y="1200151"/>
            <a:ext cx="3959392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o"/>
              <a:defRPr sz="1500"/>
            </a:lvl3pPr>
            <a:lvl4pPr marL="1828800" lvl="3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7F7F7F"/>
              </a:buClr>
              <a:buSzPts val="1350"/>
              <a:buChar char="–"/>
              <a:defRPr sz="1350"/>
            </a:lvl4pPr>
            <a:lvl5pPr marL="2286000" lvl="4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7F7F7F"/>
              </a:buClr>
              <a:buSzPts val="1350"/>
              <a:buChar char="»"/>
              <a:defRPr sz="1350"/>
            </a:lvl5pPr>
            <a:lvl6pPr marL="2743200" lvl="5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161" name="Google Shape;161;p18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2" name="Google Shape;162;p18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63" name="Google Shape;163;p18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64" name="Google Shape;164;p18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165" name="Google Shape;165;p18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6" name="Google Shape;166;p18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9"/>
          <p:cNvSpPr txBox="1">
            <a:spLocks noGrp="1"/>
          </p:cNvSpPr>
          <p:nvPr>
            <p:ph type="body" idx="1"/>
          </p:nvPr>
        </p:nvSpPr>
        <p:spPr>
          <a:xfrm>
            <a:off x="536408" y="1151335"/>
            <a:ext cx="3960980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CC90A"/>
              </a:buClr>
              <a:buSzPts val="1800"/>
              <a:buNone/>
              <a:defRPr sz="1800" b="1">
                <a:solidFill>
                  <a:srgbClr val="FCC90A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169" name="Google Shape;169;p19"/>
          <p:cNvSpPr txBox="1">
            <a:spLocks noGrp="1"/>
          </p:cNvSpPr>
          <p:nvPr>
            <p:ph type="body" idx="2"/>
          </p:nvPr>
        </p:nvSpPr>
        <p:spPr>
          <a:xfrm>
            <a:off x="536408" y="1631156"/>
            <a:ext cx="3960980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2pPr>
            <a:lvl3pPr marL="1371600" lvl="2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o"/>
              <a:defRPr sz="1350"/>
            </a:lvl3pPr>
            <a:lvl4pPr marL="1828800" lvl="3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Char char="–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Char char="»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170" name="Google Shape;170;p19"/>
          <p:cNvSpPr txBox="1">
            <a:spLocks noGrp="1"/>
          </p:cNvSpPr>
          <p:nvPr>
            <p:ph type="body" idx="3"/>
          </p:nvPr>
        </p:nvSpPr>
        <p:spPr>
          <a:xfrm>
            <a:off x="4724265" y="1151335"/>
            <a:ext cx="3962536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CC90A"/>
              </a:buClr>
              <a:buSzPts val="1800"/>
              <a:buNone/>
              <a:defRPr sz="1800" b="1">
                <a:solidFill>
                  <a:srgbClr val="FCC90A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171" name="Google Shape;171;p19"/>
          <p:cNvSpPr txBox="1">
            <a:spLocks noGrp="1"/>
          </p:cNvSpPr>
          <p:nvPr>
            <p:ph type="body" idx="4"/>
          </p:nvPr>
        </p:nvSpPr>
        <p:spPr>
          <a:xfrm>
            <a:off x="4724265" y="1631156"/>
            <a:ext cx="3962536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2pPr>
            <a:lvl3pPr marL="1371600" lvl="2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o"/>
              <a:defRPr sz="1350"/>
            </a:lvl3pPr>
            <a:lvl4pPr marL="1828800" lvl="3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Char char="–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Char char="»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172" name="Google Shape;172;p19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73" name="Google Shape;173;p19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74" name="Google Shape;174;p19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5" name="Google Shape;175;p19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176" name="Google Shape;176;p19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7" name="Google Shape;177;p19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0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theme" Target="../theme/theme1.xml"/><Relationship Id="rId2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  <a:defRPr sz="2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228600" y="1126999"/>
            <a:ext cx="8769096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None/>
              <a:defRPr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ourier New"/>
              <a:buChar char="o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Font typeface="Arial"/>
              <a:buChar char="–"/>
              <a:defRPr sz="1200" b="0" i="0" u="none" strike="noStrike" cap="non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21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7F7F7F"/>
              </a:buClr>
              <a:buSzPts val="1000"/>
              <a:buFont typeface="Arial"/>
              <a:buChar char="»"/>
              <a:defRPr sz="1000" b="0" i="0" u="none" strike="noStrike" cap="non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3" name="Google Shape;13;p1"/>
          <p:cNvPicPr preferRelativeResize="0"/>
          <p:nvPr/>
        </p:nvPicPr>
        <p:blipFill rotWithShape="1">
          <a:blip r:embed="rId21">
            <a:alphaModFix/>
          </a:blip>
          <a:srcRect/>
          <a:stretch/>
        </p:blipFill>
        <p:spPr>
          <a:xfrm>
            <a:off x="80509" y="4720046"/>
            <a:ext cx="320286" cy="340980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1"/>
          <p:cNvSpPr txBox="1"/>
          <p:nvPr/>
        </p:nvSpPr>
        <p:spPr>
          <a:xfrm>
            <a:off x="357250" y="4806164"/>
            <a:ext cx="2673331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-US" sz="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CAL STATE LA </a:t>
            </a:r>
            <a:r>
              <a:rPr lang="en-US" sz="600" b="0" i="0" u="none" strike="noStrike" cap="none">
                <a:solidFill>
                  <a:srgbClr val="FCC90A"/>
                </a:solidFill>
                <a:latin typeface="Arial"/>
                <a:ea typeface="Arial"/>
                <a:cs typeface="Arial"/>
                <a:sym typeface="Arial"/>
              </a:rPr>
              <a:t> |   </a:t>
            </a:r>
            <a:r>
              <a:rPr lang="en-US" sz="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Department of Computer Science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23_1.png"/><Relationship Id="rIdImg2" Type="http://schemas.openxmlformats.org/officeDocument/2006/relationships/image" Target="../media/chart_slide23_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1"/>
          <p:cNvSpPr txBox="1">
            <a:spLocks noGrp="1"/>
          </p:cNvSpPr>
          <p:nvPr>
            <p:ph type="subTitle" idx="1"/>
          </p:nvPr>
        </p:nvSpPr>
        <p:spPr>
          <a:xfrm>
            <a:off x="2103863" y="3465715"/>
            <a:ext cx="4906537" cy="12168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</a:pPr>
            <a:r>
              <a:rPr lang="en-US">
                <a:solidFill>
                  <a:schemeClr val="dk1"/>
                </a:solidFill>
              </a:rPr>
              <a:t>Five-minute progress update: DDR, EyePACS and APTOS</a:t>
            </a:r>
            <a:endParaRPr/>
          </a:p>
          <a:p>
            <a:pPr marL="0" lvl="0" indent="0" algn="ctr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</a:pPr>
            <a:r>
              <a:rPr lang="en-US">
                <a:solidFill>
                  <a:schemeClr val="dk1"/>
                </a:solidFill>
              </a:rPr>
              <a:t>Advisor: Navid Amini, PhD</a:t>
            </a:r>
            <a:endParaRPr/>
          </a:p>
          <a:p>
            <a:pPr marL="0" lvl="0" indent="0" algn="ctr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</a:pPr>
            <a:endParaRPr/>
          </a:p>
          <a:p>
            <a:pPr marL="0" lvl="0" indent="0" algn="ctr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</a:pPr>
            <a:r>
              <a:rPr lang="en-US"/>
              <a:t>Department of Computer Science</a:t>
            </a:r>
            <a:endParaRPr/>
          </a:p>
          <a:p>
            <a:pPr marL="0" lvl="0" indent="0" algn="ctr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</a:pPr>
            <a:endParaRPr/>
          </a:p>
        </p:txBody>
      </p:sp>
      <p:sp>
        <p:nvSpPr>
          <p:cNvPr id="187" name="Google Shape;187;p21"/>
          <p:cNvSpPr txBox="1"/>
          <p:nvPr/>
        </p:nvSpPr>
        <p:spPr>
          <a:xfrm>
            <a:off x="0" y="2112255"/>
            <a:ext cx="91440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dirty="0">
                <a:solidFill>
                  <a:schemeClr val="dk1"/>
                </a:solidFill>
              </a:rPr>
              <a:t>Early Detection of Diabetic Retinopathy</a:t>
            </a:r>
            <a:endParaRPr sz="3600" dirty="0">
              <a:solidFill>
                <a:schemeClr val="dk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837E60-3D38-F4EB-DDD8-AB78CC76A965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2"/>
          <p:cNvSpPr txBox="1">
            <a:spLocks noGrp="1"/>
          </p:cNvSpPr>
          <p:nvPr>
            <p:ph type="title"/>
          </p:nvPr>
        </p:nvSpPr>
        <p:spPr>
          <a:xfrm>
            <a:off x="866073" y="1977949"/>
            <a:ext cx="3592512" cy="593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3600"/>
              <a:t>THANK YOU</a:t>
            </a:r>
            <a:endParaRPr/>
          </a:p>
        </p:txBody>
      </p:sp>
      <p:sp>
        <p:nvSpPr>
          <p:cNvPr id="12" name="TYSub"/>
          <p:cNvSpPr txBox="1"/>
          <p:nvPr/>
        </p:nvSpPr>
        <p:spPr>
          <a:xfrm>
            <a:off x="500000" y="2650000"/>
            <a:ext cx="400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sz="1400" i="1" dirty="0">
                <a:solidFill>
                  <a:srgbClr val="444444"/>
                </a:solidFill>
              </a:rPr>
              <a:t>Questions? We’d love to discuss!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Progress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Where the project stands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2</a:t>
            </a:r>
          </a:p>
        </p:txBody>
      </p:sp>
      <p:sp>
        <p:nvSpPr>
          <p:cNvPr id="201" name="Column 1"/>
          <p:cNvSpPr/>
          <p:nvPr/>
        </p:nvSpPr>
        <p:spPr>
          <a:xfrm>
            <a:off x="502920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50" b="1">
                <a:solidFill>
                  <a:srgbClr val="121212"/>
                </a:solidFill>
                <a:latin typeface="Arial"/>
              </a:rPr>
              <a:t>Done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Data audit: class counts and merge table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Pipeline on Kaggle: prepare, train, calibrate, evaluate, plot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Arms A, B, C trained (3 seeds each)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Internal and APTOS test evaluation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14 imbalance runs (incl. geometric augmentation) and 3 extensions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Checks: duplicates, image properties, augmentation; group DDR split built and arms retrained (3 seeds) and evaluated</a:t>
            </a:r>
          </a:p>
        </p:txBody>
      </p:sp>
      <p:sp>
        <p:nvSpPr>
          <p:cNvPr id="202" name="Column 2"/>
          <p:cNvSpPr/>
          <p:nvPr/>
        </p:nvSpPr>
        <p:spPr>
          <a:xfrm>
            <a:off x="3273552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50" b="1">
                <a:solidFill>
                  <a:srgbClr val="121212"/>
                </a:solidFill>
                <a:latin typeface="Arial"/>
              </a:rPr>
              <a:t>Checked and ruled out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Group-split models evaluated over 3 seeds: AUROC changed by at most 0.003 on DDR and APTOS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Near-duplicate leakage does not explain the high DDR scores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APTOS size-stratified check (post-hoc): AUROC 0.984 to 0.989 within same-size groups, so size alone does not explain 0.99</a:t>
            </a:r>
          </a:p>
        </p:txBody>
      </p:sp>
      <p:sp>
        <p:nvSpPr>
          <p:cNvPr id="203" name="Column 3"/>
          <p:cNvSpPr/>
          <p:nvPr/>
        </p:nvSpPr>
        <p:spPr>
          <a:xfrm>
            <a:off x="6044183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E4ECF6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50" b="1">
                <a:solidFill>
                  <a:srgbClr val="121212"/>
                </a:solidFill>
                <a:latin typeface="Arial"/>
              </a:rPr>
              <a:t>To do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Report AUROC, per-grade results and own-source operating points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Matched-subset check for APTOS (other capture cues)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Five seeds, intervals, ECE, Brier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Write the thesis chapters</a:t>
            </a:r>
          </a:p>
        </p:txBody>
      </p:sp>
      <p:sp>
        <p:nvSpPr>
          <p:cNvPr id="204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Main findings: the original merge teaches the source; in-domain scores are inflated.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Key Results So Far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A: DDR only. B: DDR + EyePACS, source-balanced. C: old merge. 3 seeds, threshold frozen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3</a:t>
            </a:r>
          </a:p>
        </p:txBody>
      </p:sp>
      <p:pic>
        <p:nvPicPr>
          <p:cNvPr id="201" name="Chart 1" descr="Bar charts: DDR sensitivity and specificity for arms A, B and C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554480"/>
            <a:ext cx="3685032" cy="2103120"/>
          </a:xfrm>
          <a:prstGeom prst="rect">
            <a:avLst/>
          </a:prstGeom>
        </p:spPr>
      </p:pic>
      <p:pic>
        <p:nvPicPr>
          <p:cNvPr id="202" name="Chart 2" descr="Bar charts: EyePACS sensitivity and specificity for arms A, B and C"/>
          <p:cNvPicPr>
            <a:picLocks noChangeAspect="1"/>
          </p:cNvPicPr>
          <p:nvPr/>
        </p:nvPicPr>
        <p:blipFill>
          <a:blip r:embed="rIdImg2"/>
          <a:stretch>
            <a:fillRect/>
          </a:stretch>
        </p:blipFill>
        <p:spPr>
          <a:xfrm>
            <a:off x="4663440" y="1554480"/>
            <a:ext cx="3685032" cy="2103120"/>
          </a:xfrm>
          <a:prstGeom prst="rect">
            <a:avLst/>
          </a:prstGeom>
        </p:spPr>
      </p:pic>
      <p:sp>
        <p:nvSpPr>
          <p:cNvPr id="203" name="Heading 1"/>
          <p:cNvSpPr/>
          <p:nvPr/>
        </p:nvSpPr>
        <p:spPr>
          <a:xfrm>
            <a:off x="457200" y="1243584"/>
            <a:ext cx="4023360" cy="274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DDR test set</a:t>
            </a:r>
          </a:p>
        </p:txBody>
      </p:sp>
      <p:sp>
        <p:nvSpPr>
          <p:cNvPr id="204" name="Heading 2"/>
          <p:cNvSpPr/>
          <p:nvPr/>
        </p:nvSpPr>
        <p:spPr>
          <a:xfrm>
            <a:off x="4663440" y="1243584"/>
            <a:ext cx="4023360" cy="274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Held-out EyePACS patients</a:t>
            </a:r>
          </a:p>
        </p:txBody>
      </p:sp>
      <p:sp>
        <p:nvSpPr>
          <p:cNvPr id="205" name="Takeaway 1"/>
          <p:cNvSpPr/>
          <p:nvPr/>
        </p:nvSpPr>
        <p:spPr>
          <a:xfrm>
            <a:off x="457200" y="3657600"/>
            <a:ext cx="4023360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Sensitivity 0.93 with specificity 0.91, as designed: all arms alike.</a:t>
            </a:r>
          </a:p>
        </p:txBody>
      </p:sp>
      <p:sp>
        <p:nvSpPr>
          <p:cNvPr id="206" name="Takeaway 2"/>
          <p:cNvSpPr/>
          <p:nvPr/>
        </p:nvSpPr>
        <p:spPr>
          <a:xfrm>
            <a:off x="4663440" y="3657600"/>
            <a:ext cx="4023360" cy="603504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Same threshold: specificity 0.39 (A), 0.89 (B), 0.013 (C): C flags 99% of healthy images.</a:t>
            </a:r>
          </a:p>
        </p:txBody>
      </p:sp>
      <p:sp>
        <p:nvSpPr>
          <p:cNvPr id="207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The frozen threshold does not transfer across datasets: compare AUROC, not sensitivity.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What the Checks Found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Three diagnostic checks, using saved files and train/validation data only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4</a:t>
            </a:r>
          </a:p>
        </p:txBody>
      </p:sp>
      <p:sp>
        <p:nvSpPr>
          <p:cNvPr id="201" name="Card 1"/>
          <p:cNvSpPr/>
          <p:nvPr/>
        </p:nvSpPr>
        <p:spPr>
          <a:xfrm>
            <a:off x="502920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50" b="1">
                <a:solidFill>
                  <a:srgbClr val="121212"/>
                </a:solidFill>
                <a:latin typeface="Arial"/>
              </a:rPr>
              <a:t>Duplicates and split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834 candidate groups; 4% of DDR test had a near-duplicate in train. A group split removed it and the test results did not change.</a:t>
            </a:r>
          </a:p>
        </p:txBody>
      </p:sp>
      <p:sp>
        <p:nvSpPr>
          <p:cNvPr id="202" name="Card 2"/>
          <p:cNvSpPr/>
          <p:nvPr/>
        </p:nvSpPr>
        <p:spPr>
          <a:xfrm>
            <a:off x="3273552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50" b="1">
                <a:solidFill>
                  <a:srgbClr val="121212"/>
                </a:solidFill>
                <a:latin typeface="Arial"/>
              </a:rPr>
              <a:t>Image properties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Image size alone: DDR 0.58, APTOS 0.96, EyePACS 0.53. APTOS is camera-confounded; EyePACS is clean.</a:t>
            </a:r>
          </a:p>
        </p:txBody>
      </p:sp>
      <p:sp>
        <p:nvSpPr>
          <p:cNvPr id="203" name="Card 3"/>
          <p:cNvSpPr/>
          <p:nvPr/>
        </p:nvSpPr>
        <p:spPr>
          <a:xfrm>
            <a:off x="6044183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50" b="1">
                <a:solidFill>
                  <a:srgbClr val="121212"/>
                </a:solidFill>
                <a:latin typeface="Arial"/>
              </a:rPr>
              <a:t>Strong augmentation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BatchNorm mismatch from the noise/blur part. Geometric aug on all classes: 0.977; on minority only: 0.834 (a label cue).</a:t>
            </a:r>
          </a:p>
        </p:txBody>
      </p:sp>
      <p:sp>
        <p:nvSpPr>
          <p:cNvPr id="204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Duplicates are not the problem; the APTOS confound and the threshold are.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What These Results Do Not Show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Read before quoting any number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5</a:t>
            </a:r>
          </a:p>
        </p:txBody>
      </p:sp>
      <p:sp>
        <p:nvSpPr>
          <p:cNvPr id="201" name="Card 1"/>
          <p:cNvSpPr/>
          <p:nvPr/>
        </p:nvSpPr>
        <p:spPr>
          <a:xfrm>
            <a:off x="502920" y="1280160"/>
            <a:ext cx="3977639" cy="137160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The frozen threshold does not transfer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On EyePACS specificity is 0.39 (A) and 0.013 (C): sensitivity alone is misleading off-domain.</a:t>
            </a:r>
          </a:p>
        </p:txBody>
      </p:sp>
      <p:sp>
        <p:nvSpPr>
          <p:cNvPr id="202" name="Card 2"/>
          <p:cNvSpPr/>
          <p:nvPr/>
        </p:nvSpPr>
        <p:spPr>
          <a:xfrm>
            <a:off x="4663440" y="1280160"/>
            <a:ext cx="3977639" cy="137160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APTOS is confounded by capture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Size alone predicts APTOS (0.96), but within same-size groups the models still score 0.984 to 0.989 (post-hoc). Other capture cues remain untested.</a:t>
            </a:r>
          </a:p>
        </p:txBody>
      </p:sp>
      <p:sp>
        <p:nvSpPr>
          <p:cNvPr id="203" name="Card 3"/>
          <p:cNvSpPr/>
          <p:nvPr/>
        </p:nvSpPr>
        <p:spPr>
          <a:xfrm>
            <a:off x="502920" y="2743200"/>
            <a:ext cx="3977639" cy="137160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DDR: same-patient leakage remains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No patient IDs. Near-duplicates were small (4%) and removed, but a patient's other eye cannot be. Retraining on a group split changed no test result.</a:t>
            </a:r>
          </a:p>
        </p:txBody>
      </p:sp>
      <p:sp>
        <p:nvSpPr>
          <p:cNvPr id="204" name="Card 4"/>
          <p:cNvSpPr/>
          <p:nvPr/>
        </p:nvSpPr>
        <p:spPr>
          <a:xfrm>
            <a:off x="4663440" y="2743200"/>
            <a:ext cx="3977639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Not yet reported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Confidence intervals, ECE, Brier and five seeds. Per-grade and specificity analyses are post-hoc.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EyePACS, with a patient-level split and clean properties, is the most trustworthy benchmark.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Conclusions and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What the evidence supports so far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6</a:t>
            </a:r>
          </a:p>
        </p:txBody>
      </p:sp>
      <p:sp>
        <p:nvSpPr>
          <p:cNvPr id="201" name="Conclusion 1"/>
          <p:cNvSpPr/>
          <p:nvPr/>
        </p:nvSpPr>
        <p:spPr>
          <a:xfrm>
            <a:off x="502920" y="1280160"/>
            <a:ext cx="4069080" cy="91440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The merge as written teaches the source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Arm C flags 99% of healthy EyePACS images as DR, matching the label audit.</a:t>
            </a:r>
          </a:p>
        </p:txBody>
      </p:sp>
      <p:sp>
        <p:nvSpPr>
          <p:cNvPr id="202" name="Conclusion 2"/>
          <p:cNvSpPr/>
          <p:nvPr/>
        </p:nvSpPr>
        <p:spPr>
          <a:xfrm>
            <a:off x="502920" y="2286000"/>
            <a:ext cx="4069080" cy="914400"/>
          </a:xfrm>
          <a:prstGeom prst="roundRect">
            <a:avLst/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Source-balancing helps off-domain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Arm B: EyePACS specificity 0.89, AUROC 0.88; DDR sensitivity unchanged.</a:t>
            </a:r>
          </a:p>
        </p:txBody>
      </p:sp>
      <p:sp>
        <p:nvSpPr>
          <p:cNvPr id="203" name="Conclusion 3"/>
          <p:cNvSpPr/>
          <p:nvPr/>
        </p:nvSpPr>
        <p:spPr>
          <a:xfrm>
            <a:off x="502920" y="3291840"/>
            <a:ext cx="406908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EyePACS is the clean benchmark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Properties do not predict its labels (0.50 to 0.59); APTOS is confounded (size 0.96); DDR leakage is small.</a:t>
            </a:r>
          </a:p>
        </p:txBody>
      </p:sp>
      <p:sp>
        <p:nvSpPr>
          <p:cNvPr id="204" name="Next steps"/>
          <p:cNvSpPr/>
          <p:nvPr/>
        </p:nvSpPr>
        <p:spPr>
          <a:xfrm>
            <a:off x="4754880" y="1280160"/>
            <a:ext cx="3931920" cy="2926080"/>
          </a:xfrm>
          <a:prstGeom prst="roundRect">
            <a:avLst>
              <a:gd name="adj" fmla="val 6000"/>
            </a:avLst>
          </a:prstGeom>
          <a:solidFill>
            <a:srgbClr val="E4ECF6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Next steps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1. Size check done: APTOS AUROC holds within same-size groups (0.984 to 0.989)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2. Report AUROC, per-grade results and own-source operating points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3. Test capture mitigation: size-matched subsets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4. Five seeds on the group split, intervals, ECE and Brier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5. Use geometric augmentation on all classes; keep minority-only as the cue control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6. Re-evaluate once; label post-hoc analyses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16647</TotalTime>
  <Words>737</Words>
  <Application>Microsoft Office PowerPoint</Application>
  <PresentationFormat>On-screen Show (16:9)</PresentationFormat>
  <Paragraphs>142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Office Theme</vt:lpstr>
      <vt:lpstr>PowerPoint Presentation</vt:lpstr>
      <vt:lpstr>About Diabetic Retinopathy</vt:lpstr>
      <vt:lpstr>PowerPoint Presentation</vt:lpstr>
      <vt:lpstr>Research Aim</vt:lpstr>
      <vt:lpstr>PowerPoint Presentation</vt:lpstr>
      <vt:lpstr>How It Differs From Current Work</vt:lpstr>
      <vt:lpstr>PowerPoint Presentation</vt:lpstr>
      <vt:lpstr>Next Steps</vt:lpstr>
      <vt:lpstr>References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Roy Suja, Roshan</dc:creator>
  <cp:lastModifiedBy>Kazim Alikhan</cp:lastModifiedBy>
  <cp:revision>18</cp:revision>
  <dcterms:modified xsi:type="dcterms:W3CDTF">2026-08-01T08:50:42Z</dcterms:modified>
</cp:coreProperties>
</file>