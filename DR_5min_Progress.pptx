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303" r:id="rId29"/>
    <p:sldId id="304" r:id="rId30"/>
    <p:sldId id="305" r:id="rId31"/>
    <p:sldId id="307" r:id="rId33"/>
    <p:sldId id="308" r:id="rId34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
  
  
  
  
  
  
  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
  <Relationship Id="rId33" Type="http://schemas.openxmlformats.org/officeDocument/2006/relationships/slide" Target="slides/slide26.xml"/>
  <Relationship Id="rId34" Type="http://schemas.openxmlformats.org/officeDocument/2006/relationships/slide" Target="slides/slide27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Relationship Id="rIdImg2" Type="http://schemas.openxmlformats.org/officeDocument/2006/relationships/image" Target="../media/chart_slide23_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Five-minute progress update: DDR, EyePACS and APTOS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Progress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Where the project stands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  <p:sp>
        <p:nvSpPr>
          <p:cNvPr id="201" name="Column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Done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Data audit: class counts and merge table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Pipeline on Kaggle: prepare, train, calibrate, evaluate, plot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Arms A, B, C trained (3 seeds each)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Internal and APTOS test evaluation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14 imbalance runs (incl. geometric augmentation) and 3 extensions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Checks: duplicates, image properties, augmentation; group DDR split built and arms retrained (3 seeds) and evaluated</a:t>
            </a:r>
          </a:p>
        </p:txBody>
      </p:sp>
      <p:sp>
        <p:nvSpPr>
          <p:cNvPr id="202" name="Column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Checked and ruled out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Group-split models evaluated over 3 seeds: AUROC changed by at most 0.003 on DDR and 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Near-duplicate leakage does not explain the high DDR scores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APTOS size-stratified check (post-hoc): AUROC 0.984 to 0.989 within same-size groups, so size alone does not explain 0.99</a:t>
            </a:r>
          </a:p>
        </p:txBody>
      </p:sp>
      <p:sp>
        <p:nvSpPr>
          <p:cNvPr id="203" name="Column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To do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Own-source operating points (post-hoc)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Matched-subset check for APTOS (other capture cues)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Literature search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• Write the thesis chapters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Main findings: the original merge teaches the source; in-domain scores are inflated.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Key Results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A: DDR only. B: DDR + EyePACS, source-balanced. C: old merge. 3 seeds, threshold frozen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pic>
        <p:nvPicPr>
          <p:cNvPr id="201" name="Chart 1" descr="Bar charts: DDR sensitivity and specificity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554480"/>
            <a:ext cx="3685032" cy="2103120"/>
          </a:xfrm>
          <a:prstGeom prst="rect">
            <a:avLst/>
          </a:prstGeom>
        </p:spPr>
      </p:pic>
      <p:pic>
        <p:nvPicPr>
          <p:cNvPr id="202" name="Chart 2" descr="Bar charts: EyePACS sensitivity and specificity for arms A, B and C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63440" y="1554480"/>
            <a:ext cx="3685032" cy="2103120"/>
          </a:xfrm>
          <a:prstGeom prst="rect">
            <a:avLst/>
          </a:prstGeom>
        </p:spPr>
      </p:pic>
      <p:sp>
        <p:nvSpPr>
          <p:cNvPr id="203" name="Heading 1"/>
          <p:cNvSpPr/>
          <p:nvPr/>
        </p:nvSpPr>
        <p:spPr>
          <a:xfrm>
            <a:off x="45720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test set</a:t>
            </a:r>
          </a:p>
        </p:txBody>
      </p:sp>
      <p:sp>
        <p:nvSpPr>
          <p:cNvPr id="204" name="Heading 2"/>
          <p:cNvSpPr/>
          <p:nvPr/>
        </p:nvSpPr>
        <p:spPr>
          <a:xfrm>
            <a:off x="4663440" y="1243584"/>
            <a:ext cx="402336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Held-out EyePACS patients</a:t>
            </a:r>
          </a:p>
        </p:txBody>
      </p:sp>
      <p:sp>
        <p:nvSpPr>
          <p:cNvPr id="205" name="Takeaway 1"/>
          <p:cNvSpPr/>
          <p:nvPr/>
        </p:nvSpPr>
        <p:spPr>
          <a:xfrm>
            <a:off x="457200" y="3657600"/>
            <a:ext cx="4023360" cy="6035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0.93 with specificity 0.91, as designed: all arms alike.</a:t>
            </a:r>
          </a:p>
        </p:txBody>
      </p:sp>
      <p:sp>
        <p:nvSpPr>
          <p:cNvPr id="206" name="Takeaway 2"/>
          <p:cNvSpPr/>
          <p:nvPr/>
        </p:nvSpPr>
        <p:spPr>
          <a:xfrm>
            <a:off x="4663440" y="3657600"/>
            <a:ext cx="4023360" cy="603504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Same threshold: specificity 0.39 (A), 0.89 (B), 0.013 (C): C flags 99% of healthy images.</a:t>
            </a:r>
          </a:p>
        </p:txBody>
      </p:sp>
      <p:sp>
        <p:nvSpPr>
          <p:cNvPr id="207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frozen threshold does not transfer across datasets: compare AUROC, not sensitivity.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 Checks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diagnostic checks, using saved files and train/validation data only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Duplicates and split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834 candidate groups; 4% of DDR test had a near-duplicate in train. A group split removed it and the test results did not change.</a:t>
            </a:r>
          </a:p>
        </p:txBody>
      </p:sp>
      <p:sp>
        <p:nvSpPr>
          <p:cNvPr id="202" name="Card 2"/>
          <p:cNvSpPr/>
          <p:nvPr/>
        </p:nvSpPr>
        <p:spPr>
          <a:xfrm>
            <a:off x="3273552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Image properties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size alone: DDR 0.58, APTOS 0.96, EyePACS 0.53. APTOS is camera-confounded; EyePACS is clean.</a:t>
            </a:r>
          </a:p>
        </p:txBody>
      </p:sp>
      <p:sp>
        <p:nvSpPr>
          <p:cNvPr id="203" name="Card 3"/>
          <p:cNvSpPr/>
          <p:nvPr/>
        </p:nvSpPr>
        <p:spPr>
          <a:xfrm>
            <a:off x="6044183" y="128016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50" b="1">
                <a:solidFill>
                  <a:srgbClr val="121212"/>
                </a:solidFill>
                <a:latin typeface="Arial"/>
              </a:rPr>
              <a:t>Strong augmentation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BatchNorm mismatch from the noise/blur part. Geometric aug on all classes: 0.977; on minority only: 0.834 (a label cue).</a:t>
            </a:r>
          </a:p>
        </p:txBody>
      </p:sp>
      <p:sp>
        <p:nvSpPr>
          <p:cNvPr id="204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Duplicates are not the problem; the APTOS confound and the threshold are.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The frozen threshold does not transfer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On EyePACS specificity is 0.39 (A) and 0.013 (C): sensitivity alone is misleading off-domain.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APTOS is confounded by capture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Size alone predicts APTOS (0.96), but within same-size groups the models still score 0.984 to 0.989 (post-hoc). Other capture cues remain untested.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4320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DDR: same-patient leakage remains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IDs. Near-duplicates were small (4%) and removed, but a patient's other eye cannot be. Retraining on a group split changed no test result.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4320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Reported and post-hoc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Group-split results have 95% intervals, ECE and Brier over 3 seeds. Per-grade, specificity and size-strata analyses are post-hoc.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EyePACS, with a patient-level split and clean properties, is the most trustworthy benchmark.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flags 99% of healthy EyePACS images as DR, matching the label audit.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B: EyePACS AUROC 0.884 (0.870-0.897), specificity 0.90, ECE 0.056 vs 0.326 (A) and 0.717 (C).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 is the clean benchmark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Properties do not predict its labels (0.50 to 0.59); APTOS is confounded (size 0.96); DDR leakage is small.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1. Size check done: APTOS AUROC holds within same-size groups (0.984 to 0.989)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2. Report AUROC, per-grade results and own-source operating points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3. Test capture mitigation: size-matched subsets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4. More seeds only if needed: the spread over 3 seeds is small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5. Use geometric augmentation on all classes; keep minority-only as the cue control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6. Re-evaluate once; label post-hoc analyses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