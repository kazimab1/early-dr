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5"/>
    <p:sldId id="292" r:id="rId18"/>
    <p:sldId id="288" r:id="rId7"/>
    <p:sldId id="293" r:id="rId19"/>
    <p:sldId id="303" r:id="rId29"/>
    <p:sldId id="301" r:id="rId27"/>
    <p:sldId id="302" r:id="rId28"/>
    <p:sldId id="265" r:id="rId10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<Relationship Id="rId19" Type="http://schemas.openxmlformats.org/officeDocument/2006/relationships/slide" Target="slides/slide12.xml"/>
  
  
  
  
  
  
  
  <Relationship Id="rId27" Type="http://schemas.openxmlformats.org/officeDocument/2006/relationships/slide" Target="slides/slide20.xml"/>
  <Relationship Id="rId28" Type="http://schemas.openxmlformats.org/officeDocument/2006/relationships/slide" Target="slides/slide21.xml"/>
  <Relationship Id="rId29" Type="http://schemas.openxmlformats.org/officeDocument/2006/relationships/slide" Target="slides/slide22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2_1.png"/><Relationship Id="rIdImg2" Type="http://schemas.openxmlformats.org/officeDocument/2006/relationships/image" Target="../media/chart_slide22_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Early DR (grades 1–2) on DDR, EyePACS and APTOS fundus images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r>
              <a:rPr lang="en-US" dirty="0">
                <a:solidFill>
                  <a:srgbClr val="121212"/>
                </a:solidFill>
              </a:rPr>
              <a:t>About Diabetic Retinopathy</a:t>
            </a:r>
            <a:endParaRPr sz="2200" b="1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burden is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2903928" cy="5539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 dirty="0">
                <a:solidFill>
                  <a:srgbClr val="121212"/>
                </a:solidFill>
                <a:latin typeface="Arial"/>
              </a:rPr>
              <a:t>Diabetes has expanded rapidly worldwide, increasing the number of people who need retinal screening for diabetic retinopathy.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535" y="786384"/>
            <a:ext cx="1764792" cy="9683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97096" y="84181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85440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151M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575" y="1204151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6535" y="2024253"/>
            <a:ext cx="1764792" cy="9624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97096" y="207568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6575" y="2065972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589M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575" y="2396488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168634"/>
            <a:ext cx="1759319" cy="10430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97096" y="3297313"/>
            <a:ext cx="73152" cy="914400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6575" y="3254694"/>
            <a:ext cx="144475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FCD00"/>
                </a:solidFill>
                <a:latin typeface="Arial"/>
              </a:rPr>
              <a:t>+290%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316" y="3661392"/>
            <a:ext cx="1346487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observed increase in
screening population</a:t>
            </a:r>
          </a:p>
        </p:txBody>
      </p:sp>
      <p:pic>
        <p:nvPicPr>
          <p:cNvPr id="17" name="Picture 16" descr="diabet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3" y="2361462"/>
            <a:ext cx="5331355" cy="2253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3567" y="989267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D5F84"/>
                </a:solidFill>
                <a:latin typeface="Arial"/>
              </a:rPr>
              <a:t>Observed growth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3567" y="1243584"/>
            <a:ext cx="2240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21212"/>
                </a:solidFill>
                <a:latin typeface="Arial"/>
              </a:rPr>
              <a:t>More patients means more fundus images to grade - and more pressure for fast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AF627-36D3-95EE-AFDE-3CCF0DD2912C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4206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Catch early DR (grades 1–2)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5895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121212"/>
                </a:solidFill>
                <a:latin typeface="Arial"/>
              </a:rPr>
              <a:t>Many studies target referable DR (moderate or worse). This thesis targets the earliest 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117" y="197510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Fundus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4066" y="196089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Deep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2015" y="195224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Early-DR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flag (1–2)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9964" y="193167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Referral /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2240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Primary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Sensitivity for grades 1–2 vs No DR at a fixed specificity.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063240"/>
            <a:ext cx="23774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Secondary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Separate early (1–2) from late (3–4) DR for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3317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Robustness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Held-out EyePACS patients, then APTOS, never used in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160520"/>
            <a:ext cx="6903720" cy="365760"/>
          </a:xfrm>
          <a:prstGeom prst="roundRect">
            <a:avLst/>
          </a:prstGeom>
          <a:solidFill>
            <a:srgbClr val="FFCD00"/>
          </a:solidFill>
          <a:ln w="9525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20" b="1" dirty="0">
                <a:solidFill>
                  <a:srgbClr val="121212"/>
                </a:solidFill>
                <a:latin typeface="Arial"/>
              </a:rPr>
              <a:t>Goal: high sensitivity at fixed specificity, with calibrated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B9CBB-52B0-613A-C36E-30186E81F683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1D7F2C5-3AAE-29A3-EB2B-01438851D29E}"/>
              </a:ext>
            </a:extLst>
          </p:cNvPr>
          <p:cNvSpPr/>
          <p:nvPr/>
        </p:nvSpPr>
        <p:spPr>
          <a:xfrm>
            <a:off x="2205893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6BF4C34-5860-73D0-4EEA-45BE3BDDA49D}"/>
              </a:ext>
            </a:extLst>
          </p:cNvPr>
          <p:cNvSpPr/>
          <p:nvPr/>
        </p:nvSpPr>
        <p:spPr>
          <a:xfrm>
            <a:off x="5943987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BEF0C2C-37B6-B487-308F-4BFD2C35336C}"/>
              </a:ext>
            </a:extLst>
          </p:cNvPr>
          <p:cNvSpPr/>
          <p:nvPr/>
        </p:nvSpPr>
        <p:spPr>
          <a:xfrm>
            <a:off x="4094226" y="2265958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1" y="987552"/>
            <a:ext cx="6640605" cy="13739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International Diabetes Federation. IDF Diabetes Atlas, 11th ed.,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Ting, D. S. W., et al. 'Artificial intelligence-assisted diabetic retinopathy screening.' Ophthalmology, 2021.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Shah, P., et al. 'Progression of DR and screening demand.' JAMA Ophthalmology, 2024.</a:t>
            </a:r>
            <a:endParaRPr lang="en-US" sz="919" dirty="0">
              <a:solidFill>
                <a:srgbClr val="12121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WHO. Guidelines on diabetic retinopathy screening, 2023.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CDC. Eye-health guidance for people with diabetes, 2024.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Li, T., et al. Diagnostic assessment of deep learning algorithms for DR screening (DDR). Information Sciences, 2019.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Kaggle. Diabetic Retinopathy Detection (EyePACS), 2015; APTOS 2019 Blindness Detection.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Guo, C., et al. On calibration of modern neural networks. ICML, 2017.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Sipka, T., et al. The hitchhiker’s guide to prior-shift adaptation. WACV,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919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03F86-CDFA-B93E-DF6D-3F1C21538AE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Complete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From fundus image to a calibrated early-DR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101" name="Label train"/>
          <p:cNvSpPr txBox="1"/>
          <p:nvPr/>
        </p:nvSpPr>
        <p:spPr>
          <a:xfrm>
            <a:off x="502920" y="118872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TRAIN: one model per arm, task and seed</a:t>
            </a:r>
          </a:p>
        </p:txBody>
      </p:sp>
      <p:sp>
        <p:nvSpPr>
          <p:cNvPr id="102" name="Train 1"/>
          <p:cNvSpPr/>
          <p:nvPr/>
        </p:nvSpPr>
        <p:spPr>
          <a:xfrm>
            <a:off x="502920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Fundus image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DDR, EyePACS, APTOS; frozen patient-level splits</a:t>
            </a:r>
          </a:p>
        </p:txBody>
      </p:sp>
      <p:sp>
        <p:nvSpPr>
          <p:cNvPr id="103" name="Arrow 1"/>
          <p:cNvSpPr/>
          <p:nvPr/>
        </p:nvSpPr>
        <p:spPr>
          <a:xfrm>
            <a:off x="1746504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4" name="Train 2"/>
          <p:cNvSpPr/>
          <p:nvPr/>
        </p:nvSpPr>
        <p:spPr>
          <a:xfrm>
            <a:off x="1901952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Preprocess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Crop border, pad to square, resize to 512 px (colour norm optional)</a:t>
            </a:r>
          </a:p>
        </p:txBody>
      </p:sp>
      <p:sp>
        <p:nvSpPr>
          <p:cNvPr id="105" name="Arrow 2"/>
          <p:cNvSpPr/>
          <p:nvPr/>
        </p:nvSpPr>
        <p:spPr>
          <a:xfrm>
            <a:off x="3145536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6" name="Train 3"/>
          <p:cNvSpPr/>
          <p:nvPr/>
        </p:nvSpPr>
        <p:spPr>
          <a:xfrm>
            <a:off x="3300984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Sampler + augment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Arm B: source-balanced. Weighted, class-aware or repeat-factor. Mild or strong</a:t>
            </a:r>
          </a:p>
        </p:txBody>
      </p:sp>
      <p:sp>
        <p:nvSpPr>
          <p:cNvPr id="107" name="Arrow 3"/>
          <p:cNvSpPr/>
          <p:nvPr/>
        </p:nvSpPr>
        <p:spPr>
          <a:xfrm>
            <a:off x="4544568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8" name="Train 4"/>
          <p:cNvSpPr/>
          <p:nvPr/>
        </p:nvSpPr>
        <p:spPr>
          <a:xfrm>
            <a:off x="4700016" y="1481328"/>
            <a:ext cx="1216152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Backbone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EfficientNet-B0, ImageNet weights (ViT + RETFound as extension)</a:t>
            </a:r>
          </a:p>
        </p:txBody>
      </p:sp>
      <p:sp>
        <p:nvSpPr>
          <p:cNvPr id="109" name="Arrow 4"/>
          <p:cNvSpPr/>
          <p:nvPr/>
        </p:nvSpPr>
        <p:spPr>
          <a:xfrm>
            <a:off x="5943600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0" name="Train 5"/>
          <p:cNvSpPr/>
          <p:nvPr/>
        </p:nvSpPr>
        <p:spPr>
          <a:xfrm>
            <a:off x="6099048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Head (1 per run)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0 vs 1-4, early vs late, 3-class or 5-grade</a:t>
            </a:r>
          </a:p>
        </p:txBody>
      </p:sp>
      <p:sp>
        <p:nvSpPr>
          <p:cNvPr id="111" name="Arrow 5"/>
          <p:cNvSpPr/>
          <p:nvPr/>
        </p:nvSpPr>
        <p:spPr>
          <a:xfrm>
            <a:off x="7342631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2" name="Train 6"/>
          <p:cNvSpPr/>
          <p:nvPr/>
        </p:nvSpPr>
        <p:spPr>
          <a:xfrm>
            <a:off x="7498080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Loss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Cross-entropy, class-balanced CE, or focal (gamma 1-3)</a:t>
            </a:r>
          </a:p>
        </p:txBody>
      </p:sp>
      <p:sp>
        <p:nvSpPr>
          <p:cNvPr id="113" name="Arrow down"/>
          <p:cNvSpPr/>
          <p:nvPr/>
        </p:nvSpPr>
        <p:spPr>
          <a:xfrm>
            <a:off x="8106156" y="2423160"/>
            <a:ext cx="0" cy="5029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4" name="Label validate"/>
          <p:cNvSpPr txBox="1"/>
          <p:nvPr/>
        </p:nvSpPr>
        <p:spPr>
          <a:xfrm>
            <a:off x="502920" y="265176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VALIDATE AND FREEZE, THEN TEST</a:t>
            </a:r>
          </a:p>
        </p:txBody>
      </p:sp>
      <p:sp>
        <p:nvSpPr>
          <p:cNvPr id="115" name="Eval 1"/>
          <p:cNvSpPr/>
          <p:nvPr/>
        </p:nvSpPr>
        <p:spPr>
          <a:xfrm>
            <a:off x="7251192" y="3017520"/>
            <a:ext cx="1463040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Best epoch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Chosen on validation score only</a:t>
            </a:r>
          </a:p>
        </p:txBody>
      </p:sp>
      <p:sp>
        <p:nvSpPr>
          <p:cNvPr id="116" name="Arrow back 1"/>
          <p:cNvSpPr/>
          <p:nvPr/>
        </p:nvSpPr>
        <p:spPr>
          <a:xfrm flipH="1">
            <a:off x="7054596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7" name="Eval 2"/>
          <p:cNvSpPr/>
          <p:nvPr/>
        </p:nvSpPr>
        <p:spPr>
          <a:xfrm>
            <a:off x="5564124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Temperature scaling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One number T, fitted on validation</a:t>
            </a:r>
          </a:p>
        </p:txBody>
      </p:sp>
      <p:sp>
        <p:nvSpPr>
          <p:cNvPr id="118" name="Arrow back 2"/>
          <p:cNvSpPr/>
          <p:nvPr/>
        </p:nvSpPr>
        <p:spPr>
          <a:xfrm flipH="1">
            <a:off x="5367528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9" name="Eval 3"/>
          <p:cNvSpPr/>
          <p:nvPr/>
        </p:nvSpPr>
        <p:spPr>
          <a:xfrm>
            <a:off x="3877056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Prior-shift correction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Training class mix back to natural prevalence</a:t>
            </a:r>
          </a:p>
        </p:txBody>
      </p:sp>
      <p:sp>
        <p:nvSpPr>
          <p:cNvPr id="120" name="Arrow back 3"/>
          <p:cNvSpPr/>
          <p:nvPr/>
        </p:nvSpPr>
        <p:spPr>
          <a:xfrm flipH="1">
            <a:off x="3680460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1" name="Eval 4"/>
          <p:cNvSpPr/>
          <p:nvPr/>
        </p:nvSpPr>
        <p:spPr>
          <a:xfrm>
            <a:off x="2189988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Frozen threshold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Set at the declared specificity (0.90) on validation</a:t>
            </a:r>
          </a:p>
        </p:txBody>
      </p:sp>
      <p:sp>
        <p:nvSpPr>
          <p:cNvPr id="122" name="Arrow back 4"/>
          <p:cNvSpPr/>
          <p:nvPr/>
        </p:nvSpPr>
        <p:spPr>
          <a:xfrm flipH="1">
            <a:off x="1993392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3" name="Eval 5"/>
          <p:cNvSpPr/>
          <p:nvPr/>
        </p:nvSpPr>
        <p:spPr>
          <a:xfrm>
            <a:off x="502920" y="3017520"/>
            <a:ext cx="1463040" cy="914400"/>
          </a:xfrm>
          <a:prstGeom prst="roundRect">
            <a:avLst/>
          </a:prstGeom>
          <a:solidFill>
            <a:srgbClr val="FFF0B3"/>
          </a:solidFill>
          <a:ln w="9525">
            <a:solidFill>
              <a:srgbClr val="E0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Outputs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Calibrated probability, early-DR flag, per-source metrics with 95% CI</a:t>
            </a:r>
          </a:p>
        </p:txBody>
      </p:sp>
      <p:sp>
        <p:nvSpPr>
          <p:cNvPr id="124" name="Banner"/>
          <p:cNvSpPr/>
          <p:nvPr/>
        </p:nvSpPr>
        <p:spPr>
          <a:xfrm>
            <a:off x="502920" y="4133087"/>
            <a:ext cx="8211312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Test sets opened once: DDR + held-out EyePACS, then APTOS last. Grad-CAM with a randomised-weights check.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split is random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 and no official split in this copy: images from one patient can sit in both train and test.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Duplicate candidates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groups: 375 cross splits, 39 cross datasets. Under review; DDR and APTOS numbers may be inflated.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looks too good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Not claimed as robustness until the overlap check is done.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 here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Specificity reached, grade-1-only sensitivity, ECE, Brier and 95% intervals (saved in the results files).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arm C pattern matches the label audit, but it is also unchecked for duplicates.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is best on its own validation set (0.982) and worst on EyePACS PR-AUC (0.43).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EyePACS, not 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 lifts EyePACS PR-AUC by 0.27; DDR sensitivity does not improve.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Imbalance methods: no clear gain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All within noise of plain cross-entropy on the primary metric.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1. Run the duplicate check and look at the pairs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2. Official or patient-level DDR split; retrain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3. Diagnose strong augmentation; rerun ablations with 3 seeds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4. Report specificity, grade-1 sensitivity, ECE, intervals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5. Re-evaluate APTOS after de-duplication; write 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pic>
        <p:nvPicPr>
          <p:cNvPr id="201" name="Chart 1" descr="Bar charts: DDR test sensitivity and PR-AUC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held-out EyePACS sensitivity and PR-AUC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0.937 / 0.925 / 0.937 (A / B / C): adding EyePACS did not help.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C: sensitivity 0.997 but PR-AUC 0.43 (A: 0.53): it learned the source. B: PR-AUC 0.80.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Preliminary: random DDR split, duplicates unchecked; APTOS (AUROC 0.994) not claimed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