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67" r:id="rId1"/>
  </p:sldMasterIdLst>
  <p:notesMasterIdLst>
    <p:notesMasterId r:id="rId12"/>
  </p:notesMasterIdLst>
  <p:handoutMasterIdLst>
    <p:handoutMasterId r:id="rId13"/>
  </p:handoutMasterIdLst>
  <p:sldIdLst>
    <p:sldId id="256" r:id="rId2"/>
    <p:sldId id="258" r:id="rId3"/>
    <p:sldId id="259" r:id="rId5"/>
    <p:sldId id="294" r:id="rId20"/>
    <p:sldId id="292" r:id="rId18"/>
    <p:sldId id="288" r:id="rId7"/>
    <p:sldId id="293" r:id="rId19"/>
    <p:sldId id="295" r:id="rId21"/>
    <p:sldId id="303" r:id="rId29"/>
    <p:sldId id="304" r:id="rId30"/>
    <p:sldId id="305" r:id="rId31"/>
    <p:sldId id="306" r:id="rId32"/>
    <p:sldId id="307" r:id="rId33"/>
    <p:sldId id="308" r:id="rId34"/>
    <p:sldId id="309" r:id="rId35"/>
    <p:sldId id="310" r:id="rId36"/>
    <p:sldId id="311" r:id="rId37"/>
    <p:sldId id="300" r:id="rId26"/>
    <p:sldId id="312" r:id="rId38"/>
    <p:sldId id="313" r:id="rId39"/>
    <p:sldId id="265" r:id="rId10"/>
    <p:sldId id="267" r:id="rId11"/>
  </p:sldIdLst>
  <p:sldSz cx="9144000" cy="5143500" type="screen16x9"/>
  <p:notesSz cx="9144000" cy="6858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2" autoAdjust="0"/>
    <p:restoredTop sz="94660"/>
  </p:normalViewPr>
  <p:slideViewPr>
    <p:cSldViewPr snapToGrid="0">
      <p:cViewPr varScale="1">
        <p:scale>
          <a:sx n="119" d="100"/>
          <a:sy n="119" d="100"/>
        </p:scale>
        <p:origin x="446" y="9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handoutMaster" Target="handoutMasters/handout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1.xml"/>  <Relationship Id="rId19" Type="http://schemas.openxmlformats.org/officeDocument/2006/relationships/slide" Target="slides/slide12.xml"/>
  <Relationship Id="rId20" Type="http://schemas.openxmlformats.org/officeDocument/2006/relationships/slide" Target="slides/slide13.xml"/>
  <Relationship Id="rId21" Type="http://schemas.openxmlformats.org/officeDocument/2006/relationships/slide" Target="slides/slide14.xml"/>
  
  
  
  
  <Relationship Id="rId26" Type="http://schemas.openxmlformats.org/officeDocument/2006/relationships/slide" Target="slides/slide19.xml"/>
  
  
  <Relationship Id="rId29" Type="http://schemas.openxmlformats.org/officeDocument/2006/relationships/slide" Target="slides/slide22.xml"/>
  <Relationship Id="rId30" Type="http://schemas.openxmlformats.org/officeDocument/2006/relationships/slide" Target="slides/slide23.xml"/>
  <Relationship Id="rId31" Type="http://schemas.openxmlformats.org/officeDocument/2006/relationships/slide" Target="slides/slide24.xml"/>
  <Relationship Id="rId32" Type="http://schemas.openxmlformats.org/officeDocument/2006/relationships/slide" Target="slides/slide25.xml"/>
  <Relationship Id="rId33" Type="http://schemas.openxmlformats.org/officeDocument/2006/relationships/slide" Target="slides/slide26.xml"/>
  <Relationship Id="rId34" Type="http://schemas.openxmlformats.org/officeDocument/2006/relationships/slide" Target="slides/slide27.xml"/>
  <Relationship Id="rId35" Type="http://schemas.openxmlformats.org/officeDocument/2006/relationships/slide" Target="slides/slide28.xml"/>
  <Relationship Id="rId36" Type="http://schemas.openxmlformats.org/officeDocument/2006/relationships/slide" Target="slides/slide29.xml"/>
  <Relationship Id="rId37" Type="http://schemas.openxmlformats.org/officeDocument/2006/relationships/slide" Target="slides/slide30.xml"/>
  <Relationship Id="rId38" Type="http://schemas.openxmlformats.org/officeDocument/2006/relationships/slide" Target="slides/slide31.xml"/>
  <Relationship Id="rId39" Type="http://schemas.openxmlformats.org/officeDocument/2006/relationships/slide" Target="slides/slide32.xml"/>
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B312860-1975-8061-2CE3-B8E45943A6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4CFCB5A-3658-0982-E0B8-69C71A92D5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F0A7F9D-9802-4ED6-BF56-25C5E2F82295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939F0A-E2E7-21E1-8E46-E4DB86F5B26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7AE522C-0746-6130-9787-88A42369E18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1515B6-B6AE-41D6-8F0F-4DD928EAAC2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830834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5179484" y="0"/>
            <a:ext cx="3962400" cy="3440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sldNum="0"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22:notes"/>
          <p:cNvSpPr txBox="1">
            <a:spLocks noGrp="1"/>
          </p:cNvSpPr>
          <p:nvPr>
            <p:ph type="body" idx="1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69" name="Google Shape;269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This is what I have measured so far, and it changed the design of the project. Because the top-up is applied only to the short grades, grades 0 and 2 contain no EyePACS images while grades 1 and 3 are nearly 80 percent EyePACS. A quarter of the severity label is recoverable from the dataset name alone. Every merged EyePACS image carries disease, so a model that learns only to recognise the camera gets 38.7 percent of disease cases right with no false alarms — and only for the earliest decision, which is the one I am targeting. So the merge is not just an imbalance fix; it has a cost, and the thesis now measures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3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Relationship Id="rId3" Type="http://schemas.openxmlformats.org/officeDocument/2006/relationships/image" Target="../media/image3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Relationship Id="rId3" Type="http://schemas.openxmlformats.org/officeDocument/2006/relationships/image" Target="../media/image10.png"/><Relationship Id="rId4" Type="http://schemas.openxmlformats.org/officeDocument/2006/relationships/image" Target="../media/image3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9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ctrTitle"/>
          </p:nvPr>
        </p:nvSpPr>
        <p:spPr>
          <a:xfrm>
            <a:off x="1136195" y="2318983"/>
            <a:ext cx="5654749" cy="5523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subTitle" idx="1"/>
          </p:nvPr>
        </p:nvSpPr>
        <p:spPr>
          <a:xfrm>
            <a:off x="1136195" y="2894946"/>
            <a:ext cx="565474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9" name="Google Shape;19;p2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1262063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299504" y="184149"/>
            <a:ext cx="1819687" cy="1937259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096677" y="934104"/>
            <a:ext cx="6928451" cy="538523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22;p2"/>
          <p:cNvPicPr preferRelativeResize="0"/>
          <p:nvPr/>
        </p:nvPicPr>
        <p:blipFill rotWithShape="1">
          <a:blip r:embed="rId5">
            <a:alphaModFix amt="12000"/>
          </a:blip>
          <a:srcRect l="4751" t="1941" r="-4750" b="51083"/>
          <a:stretch/>
        </p:blipFill>
        <p:spPr>
          <a:xfrm>
            <a:off x="6864096" y="1829521"/>
            <a:ext cx="1924301" cy="331397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 type="obj">
  <p:cSld name="OBJEC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3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"/>
          <p:cNvSpPr txBox="1">
            <a:spLocks noGrp="1"/>
          </p:cNvSpPr>
          <p:nvPr>
            <p:ph type="body" idx="1"/>
          </p:nvPr>
        </p:nvSpPr>
        <p:spPr>
          <a:xfrm>
            <a:off x="536408" y="1177748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pic>
        <p:nvPicPr>
          <p:cNvPr id="26" name="Google Shape;26;p3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7" name="Google Shape;27;p3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28" name="Google Shape;28;p3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29" name="Google Shape;29;p3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Section Header" type="secHead">
  <p:cSld name="SECTION_HEADER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Google Shape;31;p4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l="2193" t="294" r="2531" b="-293"/>
          <a:stretch/>
        </p:blipFill>
        <p:spPr>
          <a:xfrm>
            <a:off x="1793311" y="0"/>
            <a:ext cx="7350689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2" name="Google Shape;32;p4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33" name="Google Shape;33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" name="Google Shape;34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5" name="Google Shape;35;p4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36" name="Google Shape;36;p4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7" name="Google Shape;37;p4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" name="Google Shape;38;p4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" name="Google Shape;39;p4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4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41" name="Google Shape;41;p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Slide">
  <p:cSld name="2_Title Slide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5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" name="Google Shape;44;p5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976603" y="556528"/>
            <a:ext cx="4167397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45" name="Google Shape;45;p5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" name="Google Shape;46;p5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47" name="Google Shape;47;p5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5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4840586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5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06209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50;p5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Title Slide">
  <p:cSld name="5_Title Slide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6"/>
          <p:cNvSpPr/>
          <p:nvPr/>
        </p:nvSpPr>
        <p:spPr>
          <a:xfrm>
            <a:off x="5332353" y="9004"/>
            <a:ext cx="3788497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" name="Google Shape;53;p6" descr="A large white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r="16118"/>
          <a:stretch/>
        </p:blipFill>
        <p:spPr>
          <a:xfrm>
            <a:off x="5625197" y="556528"/>
            <a:ext cx="3495654" cy="4586971"/>
          </a:xfrm>
          <a:prstGeom prst="rect">
            <a:avLst/>
          </a:prstGeom>
          <a:noFill/>
          <a:ln>
            <a:noFill/>
          </a:ln>
          <a:effectLst>
            <a:outerShdw algn="ctr" rotWithShape="0">
              <a:srgbClr val="000000">
                <a:alpha val="42352"/>
              </a:srgbClr>
            </a:outerShdw>
          </a:effectLst>
        </p:spPr>
      </p:pic>
      <p:sp>
        <p:nvSpPr>
          <p:cNvPr id="54" name="Google Shape;54;p6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5" name="Google Shape;55;p6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56" name="Google Shape;56;p6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  <p:pic>
        <p:nvPicPr>
          <p:cNvPr id="57" name="Google Shape;57;p6" descr="A close up of a logo  Description automatically generated"/>
          <p:cNvPicPr preferRelativeResize="0"/>
          <p:nvPr/>
        </p:nvPicPr>
        <p:blipFill rotWithShape="1">
          <a:blip r:embed="rId4">
            <a:alphaModFix/>
          </a:blip>
          <a:srcRect b="19853"/>
          <a:stretch/>
        </p:blipFill>
        <p:spPr>
          <a:xfrm>
            <a:off x="5489179" y="2791962"/>
            <a:ext cx="818534" cy="220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58" name="Google Shape;58;p6" descr="A picture containing baseball  Description automatically generated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54802" y="1407073"/>
            <a:ext cx="1332108" cy="877805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6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Title Slide">
  <p:cSld name="3_Title Slide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64" name="Google Shape;64;p7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65" name="Google Shape;65;p7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83760" y="702216"/>
            <a:ext cx="3865880" cy="4450287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7"/>
          <p:cNvSpPr/>
          <p:nvPr/>
        </p:nvSpPr>
        <p:spPr>
          <a:xfrm flipH="1">
            <a:off x="4683073" y="720320"/>
            <a:ext cx="19949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7" name="Google Shape;67;p7"/>
          <p:cNvPicPr preferRelativeResize="0"/>
          <p:nvPr/>
        </p:nvPicPr>
        <p:blipFill rotWithShape="1">
          <a:blip r:embed="rId3">
            <a:alphaModFix/>
          </a:blip>
          <a:srcRect b="6847"/>
          <a:stretch/>
        </p:blipFill>
        <p:spPr>
          <a:xfrm>
            <a:off x="7736668" y="9004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_Section Header">
  <p:cSld name="5_Section Header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8" descr="A tree lined street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4836" y="0"/>
            <a:ext cx="4536037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8"/>
          <p:cNvSpPr txBox="1">
            <a:spLocks noGrp="1"/>
          </p:cNvSpPr>
          <p:nvPr>
            <p:ph type="title"/>
          </p:nvPr>
        </p:nvSpPr>
        <p:spPr>
          <a:xfrm>
            <a:off x="4791393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8"/>
          <p:cNvSpPr txBox="1">
            <a:spLocks noGrp="1"/>
          </p:cNvSpPr>
          <p:nvPr>
            <p:ph type="body" idx="1"/>
          </p:nvPr>
        </p:nvSpPr>
        <p:spPr>
          <a:xfrm>
            <a:off x="4791393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72" name="Google Shape;72;p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8"/>
          <p:cNvSpPr/>
          <p:nvPr/>
        </p:nvSpPr>
        <p:spPr>
          <a:xfrm>
            <a:off x="4427668" y="729324"/>
            <a:ext cx="143205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Slide">
  <p:cSld name="4_Title Slide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9"/>
          <p:cNvSpPr/>
          <p:nvPr/>
        </p:nvSpPr>
        <p:spPr>
          <a:xfrm>
            <a:off x="4683760" y="9004"/>
            <a:ext cx="4460240" cy="5134496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76" name="Google Shape;76;p9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4677507" y="914401"/>
            <a:ext cx="4466494" cy="42291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9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8" name="Google Shape;78;p9"/>
          <p:cNvSpPr txBox="1">
            <a:spLocks noGrp="1"/>
          </p:cNvSpPr>
          <p:nvPr>
            <p:ph type="subTitle" idx="1"/>
          </p:nvPr>
        </p:nvSpPr>
        <p:spPr>
          <a:xfrm>
            <a:off x="318901" y="1224321"/>
            <a:ext cx="4009259" cy="1314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  <a:defRPr>
                <a:solidFill>
                  <a:srgbClr val="4A4F55"/>
                </a:solidFill>
              </a:defRPr>
            </a:lvl1pPr>
            <a:lvl2pPr lvl="1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888888"/>
              </a:buClr>
              <a:buSzPts val="1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pic>
        <p:nvPicPr>
          <p:cNvPr id="79" name="Google Shape;79;p9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 b="19853"/>
          <a:stretch/>
        </p:blipFill>
        <p:spPr>
          <a:xfrm rot="-8851503">
            <a:off x="5255191" y="465522"/>
            <a:ext cx="930293" cy="2422736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9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1" name="Google Shape;81;p9"/>
          <p:cNvSpPr/>
          <p:nvPr/>
        </p:nvSpPr>
        <p:spPr>
          <a:xfrm>
            <a:off x="4677505" y="0"/>
            <a:ext cx="4466495" cy="914400"/>
          </a:xfrm>
          <a:prstGeom prst="rect">
            <a:avLst/>
          </a:prstGeom>
          <a:solidFill>
            <a:srgbClr val="272324"/>
          </a:solidFill>
          <a:ln w="9525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9"/>
          <p:cNvPicPr preferRelativeResize="0"/>
          <p:nvPr/>
        </p:nvPicPr>
        <p:blipFill rotWithShape="1">
          <a:blip r:embed="rId4">
            <a:alphaModFix/>
          </a:blip>
          <a:srcRect b="6847"/>
          <a:stretch/>
        </p:blipFill>
        <p:spPr>
          <a:xfrm>
            <a:off x="7713518" y="2762"/>
            <a:ext cx="1407332" cy="14982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32058" y="2670664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0"/>
          <p:cNvSpPr txBox="1">
            <a:spLocks noGrp="1"/>
          </p:cNvSpPr>
          <p:nvPr>
            <p:ph type="ctrTitle"/>
          </p:nvPr>
        </p:nvSpPr>
        <p:spPr>
          <a:xfrm>
            <a:off x="330905" y="295171"/>
            <a:ext cx="2249504" cy="5512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6" name="Google Shape;86;p10"/>
          <p:cNvSpPr txBox="1">
            <a:spLocks noGrp="1"/>
          </p:cNvSpPr>
          <p:nvPr>
            <p:ph type="sldNum" idx="12"/>
          </p:nvPr>
        </p:nvSpPr>
        <p:spPr>
          <a:xfrm>
            <a:off x="7010400" y="4869656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87" name="Google Shape;87;p10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115433" y="642359"/>
            <a:ext cx="804339" cy="810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88" name="Google Shape;88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15433" y="1660176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10"/>
          <p:cNvSpPr txBox="1"/>
          <p:nvPr/>
        </p:nvSpPr>
        <p:spPr>
          <a:xfrm>
            <a:off x="3163311" y="665781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10"/>
          <p:cNvSpPr txBox="1"/>
          <p:nvPr/>
        </p:nvSpPr>
        <p:spPr>
          <a:xfrm>
            <a:off x="3186250" y="170068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0"/>
          <p:cNvSpPr txBox="1"/>
          <p:nvPr/>
        </p:nvSpPr>
        <p:spPr>
          <a:xfrm>
            <a:off x="3194563" y="2706528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2" name="Google Shape;92;p10" descr="A close up of a logo  Description automatically generated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123746" y="3663543"/>
            <a:ext cx="804339" cy="810773"/>
          </a:xfrm>
          <a:prstGeom prst="rect">
            <a:avLst/>
          </a:prstGeom>
          <a:noFill/>
          <a:ln>
            <a:noFill/>
          </a:ln>
        </p:spPr>
      </p:pic>
      <p:sp>
        <p:nvSpPr>
          <p:cNvPr id="93" name="Google Shape;93;p10"/>
          <p:cNvSpPr txBox="1"/>
          <p:nvPr/>
        </p:nvSpPr>
        <p:spPr>
          <a:xfrm>
            <a:off x="3186250" y="3704055"/>
            <a:ext cx="673331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b="1" i="0" u="none" strike="noStrike" cap="non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4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Section Header">
  <p:cSld name="1_Section Header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1" descr="A group of palm trees on the side of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 t="-186"/>
          <a:stretch/>
        </p:blipFill>
        <p:spPr>
          <a:xfrm>
            <a:off x="-26057" y="-9562"/>
            <a:ext cx="5432223" cy="51435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6" name="Google Shape;96;p11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97" name="Google Shape;97;p11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8" name="Google Shape;98;p11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9" name="Google Shape;99;p11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00" name="Google Shape;100;p11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1" name="Google Shape;101;p11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2" name="Google Shape;102;p11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1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4" name="Google Shape;104;p11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05" name="Google Shape;105;p1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Section Header">
  <p:cSld name="3_Section Header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" name="Google Shape;107;p12" descr="A group of people posing for the camera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-9563"/>
            <a:ext cx="5387332" cy="516199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08" name="Google Shape;108;p12"/>
          <p:cNvGrpSpPr/>
          <p:nvPr/>
        </p:nvGrpSpPr>
        <p:grpSpPr>
          <a:xfrm rot="10800000">
            <a:off x="2071688" y="-10886"/>
            <a:ext cx="6399490" cy="5143501"/>
            <a:chOff x="0" y="-1"/>
            <a:chExt cx="6377354" cy="5150732"/>
          </a:xfrm>
        </p:grpSpPr>
        <p:sp>
          <p:nvSpPr>
            <p:cNvPr id="109" name="Google Shape;109;p12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0" name="Google Shape;110;p12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12"/>
          <p:cNvGrpSpPr/>
          <p:nvPr/>
        </p:nvGrpSpPr>
        <p:grpSpPr>
          <a:xfrm rot="10800000">
            <a:off x="2589184" y="-16820"/>
            <a:ext cx="6548803" cy="5169255"/>
            <a:chOff x="-34290" y="-1"/>
            <a:chExt cx="6548804" cy="5150732"/>
          </a:xfrm>
        </p:grpSpPr>
        <p:sp>
          <p:nvSpPr>
            <p:cNvPr id="112" name="Google Shape;112;p12"/>
            <p:cNvSpPr/>
            <p:nvPr/>
          </p:nvSpPr>
          <p:spPr>
            <a:xfrm>
              <a:off x="-34290" y="1"/>
              <a:ext cx="3231326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3" name="Google Shape;113;p12"/>
            <p:cNvSpPr/>
            <p:nvPr/>
          </p:nvSpPr>
          <p:spPr>
            <a:xfrm rot="5400000">
              <a:off x="228040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14" name="Google Shape;114;p12"/>
          <p:cNvSpPr/>
          <p:nvPr/>
        </p:nvSpPr>
        <p:spPr>
          <a:xfrm rot="-8820000">
            <a:off x="4208375" y="-421296"/>
            <a:ext cx="153842" cy="4527614"/>
          </a:xfrm>
          <a:custGeom>
            <a:avLst/>
            <a:gdLst/>
            <a:ahLst/>
            <a:cxnLst/>
            <a:rect l="l" t="t" r="r" b="b"/>
            <a:pathLst>
              <a:path w="81241" h="4522221" extrusionOk="0">
                <a:moveTo>
                  <a:pt x="10903" y="131585"/>
                </a:moveTo>
                <a:lnTo>
                  <a:pt x="76142" y="0"/>
                </a:lnTo>
                <a:cubicBezTo>
                  <a:pt x="77842" y="1472062"/>
                  <a:pt x="79541" y="2944124"/>
                  <a:pt x="81241" y="4416186"/>
                </a:cubicBezTo>
                <a:cubicBezTo>
                  <a:pt x="14484" y="4497775"/>
                  <a:pt x="27080" y="4486876"/>
                  <a:pt x="0" y="4522221"/>
                </a:cubicBezTo>
                <a:cubicBezTo>
                  <a:pt x="3151" y="3094021"/>
                  <a:pt x="7752" y="1559785"/>
                  <a:pt x="10903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12"/>
          <p:cNvSpPr txBox="1">
            <a:spLocks noGrp="1"/>
          </p:cNvSpPr>
          <p:nvPr>
            <p:ph type="title"/>
          </p:nvPr>
        </p:nvSpPr>
        <p:spPr>
          <a:xfrm>
            <a:off x="4520564" y="2612014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16" name="Google Shape;116;p12"/>
          <p:cNvSpPr txBox="1">
            <a:spLocks noGrp="1"/>
          </p:cNvSpPr>
          <p:nvPr>
            <p:ph type="body" idx="1"/>
          </p:nvPr>
        </p:nvSpPr>
        <p:spPr>
          <a:xfrm>
            <a:off x="4520564" y="3633570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17" name="Google Shape;117;p12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Section Header">
  <p:cSld name="4_Section Header"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3" descr="A group of people walking down a street  Description automatically generated"/>
          <p:cNvPicPr preferRelativeResize="0"/>
          <p:nvPr/>
        </p:nvPicPr>
        <p:blipFill rotWithShape="1">
          <a:blip r:embed="rId2">
            <a:alphaModFix/>
          </a:blip>
          <a:srcRect t="-162" b="-176"/>
          <a:stretch/>
        </p:blipFill>
        <p:spPr>
          <a:xfrm>
            <a:off x="3369971" y="-17293"/>
            <a:ext cx="5774029" cy="51607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20" name="Google Shape;120;p13"/>
          <p:cNvGrpSpPr/>
          <p:nvPr/>
        </p:nvGrpSpPr>
        <p:grpSpPr>
          <a:xfrm>
            <a:off x="439200" y="0"/>
            <a:ext cx="6377354" cy="5154356"/>
            <a:chOff x="0" y="-1"/>
            <a:chExt cx="6377354" cy="5150732"/>
          </a:xfrm>
        </p:grpSpPr>
        <p:sp>
          <p:nvSpPr>
            <p:cNvPr id="121" name="Google Shape;121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2" name="Google Shape;122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23" name="Google Shape;123;p13"/>
          <p:cNvGrpSpPr/>
          <p:nvPr/>
        </p:nvGrpSpPr>
        <p:grpSpPr>
          <a:xfrm>
            <a:off x="-80647" y="-2"/>
            <a:ext cx="6377354" cy="5156081"/>
            <a:chOff x="0" y="-1"/>
            <a:chExt cx="6377354" cy="5150732"/>
          </a:xfrm>
        </p:grpSpPr>
        <p:sp>
          <p:nvSpPr>
            <p:cNvPr id="124" name="Google Shape;124;p13"/>
            <p:cNvSpPr/>
            <p:nvPr/>
          </p:nvSpPr>
          <p:spPr>
            <a:xfrm>
              <a:off x="0" y="0"/>
              <a:ext cx="3059877" cy="514350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5" name="Google Shape;125;p13"/>
            <p:cNvSpPr/>
            <p:nvPr/>
          </p:nvSpPr>
          <p:spPr>
            <a:xfrm rot="5400000">
              <a:off x="2143249" y="916627"/>
              <a:ext cx="5150732" cy="3317477"/>
            </a:xfrm>
            <a:prstGeom prst="triangle">
              <a:avLst>
                <a:gd name="adj" fmla="val 0"/>
              </a:avLst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26" name="Google Shape;126;p13"/>
          <p:cNvSpPr/>
          <p:nvPr/>
        </p:nvSpPr>
        <p:spPr>
          <a:xfrm rot="1956373">
            <a:off x="4575729" y="1038850"/>
            <a:ext cx="133535" cy="4514253"/>
          </a:xfrm>
          <a:custGeom>
            <a:avLst/>
            <a:gdLst/>
            <a:ahLst/>
            <a:cxnLst/>
            <a:rect l="l" t="t" r="r" b="b"/>
            <a:pathLst>
              <a:path w="74404" h="4514253" extrusionOk="0">
                <a:moveTo>
                  <a:pt x="4066" y="131585"/>
                </a:moveTo>
                <a:lnTo>
                  <a:pt x="69305" y="0"/>
                </a:lnTo>
                <a:cubicBezTo>
                  <a:pt x="71005" y="1472062"/>
                  <a:pt x="72704" y="2944124"/>
                  <a:pt x="74404" y="4416186"/>
                </a:cubicBezTo>
                <a:lnTo>
                  <a:pt x="0" y="4514253"/>
                </a:lnTo>
                <a:cubicBezTo>
                  <a:pt x="3151" y="3086053"/>
                  <a:pt x="915" y="1559785"/>
                  <a:pt x="4066" y="13158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title"/>
          </p:nvPr>
        </p:nvSpPr>
        <p:spPr>
          <a:xfrm>
            <a:off x="601358" y="470882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601358" y="1492438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29" name="Google Shape;129;p13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_Section Header">
  <p:cSld name="6_Section Header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14" descr="A group of people walking down a street next to a building  Description automatically generated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4607449" y="0"/>
            <a:ext cx="4536551" cy="5125355"/>
          </a:xfrm>
          <a:prstGeom prst="rect">
            <a:avLst/>
          </a:prstGeom>
          <a:noFill/>
          <a:ln>
            <a:noFill/>
          </a:ln>
        </p:spPr>
      </p:pic>
      <p:sp>
        <p:nvSpPr>
          <p:cNvPr id="132" name="Google Shape;132;p14"/>
          <p:cNvSpPr txBox="1">
            <a:spLocks noGrp="1"/>
          </p:cNvSpPr>
          <p:nvPr>
            <p:ph type="title"/>
          </p:nvPr>
        </p:nvSpPr>
        <p:spPr>
          <a:xfrm>
            <a:off x="512001" y="644503"/>
            <a:ext cx="3592512" cy="10215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 b="1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3" name="Google Shape;133;p14"/>
          <p:cNvSpPr txBox="1">
            <a:spLocks noGrp="1"/>
          </p:cNvSpPr>
          <p:nvPr>
            <p:ph type="body" idx="1"/>
          </p:nvPr>
        </p:nvSpPr>
        <p:spPr>
          <a:xfrm>
            <a:off x="512001" y="1666059"/>
            <a:ext cx="3592512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34" name="Google Shape;134;p14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5" name="Google Shape;135;p14"/>
          <p:cNvSpPr/>
          <p:nvPr/>
        </p:nvSpPr>
        <p:spPr>
          <a:xfrm flipH="1">
            <a:off x="4607449" y="729324"/>
            <a:ext cx="147431" cy="4414176"/>
          </a:xfrm>
          <a:custGeom>
            <a:avLst/>
            <a:gdLst/>
            <a:ahLst/>
            <a:cxnLst/>
            <a:rect l="l" t="t" r="r" b="b"/>
            <a:pathLst>
              <a:path w="79792" h="4414176" extrusionOk="0">
                <a:moveTo>
                  <a:pt x="9454" y="129575"/>
                </a:moveTo>
                <a:lnTo>
                  <a:pt x="79792" y="0"/>
                </a:lnTo>
                <a:lnTo>
                  <a:pt x="79792" y="4414176"/>
                </a:lnTo>
                <a:lnTo>
                  <a:pt x="0" y="4414176"/>
                </a:lnTo>
                <a:cubicBezTo>
                  <a:pt x="3151" y="2985976"/>
                  <a:pt x="6303" y="1557775"/>
                  <a:pt x="9454" y="129575"/>
                </a:cubicBezTo>
                <a:close/>
              </a:path>
            </a:pathLst>
          </a:custGeom>
          <a:solidFill>
            <a:srgbClr val="FCC90A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ader Only">
  <p:cSld name="Header Only"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5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38" name="Google Shape;138;p15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39" name="Google Shape;139;p15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40" name="Google Shape;140;p15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1" name="Google Shape;141;p15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42" name="Google Shape;142;p15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Header &amp; Subtitle">
  <p:cSld name="1_Header &amp; Subtitle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16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45" name="Google Shape;145;p16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46" name="Google Shape;146;p16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6"/>
          <p:cNvSpPr txBox="1">
            <a:spLocks noGrp="1"/>
          </p:cNvSpPr>
          <p:nvPr>
            <p:ph type="body" idx="1"/>
          </p:nvPr>
        </p:nvSpPr>
        <p:spPr>
          <a:xfrm>
            <a:off x="536408" y="1146189"/>
            <a:ext cx="8140628" cy="3440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4A4F55"/>
              </a:buClr>
              <a:buSzPts val="1500"/>
              <a:buNone/>
              <a:defRPr sz="1500">
                <a:solidFill>
                  <a:srgbClr val="4A4F55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100000"/>
              </a:lnSpc>
              <a:spcBef>
                <a:spcPts val="210"/>
              </a:spcBef>
              <a:spcAft>
                <a:spcPts val="0"/>
              </a:spcAft>
              <a:buClr>
                <a:srgbClr val="888888"/>
              </a:buClr>
              <a:buSzPts val="1050"/>
              <a:buNone/>
              <a:defRPr sz="105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grpSp>
        <p:nvGrpSpPr>
          <p:cNvPr id="148" name="Google Shape;148;p16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49" name="Google Shape;149;p16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0" name="Google Shape;150;p16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_Title and Content">
  <p:cSld name="2_Title and Content"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2" name="Google Shape;152;p17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2718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3" name="Google Shape;153;p17"/>
          <p:cNvGrpSpPr/>
          <p:nvPr/>
        </p:nvGrpSpPr>
        <p:grpSpPr>
          <a:xfrm>
            <a:off x="198023" y="147081"/>
            <a:ext cx="8503920" cy="543191"/>
            <a:chOff x="198023" y="147081"/>
            <a:chExt cx="8700480" cy="543191"/>
          </a:xfrm>
        </p:grpSpPr>
        <p:pic>
          <p:nvPicPr>
            <p:cNvPr id="154" name="Google Shape;154;p17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98023" y="151749"/>
              <a:ext cx="49224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55" name="Google Shape;155;p17"/>
            <p:cNvSpPr/>
            <p:nvPr/>
          </p:nvSpPr>
          <p:spPr>
            <a:xfrm>
              <a:off x="690269" y="147081"/>
              <a:ext cx="8208234" cy="64008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6" name="Google Shape;156;p17"/>
          <p:cNvSpPr txBox="1">
            <a:spLocks noGrp="1"/>
          </p:cNvSpPr>
          <p:nvPr>
            <p:ph type="title"/>
          </p:nvPr>
        </p:nvSpPr>
        <p:spPr>
          <a:xfrm>
            <a:off x="536408" y="229323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17"/>
          <p:cNvSpPr txBox="1">
            <a:spLocks noGrp="1"/>
          </p:cNvSpPr>
          <p:nvPr>
            <p:ph type="body" idx="1"/>
          </p:nvPr>
        </p:nvSpPr>
        <p:spPr>
          <a:xfrm>
            <a:off x="536408" y="1169435"/>
            <a:ext cx="8140628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o"/>
              <a:defRPr/>
            </a:lvl3pPr>
            <a:lvl4pPr marL="1828800" lvl="3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–"/>
              <a:defRPr/>
            </a:lvl4pPr>
            <a:lvl5pPr marL="2286000" lvl="4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7F7F7F"/>
              </a:buClr>
              <a:buSzPts val="1800"/>
              <a:buChar char="»"/>
              <a:defRPr/>
            </a:lvl5pPr>
            <a:lvl6pPr marL="2743200" lvl="5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llumn Content">
  <p:cSld name="Two Collumn Content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18"/>
          <p:cNvSpPr txBox="1">
            <a:spLocks noGrp="1"/>
          </p:cNvSpPr>
          <p:nvPr>
            <p:ph type="body" idx="1"/>
          </p:nvPr>
        </p:nvSpPr>
        <p:spPr>
          <a:xfrm>
            <a:off x="536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0" name="Google Shape;160;p18"/>
          <p:cNvSpPr txBox="1">
            <a:spLocks noGrp="1"/>
          </p:cNvSpPr>
          <p:nvPr>
            <p:ph type="body" idx="2"/>
          </p:nvPr>
        </p:nvSpPr>
        <p:spPr>
          <a:xfrm>
            <a:off x="4727408" y="1200151"/>
            <a:ext cx="3959392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42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/>
            </a:lvl1pPr>
            <a:lvl2pPr marL="914400" lvl="1" indent="-3429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2pPr>
            <a:lvl3pPr marL="1371600" lvl="2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o"/>
              <a:defRPr sz="1500"/>
            </a:lvl3pPr>
            <a:lvl4pPr marL="1828800" lvl="3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–"/>
              <a:defRPr sz="1350"/>
            </a:lvl4pPr>
            <a:lvl5pPr marL="2286000" lvl="4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rgbClr val="7F7F7F"/>
              </a:buClr>
              <a:buSzPts val="1350"/>
              <a:buChar char="»"/>
              <a:defRPr sz="1350"/>
            </a:lvl5pPr>
            <a:lvl6pPr marL="2743200" lvl="5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161" name="Google Shape;161;p18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2" name="Google Shape;162;p18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63" name="Google Shape;163;p18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4" name="Google Shape;164;p18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65" name="Google Shape;165;p18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6" name="Google Shape;166;p18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19"/>
          <p:cNvSpPr txBox="1">
            <a:spLocks noGrp="1"/>
          </p:cNvSpPr>
          <p:nvPr>
            <p:ph type="body" idx="1"/>
          </p:nvPr>
        </p:nvSpPr>
        <p:spPr>
          <a:xfrm>
            <a:off x="536408" y="1151335"/>
            <a:ext cx="3960980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69" name="Google Shape;169;p19"/>
          <p:cNvSpPr txBox="1">
            <a:spLocks noGrp="1"/>
          </p:cNvSpPr>
          <p:nvPr>
            <p:ph type="body" idx="2"/>
          </p:nvPr>
        </p:nvSpPr>
        <p:spPr>
          <a:xfrm>
            <a:off x="536408" y="1631156"/>
            <a:ext cx="3960980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0" name="Google Shape;170;p19"/>
          <p:cNvSpPr txBox="1">
            <a:spLocks noGrp="1"/>
          </p:cNvSpPr>
          <p:nvPr>
            <p:ph type="body" idx="3"/>
          </p:nvPr>
        </p:nvSpPr>
        <p:spPr>
          <a:xfrm>
            <a:off x="4724265" y="1151335"/>
            <a:ext cx="3962536" cy="479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FCC90A"/>
              </a:buClr>
              <a:buSzPts val="1800"/>
              <a:buNone/>
              <a:defRPr sz="1800" b="1">
                <a:solidFill>
                  <a:srgbClr val="FCC90A"/>
                </a:solidFill>
              </a:defRPr>
            </a:lvl1pPr>
            <a:lvl2pPr marL="914400" lvl="1" indent="-22860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71" name="Google Shape;171;p19"/>
          <p:cNvSpPr txBox="1">
            <a:spLocks noGrp="1"/>
          </p:cNvSpPr>
          <p:nvPr>
            <p:ph type="body" idx="4"/>
          </p:nvPr>
        </p:nvSpPr>
        <p:spPr>
          <a:xfrm>
            <a:off x="4724265" y="1631156"/>
            <a:ext cx="3962536" cy="2963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lvl="1" indent="-32385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2pPr>
            <a:lvl3pPr marL="1371600" lvl="2" indent="-314325" algn="l">
              <a:lnSpc>
                <a:spcPct val="100000"/>
              </a:lnSpc>
              <a:spcBef>
                <a:spcPts val="270"/>
              </a:spcBef>
              <a:spcAft>
                <a:spcPts val="0"/>
              </a:spcAft>
              <a:buClr>
                <a:schemeClr val="dk1"/>
              </a:buClr>
              <a:buSzPts val="1350"/>
              <a:buChar char="o"/>
              <a:defRPr sz="1350"/>
            </a:lvl3pPr>
            <a:lvl4pPr marL="1828800" lvl="3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–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Char char="»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 sz="1200"/>
            </a:lvl9pPr>
          </a:lstStyle>
          <a:p>
            <a:endParaRPr/>
          </a:p>
        </p:txBody>
      </p:sp>
      <p:sp>
        <p:nvSpPr>
          <p:cNvPr id="172" name="Google Shape;172;p19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73" name="Google Shape;173;p19"/>
          <p:cNvSpPr txBox="1">
            <a:spLocks noGrp="1"/>
          </p:cNvSpPr>
          <p:nvPr>
            <p:ph type="title"/>
          </p:nvPr>
        </p:nvSpPr>
        <p:spPr>
          <a:xfrm>
            <a:off x="536408" y="237636"/>
            <a:ext cx="8140628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174" name="Google Shape;174;p19" descr="A close up of a logo  Description automatically generated"/>
          <p:cNvPicPr preferRelativeResize="0"/>
          <p:nvPr/>
        </p:nvPicPr>
        <p:blipFill rotWithShape="1">
          <a:blip r:embed="rId2">
            <a:alphaModFix/>
          </a:blip>
          <a:srcRect b="-4198"/>
          <a:stretch/>
        </p:blipFill>
        <p:spPr>
          <a:xfrm>
            <a:off x="0" y="0"/>
            <a:ext cx="876601" cy="79629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75" name="Google Shape;175;p19"/>
          <p:cNvGrpSpPr/>
          <p:nvPr/>
        </p:nvGrpSpPr>
        <p:grpSpPr>
          <a:xfrm>
            <a:off x="182346" y="104249"/>
            <a:ext cx="570006" cy="4473696"/>
            <a:chOff x="182346" y="104249"/>
            <a:chExt cx="570006" cy="4473696"/>
          </a:xfrm>
        </p:grpSpPr>
        <p:pic>
          <p:nvPicPr>
            <p:cNvPr id="176" name="Google Shape;176;p19" descr="A close up of a logo  Description automatically generated"/>
            <p:cNvPicPr preferRelativeResize="0"/>
            <p:nvPr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182346" y="104249"/>
              <a:ext cx="570006" cy="538523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77" name="Google Shape;177;p19"/>
            <p:cNvSpPr/>
            <p:nvPr/>
          </p:nvSpPr>
          <p:spPr>
            <a:xfrm rot="5400000">
              <a:off x="-1801902" y="2538833"/>
              <a:ext cx="4023360" cy="54864"/>
            </a:xfrm>
            <a:prstGeom prst="rect">
              <a:avLst/>
            </a:prstGeom>
            <a:solidFill>
              <a:srgbClr val="FCC90A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>
  <p:cSld name="Blank"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0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theme" Target="../theme/theme1.xml"/><Relationship Id="rId21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228600" y="170261"/>
            <a:ext cx="8769096" cy="857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Arial"/>
              <a:buNone/>
              <a:defRPr sz="2200" b="1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228600" y="1126999"/>
            <a:ext cx="8769096" cy="33944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Arial"/>
              <a:buNone/>
              <a:defRPr sz="1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ourier New"/>
              <a:buChar char="o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04800" algn="l" rtl="0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rgbClr val="7F7F7F"/>
              </a:buClr>
              <a:buSzPts val="1200"/>
              <a:buFont typeface="Arial"/>
              <a:buChar char="–"/>
              <a:defRPr sz="12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2100" algn="l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7F7F7F"/>
              </a:buClr>
              <a:buSzPts val="1000"/>
              <a:buFont typeface="Arial"/>
              <a:buChar char="»"/>
              <a:defRPr sz="1000" b="0" i="0" u="none" strike="noStrike" cap="none">
                <a:solidFill>
                  <a:srgbClr val="7F7F7F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2385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sldNum" idx="12"/>
          </p:nvPr>
        </p:nvSpPr>
        <p:spPr>
          <a:xfrm>
            <a:off x="6975564" y="4826111"/>
            <a:ext cx="21336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13" name="Google Shape;13;p1"/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0509" y="4720046"/>
            <a:ext cx="320286" cy="34098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1"/>
          <p:cNvSpPr txBox="1"/>
          <p:nvPr/>
        </p:nvSpPr>
        <p:spPr>
          <a:xfrm>
            <a:off x="357250" y="4806164"/>
            <a:ext cx="2673331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CAL STATE LA </a:t>
            </a:r>
            <a:r>
              <a:rPr lang="en-US" sz="600" b="0" i="0" u="none" strike="noStrike" cap="none">
                <a:solidFill>
                  <a:srgbClr val="FCC90A"/>
                </a:solidFill>
                <a:latin typeface="Arial"/>
                <a:ea typeface="Arial"/>
                <a:cs typeface="Arial"/>
                <a:sym typeface="Arial"/>
              </a:rPr>
              <a:t> |   </a:t>
            </a:r>
            <a:r>
              <a:rPr lang="en-US" sz="6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Department of Computer Science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3_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14_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2_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3_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4_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5_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6_1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7_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8_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29_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Img1" Type="http://schemas.openxmlformats.org/officeDocument/2006/relationships/image" Target="../media/chart_slide30_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1"/>
          <p:cNvSpPr txBox="1">
            <a:spLocks noGrp="1"/>
          </p:cNvSpPr>
          <p:nvPr>
            <p:ph type="subTitle" idx="1"/>
          </p:nvPr>
        </p:nvSpPr>
        <p:spPr>
          <a:xfrm>
            <a:off x="2103863" y="3465715"/>
            <a:ext cx="4906537" cy="12168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Early DR (grades 1–2) on DDR, EyePACS and APTOS fundus images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</a:pPr>
            <a:r>
              <a:rPr lang="en-US">
                <a:solidFill>
                  <a:schemeClr val="dk1"/>
                </a:solidFill>
              </a:rPr>
              <a:t>Advisor: Navid Amini, PhD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r>
              <a:rPr lang="en-US"/>
              <a:t>Department of Computer Science</a:t>
            </a:r>
            <a:endParaRPr/>
          </a:p>
          <a:p>
            <a:pPr marL="0" lvl="0" indent="0" algn="ctr" rtl="0">
              <a:lnSpc>
                <a:spcPct val="100000"/>
              </a:lnSpc>
              <a:spcBef>
                <a:spcPts val="340"/>
              </a:spcBef>
              <a:spcAft>
                <a:spcPts val="0"/>
              </a:spcAft>
              <a:buClr>
                <a:srgbClr val="4A4F55"/>
              </a:buClr>
              <a:buSzPts val="1700"/>
              <a:buNone/>
            </a:pPr>
            <a:endParaRPr/>
          </a:p>
        </p:txBody>
      </p:sp>
      <p:sp>
        <p:nvSpPr>
          <p:cNvPr id="187" name="Google Shape;187;p21"/>
          <p:cNvSpPr txBox="1"/>
          <p:nvPr/>
        </p:nvSpPr>
        <p:spPr>
          <a:xfrm>
            <a:off x="0" y="2112255"/>
            <a:ext cx="9144000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lang="en-US" sz="3600" dirty="0">
                <a:solidFill>
                  <a:schemeClr val="dk1"/>
                </a:solidFill>
              </a:rPr>
              <a:t>Early Detection of Diabetic Retinopathy</a:t>
            </a:r>
            <a:endParaRPr sz="3600" dirty="0">
              <a:solidFill>
                <a:schemeClr val="dk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837E60-3D38-F4EB-DDD8-AB78CC76A965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r>
              <a:rPr lang="en-US" dirty="0">
                <a:solidFill>
                  <a:srgbClr val="121212"/>
                </a:solidFill>
              </a:rPr>
              <a:t>About Diabetic Retinopathy</a:t>
            </a:r>
            <a:endParaRPr sz="2200" b="1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66928" y="960120"/>
            <a:ext cx="49377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The clinical burden is growing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43584"/>
            <a:ext cx="2903928" cy="55399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 dirty="0">
                <a:solidFill>
                  <a:srgbClr val="121212"/>
                </a:solidFill>
                <a:latin typeface="Arial"/>
              </a:rPr>
              <a:t>Diabetes has expanded rapidly worldwide, increasing the number of people who need retinal screening for diabetic retinopathy.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916535" y="786384"/>
            <a:ext cx="1764792" cy="96830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7097096" y="84181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223760" y="854408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151M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36575" y="1204151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16535" y="2024253"/>
            <a:ext cx="1764792" cy="962406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097096" y="2075688"/>
            <a:ext cx="73152" cy="914400"/>
          </a:xfrm>
          <a:prstGeom prst="rect">
            <a:avLst/>
          </a:prstGeom>
          <a:solidFill>
            <a:srgbClr val="00634A"/>
          </a:solidFill>
          <a:ln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236575" y="2065972"/>
            <a:ext cx="1371600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00634A"/>
                </a:solidFill>
                <a:latin typeface="Arial"/>
              </a:rPr>
              <a:t>589M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36575" y="2396488"/>
            <a:ext cx="1371600" cy="402335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adults living with diabetes
in 2024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22008" y="3168634"/>
            <a:ext cx="1759319" cy="104307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7097096" y="3297313"/>
            <a:ext cx="73152" cy="914400"/>
          </a:xfrm>
          <a:prstGeom prst="rect">
            <a:avLst/>
          </a:prstGeom>
          <a:solidFill>
            <a:srgbClr val="FFCD00"/>
          </a:solidFill>
          <a:ln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236575" y="3254694"/>
            <a:ext cx="1444752" cy="329184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2300" b="1" i="0" dirty="0">
                <a:solidFill>
                  <a:srgbClr val="FFCD00"/>
                </a:solidFill>
                <a:latin typeface="Arial"/>
              </a:rPr>
              <a:t>+290%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36316" y="3661392"/>
            <a:ext cx="1346487" cy="360099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050" b="0" i="0" dirty="0">
                <a:solidFill>
                  <a:srgbClr val="121212"/>
                </a:solidFill>
                <a:latin typeface="Arial"/>
              </a:rPr>
              <a:t>observed increase in
screening population</a:t>
            </a:r>
          </a:p>
        </p:txBody>
      </p:sp>
      <p:pic>
        <p:nvPicPr>
          <p:cNvPr id="17" name="Picture 16" descr="diabetes_growth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113" y="2361462"/>
            <a:ext cx="5331355" cy="225394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743567" y="989267"/>
            <a:ext cx="2286000" cy="2286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300" b="1" i="0" dirty="0">
                <a:solidFill>
                  <a:srgbClr val="3D5F84"/>
                </a:solidFill>
                <a:latin typeface="Arial"/>
              </a:rPr>
              <a:t>Observed growth over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43567" y="1243584"/>
            <a:ext cx="2240280" cy="7315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 dirty="0">
                <a:solidFill>
                  <a:srgbClr val="121212"/>
                </a:solidFill>
                <a:latin typeface="Arial"/>
              </a:rPr>
              <a:t>More patients means more fundus images to grade - and more pressure for fast triage.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0AF627-36D3-95EE-AFDE-3CCF0DD2912C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Research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420624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Catch early DR (grades 1–2)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589520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00" b="0" i="0">
                <a:solidFill>
                  <a:srgbClr val="121212"/>
                </a:solidFill>
                <a:latin typeface="Arial"/>
              </a:rPr>
              <a:t>Many studies target referable DR (moderate or worse). This thesis targets the earliest grades.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36117" y="197510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Fundus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photo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14066" y="196089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Deep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learning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92015" y="1952244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 dirty="0">
                <a:solidFill>
                  <a:srgbClr val="121212"/>
                </a:solidFill>
                <a:latin typeface="Arial"/>
              </a:rPr>
              <a:t>Early-DR</a:t>
            </a:r>
            <a:br>
              <a:rPr sz="1100" b="1" dirty="0">
                <a:solidFill>
                  <a:srgbClr val="121212"/>
                </a:solidFill>
                <a:latin typeface="Arial"/>
              </a:rPr>
            </a:br>
            <a:r>
              <a:rPr sz="1100" b="1" dirty="0">
                <a:solidFill>
                  <a:srgbClr val="121212"/>
                </a:solidFill>
                <a:latin typeface="Arial"/>
              </a:rPr>
              <a:t>flag (1–2)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69964" y="1931670"/>
            <a:ext cx="1170432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Referral /</a:t>
            </a:r>
            <a:br>
              <a:rPr sz="1100" b="1">
                <a:solidFill>
                  <a:srgbClr val="121212"/>
                </a:solidFill>
                <a:latin typeface="Arial"/>
              </a:rPr>
            </a:br>
            <a:r>
              <a:rPr sz="1100" b="1">
                <a:solidFill>
                  <a:srgbClr val="121212"/>
                </a:solidFill>
                <a:latin typeface="Arial"/>
              </a:rPr>
              <a:t>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063240"/>
            <a:ext cx="224028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Primary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Sensitivity for grades 1–2 vs No DR at a fixed specificity.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3063240"/>
            <a:ext cx="237744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Secondary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Separate early (1–2) from late (3–4) DR for triage.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3063240"/>
            <a:ext cx="2331720" cy="84124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l"/>
            <a:r>
              <a:rPr sz="1019" b="0">
                <a:solidFill>
                  <a:srgbClr val="121212"/>
                </a:solidFill>
                <a:latin typeface="Arial"/>
              </a:rPr>
              <a:t>Robustness</a:t>
            </a:r>
            <a:br>
              <a:rPr sz="1019" b="0">
                <a:solidFill>
                  <a:srgbClr val="121212"/>
                </a:solidFill>
                <a:latin typeface="Arial"/>
              </a:rPr>
            </a:br>
            <a:r>
              <a:rPr sz="1019" b="0">
                <a:solidFill>
                  <a:srgbClr val="121212"/>
                </a:solidFill>
                <a:latin typeface="Arial"/>
              </a:rPr>
              <a:t>Held-out EyePACS patients, then APTOS, never used in training.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60704" y="4160520"/>
            <a:ext cx="6903720" cy="365760"/>
          </a:xfrm>
          <a:prstGeom prst="roundRect">
            <a:avLst/>
          </a:prstGeom>
          <a:solidFill>
            <a:srgbClr val="FFCD00"/>
          </a:solidFill>
          <a:ln w="9525">
            <a:solidFill>
              <a:srgbClr val="FFC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220" b="1" dirty="0">
                <a:solidFill>
                  <a:srgbClr val="121212"/>
                </a:solidFill>
                <a:latin typeface="Arial"/>
              </a:rPr>
              <a:t>Goal: high sensitivity at fixed specificity, with calibrated probabilities.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FB9CBB-52B0-613A-C36E-30186E81F683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3</a:t>
            </a:r>
          </a:p>
        </p:txBody>
      </p:sp>
      <p:sp>
        <p:nvSpPr>
          <p:cNvPr id="22" name="Shape 8">
            <a:extLst>
              <a:ext uri="{FF2B5EF4-FFF2-40B4-BE49-F238E27FC236}">
                <a16:creationId xmlns:a16="http://schemas.microsoft.com/office/drawing/2014/main" id="{21D7F2C5-3AAE-29A3-EB2B-01438851D29E}"/>
              </a:ext>
            </a:extLst>
          </p:cNvPr>
          <p:cNvSpPr/>
          <p:nvPr/>
        </p:nvSpPr>
        <p:spPr>
          <a:xfrm>
            <a:off x="2205893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4" name="Shape 8">
            <a:extLst>
              <a:ext uri="{FF2B5EF4-FFF2-40B4-BE49-F238E27FC236}">
                <a16:creationId xmlns:a16="http://schemas.microsoft.com/office/drawing/2014/main" id="{86BF4C34-5860-73D0-4EEA-45BE3BDDA49D}"/>
              </a:ext>
            </a:extLst>
          </p:cNvPr>
          <p:cNvSpPr/>
          <p:nvPr/>
        </p:nvSpPr>
        <p:spPr>
          <a:xfrm>
            <a:off x="5943987" y="2273089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6" name="Shape 8">
            <a:extLst>
              <a:ext uri="{FF2B5EF4-FFF2-40B4-BE49-F238E27FC236}">
                <a16:creationId xmlns:a16="http://schemas.microsoft.com/office/drawing/2014/main" id="{DBEF0C2C-37B6-B487-308F-4BFD2C35336C}"/>
              </a:ext>
            </a:extLst>
          </p:cNvPr>
          <p:cNvSpPr/>
          <p:nvPr/>
        </p:nvSpPr>
        <p:spPr>
          <a:xfrm>
            <a:off x="4094226" y="2265958"/>
            <a:ext cx="53492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Proposed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Three data arms, one change at a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207008"/>
            <a:ext cx="73152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120" b="0" i="0">
                <a:solidFill>
                  <a:srgbClr val="121212"/>
                </a:solidFill>
                <a:latin typeface="Arial"/>
              </a:rPr>
              <a:t>Same model, image size and epochs; frozen patient-level splits; test sets opened once.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Data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DDR, EyePACS, APTOS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249424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Prepare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Crop, pad, 512 px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858768" y="1737360"/>
            <a:ext cx="1335024" cy="64008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Merge arms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A, B, C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68112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Model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EfficientNet-B0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77456" y="1737360"/>
            <a:ext cx="1335024" cy="640080"/>
          </a:xfrm>
          <a:prstGeom prst="roundRect">
            <a:avLst/>
          </a:prstGeom>
          <a:solidFill>
            <a:srgbClr val="E0F1EB"/>
          </a:solidFill>
          <a:ln w="9525">
            <a:solidFill>
              <a:srgbClr val="006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80" b="1">
                <a:solidFill>
                  <a:srgbClr val="121212"/>
                </a:solidFill>
                <a:latin typeface="Arial"/>
              </a:rPr>
              <a:t>Output</a:t>
            </a:r>
            <a:br>
              <a:rPr sz="880" b="1">
                <a:solidFill>
                  <a:srgbClr val="121212"/>
                </a:solidFill>
                <a:latin typeface="Arial"/>
              </a:rPr>
            </a:br>
            <a:r>
              <a:rPr sz="880" b="1">
                <a:solidFill>
                  <a:srgbClr val="121212"/>
                </a:solidFill>
                <a:latin typeface="Arial"/>
              </a:rPr>
              <a:t>Calibrated, 95%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2743200"/>
            <a:ext cx="25146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Imbalance methods tested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Weighted sampler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130552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Class-balanced loss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29584" y="3044952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Focal loss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Strong augmentation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30552" y="3483864"/>
            <a:ext cx="1261872" cy="320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869" b="1">
                <a:solidFill>
                  <a:srgbClr val="121212"/>
                </a:solidFill>
                <a:latin typeface="Arial"/>
              </a:rPr>
              <a:t>Augmentation control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10912" y="2743200"/>
            <a:ext cx="292608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220" b="1" i="0">
                <a:solidFill>
                  <a:srgbClr val="3D5F84"/>
                </a:solidFill>
                <a:latin typeface="Arial"/>
              </a:rPr>
              <a:t>The three arms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999232"/>
            <a:ext cx="3520440" cy="9601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A: DDR only (clean baseline)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B: DDR + EyePACS, source-balanced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C: version 1 merge (negative control)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1000">
                <a:solidFill>
                  <a:srgbClr val="121212"/>
                </a:solidFill>
                <a:latin typeface="Arial"/>
              </a:rPr>
              <a:t>• C wins on its own test but not on APTOS = it learned the source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97280" y="4160520"/>
            <a:ext cx="6903720" cy="329184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Not a new network: the value is the design, the controls and the evidence.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6</a:t>
            </a:r>
          </a:p>
        </p:txBody>
      </p:sp>
      <p:sp>
        <p:nvSpPr>
          <p:cNvPr id="27" name="Shape 8">
            <a:extLst>
              <a:ext uri="{FF2B5EF4-FFF2-40B4-BE49-F238E27FC236}">
                <a16:creationId xmlns:a16="http://schemas.microsoft.com/office/drawing/2014/main" id="{D3022105-94A7-5198-D6E2-77CC59383713}"/>
              </a:ext>
            </a:extLst>
          </p:cNvPr>
          <p:cNvSpPr/>
          <p:nvPr/>
        </p:nvSpPr>
        <p:spPr>
          <a:xfrm flipV="1">
            <a:off x="2059718" y="205701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29" name="Shape 8">
            <a:extLst>
              <a:ext uri="{FF2B5EF4-FFF2-40B4-BE49-F238E27FC236}">
                <a16:creationId xmlns:a16="http://schemas.microsoft.com/office/drawing/2014/main" id="{582591C4-F68D-4A15-B6B9-5FEB08D109EA}"/>
              </a:ext>
            </a:extLst>
          </p:cNvPr>
          <p:cNvSpPr/>
          <p:nvPr/>
        </p:nvSpPr>
        <p:spPr>
          <a:xfrm flipV="1">
            <a:off x="3660991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1" name="Shape 8">
            <a:extLst>
              <a:ext uri="{FF2B5EF4-FFF2-40B4-BE49-F238E27FC236}">
                <a16:creationId xmlns:a16="http://schemas.microsoft.com/office/drawing/2014/main" id="{856019FD-6159-C16E-82A6-31C9B8A4135D}"/>
              </a:ext>
            </a:extLst>
          </p:cNvPr>
          <p:cNvSpPr/>
          <p:nvPr/>
        </p:nvSpPr>
        <p:spPr>
          <a:xfrm flipV="1">
            <a:off x="5262264" y="2074875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33" name="Shape 8">
            <a:extLst>
              <a:ext uri="{FF2B5EF4-FFF2-40B4-BE49-F238E27FC236}">
                <a16:creationId xmlns:a16="http://schemas.microsoft.com/office/drawing/2014/main" id="{6B13386C-625D-A28B-390E-14BA0411E195}"/>
              </a:ext>
            </a:extLst>
          </p:cNvPr>
          <p:cNvSpPr/>
          <p:nvPr/>
        </p:nvSpPr>
        <p:spPr>
          <a:xfrm flipV="1">
            <a:off x="6876416" y="2059850"/>
            <a:ext cx="141667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1" y="987552"/>
            <a:ext cx="6640605" cy="137390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International Diabetes Federation. IDF Diabetes Atlas, 11th ed., 2025.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Ting, D. S. W., et al. 'Artificial intelligence-assisted diabetic retinopathy screening.' Ophthalmology, 2021.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919" dirty="0">
                <a:solidFill>
                  <a:srgbClr val="121212"/>
                </a:solidFill>
                <a:latin typeface="Arial"/>
              </a:rPr>
              <a:t>• Shah, P., et al. 'Progression of DR and screening demand.' JAMA Ophthalmology, 2024.</a:t>
            </a:r>
            <a:endParaRPr lang="en-US" sz="919" dirty="0">
              <a:solidFill>
                <a:srgbClr val="121212"/>
              </a:solidFill>
              <a:latin typeface="Arial"/>
            </a:endParaRP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WHO. Guidelines on diabetic retinopathy screening, 2023.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CDC. Eye-health guidance for people with diabetes, 2024.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Li, T., et al. Diagnostic assessment of deep learning algorithms for DR screening (DDR). Information Sciences, 2019.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Kaggle. Diabetic Retinopathy Detection (EyePACS), 2015; APTOS 2019 Blindness Detection.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Guo, C., et al. On calibration of modern neural networks. ICML, 2017.</a:t>
            </a:r>
          </a:p>
          <a:p>
            <a:pPr>
              <a:lnSpc>
                <a:spcPct val="105000"/>
              </a:lnSpc>
              <a:spcAft>
                <a:spcPts val="400"/>
              </a:spcAft>
            </a:pPr>
            <a:r>
              <a:rPr lang="en-US" sz="919" dirty="0">
                <a:solidFill>
                  <a:srgbClr val="121212"/>
                </a:solidFill>
              </a:rPr>
              <a:t>• Sipka, T., et al. The hitchhiker’s guide to prior-shift adaptation. WACV, 2022.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endParaRPr sz="919" dirty="0">
              <a:solidFill>
                <a:srgbClr val="121212"/>
              </a:solidFill>
              <a:latin typeface="Arial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203F86-CDFA-B93E-DF6D-3F1C21538AE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866073" y="1977949"/>
            <a:ext cx="3592512" cy="5938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sz="3600"/>
              <a:t>THANK YOU</a:t>
            </a:r>
            <a:endParaRPr/>
          </a:p>
        </p:txBody>
      </p:sp>
      <p:sp>
        <p:nvSpPr>
          <p:cNvPr id="12" name="TYSub"/>
          <p:cNvSpPr txBox="1"/>
          <p:nvPr/>
        </p:nvSpPr>
        <p:spPr>
          <a:xfrm>
            <a:off x="500000" y="2650000"/>
            <a:ext cx="4000000" cy="3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en-US" sz="1400" i="1" dirty="0">
                <a:solidFill>
                  <a:srgbClr val="444444"/>
                </a:solidFill>
              </a:rPr>
              <a:t>Questions? We’d love to discuss!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274320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0E6E6E"/>
                </a:solidFill>
                <a:latin typeface="Arial"/>
              </a:rPr>
              <a:t>PROGRESS  ·  MEASURED ON THE REAL DDR + EYEPACS LABELS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29768" y="548640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1A1A1A"/>
                </a:solidFill>
                <a:latin typeface="Arial"/>
              </a:rPr>
              <a:t>The EyePACS merge has a measurable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29768" y="1024128"/>
            <a:ext cx="828446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F7173"/>
                </a:solidFill>
                <a:latin typeface="Arial"/>
              </a:rPr>
              <a:t>Topping up only the short grades links “which dataset” to “how severe”. Measured from the label files alone — no images, no GPU, no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9768" y="1426464"/>
            <a:ext cx="3977639" cy="2148840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572768"/>
            <a:ext cx="3566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1" i="0">
                <a:solidFill>
                  <a:srgbClr val="5F7173"/>
                </a:solidFill>
                <a:latin typeface="Arial"/>
              </a:rPr>
              <a:t>SHARE OF EACH GRADE TAKEN FROM EYEPACS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883664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0</a:t>
            </a:r>
          </a:p>
        </p:txBody>
      </p:sp>
      <p:sp>
        <p:nvSpPr>
          <p:cNvPr id="8" name="Rectangle 7"/>
          <p:cNvSpPr/>
          <p:nvPr/>
        </p:nvSpPr>
        <p:spPr>
          <a:xfrm>
            <a:off x="1389888" y="1929384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75887" y="1883664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194560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89888" y="2240279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89888" y="2240279"/>
            <a:ext cx="173370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75887" y="2194560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79.0%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505456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89888" y="2551176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75887" y="2505456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5F7173"/>
                </a:solidFill>
                <a:latin typeface="Arial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816352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89888" y="2862072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389888" y="2862072"/>
            <a:ext cx="1727118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2816352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78.7%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127248"/>
            <a:ext cx="6858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1A1A1A"/>
                </a:solidFill>
                <a:latin typeface="Arial"/>
              </a:rPr>
              <a:t>Grade 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389888" y="3172968"/>
            <a:ext cx="2194560" cy="137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89888" y="3172968"/>
            <a:ext cx="959022" cy="137160"/>
          </a:xfrm>
          <a:prstGeom prst="rect">
            <a:avLst/>
          </a:prstGeom>
          <a:solidFill>
            <a:srgbClr val="A84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5887" y="3127248"/>
            <a:ext cx="64008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 i="0">
                <a:solidFill>
                  <a:srgbClr val="A8452A"/>
                </a:solidFill>
                <a:latin typeface="Arial"/>
              </a:rPr>
              <a:t>43.7%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626864" y="1426464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28032" y="1508760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0.512 bits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8032" y="1755648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the severity label is recoverable from the dataset name alone — 24.6% of its information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26864" y="2185416"/>
            <a:ext cx="4087368" cy="731520"/>
          </a:xfrm>
          <a:prstGeom prst="roundRect">
            <a:avLst>
              <a:gd name="adj" fmla="val 6000"/>
            </a:avLst>
          </a:prstGeom>
          <a:solidFill>
            <a:srgbClr val="F7EA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28032" y="2267712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A8452A"/>
                </a:solidFill>
                <a:latin typeface="Arial"/>
              </a:rPr>
              <a:t>100%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28032" y="2514600"/>
            <a:ext cx="3703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of merged EyePACS images carry disease, so 38.7% of all disease cases are identifiable purely by recognising the camera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626864" y="3017520"/>
            <a:ext cx="4087368" cy="658368"/>
          </a:xfrm>
          <a:prstGeom prst="roundRect">
            <a:avLst>
              <a:gd name="adj" fmla="val 6000"/>
            </a:avLst>
          </a:prstGeom>
          <a:solidFill>
            <a:srgbClr val="E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28032" y="3099816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E6E6E"/>
                </a:solidFill>
                <a:latin typeface="Arial"/>
              </a:rPr>
              <a:t>0.167 → 0.000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28032" y="3346704"/>
            <a:ext cx="3703320" cy="25603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850" b="0" i="0">
                <a:solidFill>
                  <a:srgbClr val="5F7173"/>
                </a:solidFill>
                <a:latin typeface="Arial"/>
              </a:rPr>
              <a:t>score of a dataset-name-only predictor: under a random split, versus in a single-clinic test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9768" y="3712463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The shortcut is specific to the earliest decision — any disease versus none (AUC 0.694), and useless for referable disease (0.482).</a:t>
            </a:r>
          </a:p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1A1A"/>
                </a:solidFill>
                <a:latin typeface="Arial"/>
              </a:rPr>
              <a:t>That is exactly the decision this thesis targets, so the merge must be audited rather than assumed safe.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4389120"/>
            <a:ext cx="828446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00" b="0" i="1">
                <a:solidFill>
                  <a:srgbClr val="5F7173"/>
                </a:solidFill>
                <a:latin typeface="Arial"/>
              </a:rPr>
              <a:t>A classifier also tells DDR from EyePACS images with AUROC 0.996. Design consequence: three arms (A DDR only, B source-balanced, C this merge as a negative control), with every result reported per source.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96528" y="4736592"/>
            <a:ext cx="34747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5F7173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Complete Model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548640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From fundus image to a calibrated early-DR flag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7</a:t>
            </a:r>
          </a:p>
        </p:txBody>
      </p:sp>
      <p:sp>
        <p:nvSpPr>
          <p:cNvPr id="101" name="Label train"/>
          <p:cNvSpPr txBox="1"/>
          <p:nvPr/>
        </p:nvSpPr>
        <p:spPr>
          <a:xfrm>
            <a:off x="502920" y="118872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TRAIN: one model per arm, task and seed</a:t>
            </a:r>
          </a:p>
        </p:txBody>
      </p:sp>
      <p:sp>
        <p:nvSpPr>
          <p:cNvPr id="102" name="Train 1"/>
          <p:cNvSpPr/>
          <p:nvPr/>
        </p:nvSpPr>
        <p:spPr>
          <a:xfrm>
            <a:off x="502920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Fundus image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DDR, EyePACS, APTOS; frozen patient-level splits</a:t>
            </a:r>
          </a:p>
        </p:txBody>
      </p:sp>
      <p:sp>
        <p:nvSpPr>
          <p:cNvPr id="103" name="Arrow 1"/>
          <p:cNvSpPr/>
          <p:nvPr/>
        </p:nvSpPr>
        <p:spPr>
          <a:xfrm>
            <a:off x="1746504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4" name="Train 2"/>
          <p:cNvSpPr/>
          <p:nvPr/>
        </p:nvSpPr>
        <p:spPr>
          <a:xfrm>
            <a:off x="1901952" y="1481328"/>
            <a:ext cx="1216152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Preprocess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Crop border, pad to square, resize to 512 px (colour norm optional)</a:t>
            </a:r>
          </a:p>
        </p:txBody>
      </p:sp>
      <p:sp>
        <p:nvSpPr>
          <p:cNvPr id="105" name="Arrow 2"/>
          <p:cNvSpPr/>
          <p:nvPr/>
        </p:nvSpPr>
        <p:spPr>
          <a:xfrm>
            <a:off x="3145536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6" name="Train 3"/>
          <p:cNvSpPr/>
          <p:nvPr/>
        </p:nvSpPr>
        <p:spPr>
          <a:xfrm>
            <a:off x="3300984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Sampler + augment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Arm B: source-balanced. Weighted, class-aware or repeat-factor. Mild or strong</a:t>
            </a:r>
          </a:p>
        </p:txBody>
      </p:sp>
      <p:sp>
        <p:nvSpPr>
          <p:cNvPr id="107" name="Arrow 3"/>
          <p:cNvSpPr/>
          <p:nvPr/>
        </p:nvSpPr>
        <p:spPr>
          <a:xfrm>
            <a:off x="4544568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08" name="Train 4"/>
          <p:cNvSpPr/>
          <p:nvPr/>
        </p:nvSpPr>
        <p:spPr>
          <a:xfrm>
            <a:off x="4700016" y="1481328"/>
            <a:ext cx="1216152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Backbone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EfficientNet-B0, ImageNet weights (ViT + RETFound as extension)</a:t>
            </a:r>
          </a:p>
        </p:txBody>
      </p:sp>
      <p:sp>
        <p:nvSpPr>
          <p:cNvPr id="109" name="Arrow 4"/>
          <p:cNvSpPr/>
          <p:nvPr/>
        </p:nvSpPr>
        <p:spPr>
          <a:xfrm>
            <a:off x="5943600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0" name="Train 5"/>
          <p:cNvSpPr/>
          <p:nvPr/>
        </p:nvSpPr>
        <p:spPr>
          <a:xfrm>
            <a:off x="6099048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Head (1 per run)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0 vs 1-4, early vs late, 3-class or 5-grade</a:t>
            </a:r>
          </a:p>
        </p:txBody>
      </p:sp>
      <p:sp>
        <p:nvSpPr>
          <p:cNvPr id="111" name="Arrow 5"/>
          <p:cNvSpPr/>
          <p:nvPr/>
        </p:nvSpPr>
        <p:spPr>
          <a:xfrm>
            <a:off x="7342631" y="1938528"/>
            <a:ext cx="128016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2" name="Train 6"/>
          <p:cNvSpPr/>
          <p:nvPr/>
        </p:nvSpPr>
        <p:spPr>
          <a:xfrm>
            <a:off x="7498080" y="1481328"/>
            <a:ext cx="1216152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Loss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Cross-entropy, class-balanced CE, or focal (gamma 1-3)</a:t>
            </a:r>
          </a:p>
        </p:txBody>
      </p:sp>
      <p:sp>
        <p:nvSpPr>
          <p:cNvPr id="113" name="Arrow down"/>
          <p:cNvSpPr/>
          <p:nvPr/>
        </p:nvSpPr>
        <p:spPr>
          <a:xfrm>
            <a:off x="8106156" y="2423160"/>
            <a:ext cx="0" cy="50292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4" name="Label validate"/>
          <p:cNvSpPr txBox="1"/>
          <p:nvPr/>
        </p:nvSpPr>
        <p:spPr>
          <a:xfrm>
            <a:off x="502920" y="2651760"/>
            <a:ext cx="5486400" cy="20116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950" b="1">
                <a:solidFill>
                  <a:srgbClr val="1E7A5A"/>
                </a:solidFill>
                <a:latin typeface="Arial"/>
              </a:rPr>
              <a:t>VALIDATE AND FREEZE, THEN TEST</a:t>
            </a:r>
          </a:p>
        </p:txBody>
      </p:sp>
      <p:sp>
        <p:nvSpPr>
          <p:cNvPr id="115" name="Eval 1"/>
          <p:cNvSpPr/>
          <p:nvPr/>
        </p:nvSpPr>
        <p:spPr>
          <a:xfrm>
            <a:off x="7251192" y="3017520"/>
            <a:ext cx="1463040" cy="914400"/>
          </a:xfrm>
          <a:prstGeom prst="roundRect">
            <a:avLst/>
          </a:prstGeom>
          <a:solidFill>
            <a:srgbClr val="BCCFE4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Best epoch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Chosen on validation score only</a:t>
            </a:r>
          </a:p>
        </p:txBody>
      </p:sp>
      <p:sp>
        <p:nvSpPr>
          <p:cNvPr id="116" name="Arrow back 1"/>
          <p:cNvSpPr/>
          <p:nvPr/>
        </p:nvSpPr>
        <p:spPr>
          <a:xfrm flipH="1">
            <a:off x="7054596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7" name="Eval 2"/>
          <p:cNvSpPr/>
          <p:nvPr/>
        </p:nvSpPr>
        <p:spPr>
          <a:xfrm>
            <a:off x="5564124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Temperature scaling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One number T, fitted on validation</a:t>
            </a:r>
          </a:p>
        </p:txBody>
      </p:sp>
      <p:sp>
        <p:nvSpPr>
          <p:cNvPr id="118" name="Arrow back 2"/>
          <p:cNvSpPr/>
          <p:nvPr/>
        </p:nvSpPr>
        <p:spPr>
          <a:xfrm flipH="1">
            <a:off x="5367528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19" name="Eval 3"/>
          <p:cNvSpPr/>
          <p:nvPr/>
        </p:nvSpPr>
        <p:spPr>
          <a:xfrm>
            <a:off x="3877056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Prior-shift correction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Training class mix back to natural prevalence</a:t>
            </a:r>
          </a:p>
        </p:txBody>
      </p:sp>
      <p:sp>
        <p:nvSpPr>
          <p:cNvPr id="120" name="Arrow back 3"/>
          <p:cNvSpPr/>
          <p:nvPr/>
        </p:nvSpPr>
        <p:spPr>
          <a:xfrm flipH="1">
            <a:off x="3680460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1" name="Eval 4"/>
          <p:cNvSpPr/>
          <p:nvPr/>
        </p:nvSpPr>
        <p:spPr>
          <a:xfrm>
            <a:off x="2189988" y="3017520"/>
            <a:ext cx="146304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Frozen threshold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Set at the declared specificity (0.90) on validation</a:t>
            </a:r>
          </a:p>
        </p:txBody>
      </p:sp>
      <p:sp>
        <p:nvSpPr>
          <p:cNvPr id="122" name="Arrow back 4"/>
          <p:cNvSpPr/>
          <p:nvPr/>
        </p:nvSpPr>
        <p:spPr>
          <a:xfrm flipH="1">
            <a:off x="1993392" y="3474720"/>
            <a:ext cx="169164" cy="0"/>
          </a:xfrm>
          <a:prstGeom prst="line">
            <a:avLst/>
          </a:prstGeom>
          <a:noFill/>
          <a:ln w="25400">
            <a:solidFill>
              <a:srgbClr val="555555"/>
            </a:solidFill>
            <a:prstDash val="solid"/>
            <a:tailEnd type="triangle"/>
          </a:ln>
        </p:spPr>
        <p:txBody>
          <a:bodyPr/>
          <a:lstStyle/>
          <a:p>
            <a:endParaRPr sz="1050"/>
          </a:p>
        </p:txBody>
      </p:sp>
      <p:sp>
        <p:nvSpPr>
          <p:cNvPr id="123" name="Eval 5"/>
          <p:cNvSpPr/>
          <p:nvPr/>
        </p:nvSpPr>
        <p:spPr>
          <a:xfrm>
            <a:off x="502920" y="3017520"/>
            <a:ext cx="1463040" cy="914400"/>
          </a:xfrm>
          <a:prstGeom prst="roundRect">
            <a:avLst/>
          </a:prstGeom>
          <a:solidFill>
            <a:srgbClr val="FFF0B3"/>
          </a:solidFill>
          <a:ln w="9525">
            <a:solidFill>
              <a:srgbClr val="E0B4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1000" b="1">
                <a:solidFill>
                  <a:srgbClr val="121212"/>
                </a:solidFill>
                <a:latin typeface="Arial"/>
              </a:rPr>
              <a:t>Outputs</a:t>
            </a:r>
          </a:p>
          <a:p>
            <a:pPr algn="ctr"/>
            <a:r>
              <a:rPr sz="800" b="0">
                <a:solidFill>
                  <a:srgbClr val="2B2B2B"/>
                </a:solidFill>
                <a:latin typeface="Arial"/>
              </a:rPr>
              <a:t>Calibrated probability, early-DR flag, per-source metrics with 95% CI</a:t>
            </a:r>
          </a:p>
        </p:txBody>
      </p:sp>
      <p:sp>
        <p:nvSpPr>
          <p:cNvPr id="124" name="Banner"/>
          <p:cNvSpPr/>
          <p:nvPr/>
        </p:nvSpPr>
        <p:spPr>
          <a:xfrm>
            <a:off x="502920" y="4133087"/>
            <a:ext cx="8211312" cy="384048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864" tIns="36576" rIns="54864" bIns="36576" rtlCol="0" anchor="ctr"/>
          <a:lstStyle/>
          <a:p>
            <a:pPr algn="ctr"/>
            <a:r>
              <a:rPr sz="980" b="1">
                <a:solidFill>
                  <a:srgbClr val="121212"/>
                </a:solidFill>
                <a:latin typeface="Arial"/>
              </a:rPr>
              <a:t>Test sets opened once: DDR + held-out EyePACS, then APTOS last. Grad-CAM with a randomised-weights check.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Data: Three Fundus Datasets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Different sizes, grade mixes and cameras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4</a:t>
            </a:r>
          </a:p>
        </p:txBody>
      </p:sp>
      <p:pic>
        <p:nvPicPr>
          <p:cNvPr id="201" name="Chart 1" descr="Bar chart: percentage of each DR grade in DDR, EyePACS and APTO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12,522 gradable images. Random 60/20/20 split (7,454 / 2,552 / 2,516): this copy has no official split or patient IDs.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35,108 images. Split by patient: 24,572 train, 5,266 validation, 5,270 test.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3,662 images. External test only: never used for training or model selection.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Early DR (grades 1-2) is 41% of DDR, 22% of EyePACS and 37% of APTOS.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Training Setup and Curves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EfficientNet-B0, 512 px, 10 epochs, 3 seeds per arm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8</a:t>
            </a:r>
          </a:p>
        </p:txBody>
      </p:sp>
      <p:pic>
        <p:nvPicPr>
          <p:cNvPr id="201" name="Chart 1" descr="Line chart: validation PR-AUC per epoch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Same recipe for every arm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AdamW, learning rate 3e-4, mixed precision. Best epoch chosen on validation only.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Cost on a Kaggle GPU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About 110 s per epoch (A), 450 s (B), 150 s (C): roughly 6 hours for the nine runs.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Raw outputs are overconfident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Fitted temperature T = 1.6 to 2.4 across the nine runs; calibration is fitted on validation.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Validation sets differ by arm, so these curves show convergence, not which arm is better.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Extensions and Sanity Checks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Single-seed runs on DDR, scored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18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Early vs late (stage 2)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AUROC 0.951 at the best epoch: early and late DR separate well on DDR.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Three-class label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Validation PR-AUC 0.974 vs 0.972 for the two-class head (arm A): no meaningful difference.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8892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Colour normalisation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0.973 vs 0.972: no gain, and 3.4 times slower to train (about 380 s per epoch).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88920"/>
            <a:ext cx="3977639" cy="13716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Grad-CAM sanity check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Trained vs randomised-weights maps correlate 0.12 and −0.27 in two runs: the maps depend on the model.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Test-set metrics for these runs are not analysed here.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1: DDR Test Set (In-Domain)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Early DR (grades 1-2) vs No DR, mean of 3 seeds, threshold frozen on validation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9</a:t>
            </a:r>
          </a:p>
        </p:txBody>
      </p:sp>
      <p:pic>
        <p:nvPicPr>
          <p:cNvPr id="201" name="Chart 1" descr="Bar charts: DDR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operating point works here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0.91, 0.94, 0.91 (target 0.90); sensitivity 0.937, 0.925, 0.937 for A, B, C.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 vs A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-0.012 (Holm p = 0.084, not significant); PR-AUC +0.007 (p = 0.002).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Caution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split is random with no patient IDs: the other eye of a patient can sit in train. Near-duplicate leakage is small (4%).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Adding EyePACS did not improve DDR sensitivity. In-domain numbers are optimistic.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2: Held-Out EyePACS Patients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Same frozen threshold, unseen patients, all grades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10</a:t>
            </a:r>
          </a:p>
        </p:txBody>
      </p:sp>
      <p:pic>
        <p:nvPicPr>
          <p:cNvPr id="201" name="Chart 1" descr="Bar charts: EyePAC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C: the source shortcut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0.013: 99% of healthy EyePACS images flagged as DR. PR-AUC 0.43.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A: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Never saw EyePACS: specificity 0.39, sensitivity 0.885, PR-AUC 0.53.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Arm B: source-balanced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Specificity 0.89, sensitivity 0.73, PR-AUC 0.80, AUROC 0.88.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Arm C is the source shortcut, measured directly.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3: APTOS External 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Never used for training or selection; 3,662 images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11</a:t>
            </a:r>
          </a:p>
        </p:txBody>
      </p:sp>
      <p:pic>
        <p:nvPicPr>
          <p:cNvPr id="201" name="Chart 1" descr="Bar charts: APTOS sensitivity and specificity at the frozen threshold for arms A, B and C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12064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Ranking is excellent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0.994 to 0.995 for all arms, even grade 1 vs No DR (0.98).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threshold does not transfer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Sensitivity near 1.0 comes with specificity 0.46 (A), 0.83 (B), 0.24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Label tied to capture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alone predicts APTOS early DR (AUROC 0.96): not clean evidence of robustness.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AUROC for APTOS. Do not quote its sensitivity.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Grade by Grade: Grade 1 Is the Hard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against No DR, per grade and per source (post-hoc analysis)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12</a:t>
            </a:r>
          </a:p>
        </p:txBody>
      </p:sp>
      <p:pic>
        <p:nvPicPr>
          <p:cNvPr id="201" name="Chart 1" descr="Bar charts: AUROC for grade 1 and grade 2 against No DR per source and arm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2 is easy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AUROC 0.98 to 0.999 on DDR and APTOS for every arm.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Grade 1 is harder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EyePACS grade 1 vs No DR: 0.61 (A), 0.77 (B), 0.63 (C).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Why it matters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"Early DR" in DDR is mostly grade 2, which flatters the headline numbers.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Report grade 1 on its own: it is the earliest disease.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1: Duplicate Images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Hash-matched candidates across train, validation, test and APTOS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13</a:t>
            </a:r>
          </a:p>
        </p:txBody>
      </p:sp>
      <p:pic>
        <p:nvPicPr>
          <p:cNvPr id="201" name="Chart 1" descr="Candidate duplicate pairs, labelled with dataset, split and grade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6812280" y="1261872"/>
            <a:ext cx="192024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02920" y="1261872"/>
            <a:ext cx="61264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834 candidate groups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Only 480 share the same grade; the rest are mostly hash collisions.</a:t>
            </a:r>
          </a:p>
        </p:txBody>
      </p:sp>
      <p:sp>
        <p:nvSpPr>
          <p:cNvPr id="203" name="Card 2"/>
          <p:cNvSpPr/>
          <p:nvPr/>
        </p:nvSpPr>
        <p:spPr>
          <a:xfrm>
            <a:off x="502920" y="2286000"/>
            <a:ext cx="61264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Metrics barely move without them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DDR sensitivity 0.937 to 0.936; EyePACS and APTOS unchanged.</a:t>
            </a:r>
          </a:p>
        </p:txBody>
      </p:sp>
      <p:sp>
        <p:nvSpPr>
          <p:cNvPr id="204" name="Card 3"/>
          <p:cNvSpPr/>
          <p:nvPr/>
        </p:nvSpPr>
        <p:spPr>
          <a:xfrm>
            <a:off x="502920" y="3310128"/>
            <a:ext cx="61264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see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same patient photographed twice: patient-level leakage in the random DDR split is untested.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Exact duplicates do not explain the high scores.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3: A Group-Aware DDR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Near-duplicate images kept together; arms retrained (one seed) and evaluated once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14</a:t>
            </a:r>
          </a:p>
        </p:txBody>
      </p:sp>
      <p:pic>
        <p:nvPicPr>
          <p:cNvPr id="201" name="Chart 1" descr="Bar charts: near-duplicate leakage per split and validation PR-AUC on the random and group split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92608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Leakage was small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4.2% of test images had a near-duplicate in train under the random split; 0% under the group split.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Test results changed little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APTOS AUROC down 0.002 to 0.008; DDR grade-1 sensitivity moved both ways. Arm C EyePACS 0.75 to 0.71 is seed noise.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What it cannot fix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Fellow eyes of one patient (similarity 0.92 to 0.96) stay on both sides. APTOS specificity fell 0.04 to 0.08 at the old threshold.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Near-duplicate leakage does not explain the high DDR scores.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Check 2: Which Image Properties Predict the Label?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AUROC for early DR vs No DR from image properties only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15</a:t>
            </a:r>
          </a:p>
        </p:txBody>
      </p:sp>
      <p:pic>
        <p:nvPicPr>
          <p:cNvPr id="201" name="Chart 1" descr="Bar charts: AUROC from image size, file size, colour, sharpness and all properties for four train and test pair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029200" cy="2999232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DDR: size alone 0.58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Image size barely predicts early DR. Colour (0.74) and file size (0.73) do: likely lesion content, not camera.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APTOS: size alone 0.96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Within APTOS, image size almost fully predicts the label: a real camera or hospital confound.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EyePACS: 0.50 to 0.59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No property predicts the label: the cleanest benchmark.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Orange = image size. APTOS is camera-confounded; EyePACS is clean; DDR is mixed.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Result 4: Imbalance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Sampler, loss and augmentation, one change at a time (single seed, 14 runs)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16</a:t>
            </a:r>
          </a:p>
        </p:txBody>
      </p:sp>
      <p:pic>
        <p:nvPicPr>
          <p:cNvPr id="201" name="Chart 1" descr="Horizontal bars: best validation score of fourteen imbalance run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4572000" cy="301752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No method beat baseline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Best 0.9772 (geometric aug, all classes) vs baseline 0.9761: inside seed noise.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Augmentation leaked the label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classes: 0.977. On minority classes only: 0.834. Strong aug failed for another reason: next slide.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Limit of the test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score is early-vs-none PR-AUC; rare grades 1, 3 and 4 are not scored separately.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On this metric, plain cross-entropy is as good as every imbalance method.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Why Strong Augmentation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Diagnosed with the saved models and a short retrain (train and validation only)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17</a:t>
            </a:r>
          </a:p>
        </p:txBody>
      </p:sp>
      <p:pic>
        <p:nvPicPr>
          <p:cNvPr id="201" name="Chart 1" descr="Bar charts: strong-augmentation model scores and short retrain scores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457200" y="1261872"/>
            <a:ext cx="5212080" cy="2880360"/>
          </a:xfrm>
          <a:prstGeom prst="rect">
            <a:avLst/>
          </a:prstGeom>
        </p:spPr>
      </p:pic>
      <p:sp>
        <p:nvSpPr>
          <p:cNvPr id="202" name="Card 1"/>
          <p:cNvSpPr/>
          <p:nvPr/>
        </p:nvSpPr>
        <p:spPr>
          <a:xfrm>
            <a:off x="5760720" y="1261872"/>
            <a:ext cx="2926080" cy="93268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images are fine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Rotations and crops only: no blank or non-finite images.</a:t>
            </a:r>
          </a:p>
        </p:txBody>
      </p:sp>
      <p:sp>
        <p:nvSpPr>
          <p:cNvPr id="203" name="Card 2"/>
          <p:cNvSpPr/>
          <p:nvPr/>
        </p:nvSpPr>
        <p:spPr>
          <a:xfrm>
            <a:off x="5760720" y="2286000"/>
            <a:ext cx="2926080" cy="932688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BatchNorm mismatch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The strong-all model scores 0.58 normally but 0.96 once BatchNorm is re-estimated.</a:t>
            </a:r>
          </a:p>
        </p:txBody>
      </p:sp>
      <p:sp>
        <p:nvSpPr>
          <p:cNvPr id="204" name="Card 3"/>
          <p:cNvSpPr/>
          <p:nvPr/>
        </p:nvSpPr>
        <p:spPr>
          <a:xfrm>
            <a:off x="5760720" y="3310128"/>
            <a:ext cx="2926080" cy="932688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Confirmed by rerunning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Geometric aug on all classes trains fine (0.977). Colour/blur/noise breaks it. On minority classes only it drops to 0.834: a label cue.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Geometric-only on all classes fixes it, and gives the best raw calibration (T 1.65 vs 2.39).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What These Results Do Not Show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Read before quoting any number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19</a:t>
            </a:r>
          </a:p>
        </p:txBody>
      </p:sp>
      <p:sp>
        <p:nvSpPr>
          <p:cNvPr id="201" name="Card 1"/>
          <p:cNvSpPr/>
          <p:nvPr/>
        </p:nvSpPr>
        <p:spPr>
          <a:xfrm>
            <a:off x="50292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The frozen threshold does not transfer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On EyePACS specificity is 0.39 (A) and 0.013 (C): sensitivity alone is misleading off-domain.</a:t>
            </a:r>
          </a:p>
        </p:txBody>
      </p:sp>
      <p:sp>
        <p:nvSpPr>
          <p:cNvPr id="202" name="Card 2"/>
          <p:cNvSpPr/>
          <p:nvPr/>
        </p:nvSpPr>
        <p:spPr>
          <a:xfrm>
            <a:off x="4663440" y="128016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APTOS is confounded by capture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Image size alone predicts APTOS early DR (AUROC 0.96): its 0.994 is not clean evidence of robustness.</a:t>
            </a:r>
          </a:p>
        </p:txBody>
      </p:sp>
      <p:sp>
        <p:nvSpPr>
          <p:cNvPr id="203" name="Card 3"/>
          <p:cNvSpPr/>
          <p:nvPr/>
        </p:nvSpPr>
        <p:spPr>
          <a:xfrm>
            <a:off x="502920" y="2743200"/>
            <a:ext cx="3977639" cy="13716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DDR: same-patient leakage remains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No patient IDs. Near-duplicates were small (4%) and removed, but a patient's other eye cannot be. Retraining on a group split changed no test result.</a:t>
            </a:r>
          </a:p>
        </p:txBody>
      </p:sp>
      <p:sp>
        <p:nvSpPr>
          <p:cNvPr id="204" name="Card 4"/>
          <p:cNvSpPr/>
          <p:nvPr/>
        </p:nvSpPr>
        <p:spPr>
          <a:xfrm>
            <a:off x="4663440" y="2743200"/>
            <a:ext cx="3977639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Not yet reported</a:t>
            </a:r>
          </a:p>
          <a:p>
            <a:pPr algn="l"/>
            <a:r>
              <a:rPr sz="1100" b="0">
                <a:solidFill>
                  <a:srgbClr val="3a3a3a"/>
                </a:solidFill>
                <a:latin typeface="Arial"/>
              </a:rPr>
              <a:t>Confidence intervals, ECE, Brier and five seeds. Per-grade and specificity analyses are post-hoc.</a:t>
            </a:r>
          </a:p>
        </p:txBody>
      </p:sp>
      <p:sp>
        <p:nvSpPr>
          <p:cNvPr id="205" name="Banner"/>
          <p:cNvSpPr/>
          <p:nvPr/>
        </p:nvSpPr>
        <p:spPr>
          <a:xfrm>
            <a:off x="502920" y="4315968"/>
            <a:ext cx="8138160" cy="365760"/>
          </a:xfrm>
          <a:prstGeom prst="roundRect">
            <a:avLst/>
          </a:prstGeom>
          <a:solidFill>
            <a:srgbClr val="F2F5F8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ctr"/>
            <a:r>
              <a:rPr sz="1100" b="1">
                <a:solidFill>
                  <a:srgbClr val="121212"/>
                </a:solidFill>
                <a:latin typeface="Arial"/>
              </a:rPr>
              <a:t>EyePACS, with a patient-level split and clean properties, is the most trustworthy benchmark.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3232" y="283464"/>
            <a:ext cx="7909560" cy="502920"/>
          </a:xfrm>
        </p:spPr>
        <p:txBody>
          <a:bodyPr/>
          <a:lstStyle/>
          <a:p>
            <a:pPr algn="l"/>
            <a:r>
              <a:rPr sz="2200" b="1">
                <a:solidFill>
                  <a:srgbClr val="121212"/>
                </a:solidFill>
                <a:latin typeface="Arial"/>
              </a:rPr>
              <a:t>Conclusions and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932688"/>
            <a:ext cx="8138160" cy="256032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/>
            <a:r>
              <a:rPr sz="1480" b="1" i="0">
                <a:solidFill>
                  <a:srgbClr val="121212"/>
                </a:solidFill>
                <a:latin typeface="Arial"/>
              </a:rPr>
              <a:t>What the evidence supports so far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B72007-F5D0-AF78-B89C-794457398D1F}"/>
              </a:ext>
            </a:extLst>
          </p:cNvPr>
          <p:cNvSpPr txBox="1"/>
          <p:nvPr/>
        </p:nvSpPr>
        <p:spPr>
          <a:xfrm>
            <a:off x="8801100" y="4792436"/>
            <a:ext cx="34290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/>
              <a:t>20</a:t>
            </a:r>
          </a:p>
        </p:txBody>
      </p:sp>
      <p:sp>
        <p:nvSpPr>
          <p:cNvPr id="201" name="Conclusion 1"/>
          <p:cNvSpPr/>
          <p:nvPr/>
        </p:nvSpPr>
        <p:spPr>
          <a:xfrm>
            <a:off x="502920" y="1280160"/>
            <a:ext cx="4069080" cy="914400"/>
          </a:xfrm>
          <a:prstGeom prst="roundRect">
            <a:avLst/>
          </a:prstGeom>
          <a:solidFill>
            <a:srgbClr val="FFE9D9"/>
          </a:solidFill>
          <a:ln w="9525">
            <a:solidFill>
              <a:srgbClr val="EB68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The merge as written teaches the source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C flags 99% of healthy EyePACS images as DR, matching the label audit.</a:t>
            </a:r>
          </a:p>
        </p:txBody>
      </p:sp>
      <p:sp>
        <p:nvSpPr>
          <p:cNvPr id="202" name="Conclusion 2"/>
          <p:cNvSpPr/>
          <p:nvPr/>
        </p:nvSpPr>
        <p:spPr>
          <a:xfrm>
            <a:off x="502920" y="2286000"/>
            <a:ext cx="4069080" cy="914400"/>
          </a:xfrm>
          <a:prstGeom prst="roundRect">
            <a:avLst/>
          </a:prstGeom>
          <a:solidFill>
            <a:srgbClr val="E3F2EA"/>
          </a:solidFill>
          <a:ln w="9525">
            <a:solidFill>
              <a:srgbClr val="1E7A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Source-balancing helps off-domain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Arm B: EyePACS specificity 0.89, AUROC 0.88; DDR sensitivity unchanged.</a:t>
            </a:r>
          </a:p>
        </p:txBody>
      </p:sp>
      <p:sp>
        <p:nvSpPr>
          <p:cNvPr id="203" name="Conclusion 3"/>
          <p:cNvSpPr/>
          <p:nvPr/>
        </p:nvSpPr>
        <p:spPr>
          <a:xfrm>
            <a:off x="502920" y="3291840"/>
            <a:ext cx="4069080" cy="9144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DD2D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150" b="1">
                <a:solidFill>
                  <a:srgbClr val="121212"/>
                </a:solidFill>
                <a:latin typeface="Arial"/>
              </a:rPr>
              <a:t>EyePACS is the clean benchmark</a:t>
            </a:r>
          </a:p>
          <a:p>
            <a:pPr algn="l"/>
            <a:r>
              <a:rPr sz="1050" b="0">
                <a:solidFill>
                  <a:srgbClr val="3a3a3a"/>
                </a:solidFill>
                <a:latin typeface="Arial"/>
              </a:rPr>
              <a:t>Properties do not predict its labels (0.50 to 0.59); APTOS is confounded (size 0.96); DDR leakage is small.</a:t>
            </a:r>
          </a:p>
        </p:txBody>
      </p:sp>
      <p:sp>
        <p:nvSpPr>
          <p:cNvPr id="204" name="Next steps"/>
          <p:cNvSpPr/>
          <p:nvPr/>
        </p:nvSpPr>
        <p:spPr>
          <a:xfrm>
            <a:off x="4754880" y="1280160"/>
            <a:ext cx="3931920" cy="2926080"/>
          </a:xfrm>
          <a:prstGeom prst="roundRect">
            <a:avLst>
              <a:gd name="adj" fmla="val 6000"/>
            </a:avLst>
          </a:prstGeom>
          <a:solidFill>
            <a:srgbClr val="E4ECF6"/>
          </a:solidFill>
          <a:ln w="9525">
            <a:solidFill>
              <a:srgbClr val="BCCF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91440" tIns="36576" rIns="91440" bIns="36576" rtlCol="0" anchor="ctr"/>
          <a:lstStyle/>
          <a:p>
            <a:pPr algn="l"/>
            <a:r>
              <a:rPr sz="1200" b="1">
                <a:solidFill>
                  <a:srgbClr val="121212"/>
                </a:solidFill>
                <a:latin typeface="Arial"/>
              </a:rPr>
              <a:t>Next steps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1. Run the APTOS size-stratified check (saved predictions only)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2. Report AUROC, per-grade results and own-source operating points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3. Test capture mitigation: size-matched subsets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4. Five seeds on the group split, intervals, ECE and Brier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5. Use geometric augmentation on all classes; keep minority-only as the cue control</a:t>
            </a:r>
          </a:p>
          <a:p>
            <a:pPr algn="l"/>
            <a:r>
              <a:rPr sz="1000" b="0">
                <a:solidFill>
                  <a:srgbClr val="3a3a3a"/>
                </a:solidFill>
                <a:latin typeface="Arial"/>
              </a:rPr>
              <a:t>6. Re-evaluate once; label post-hoc analyses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16647</TotalTime>
  <Words>737</Words>
  <Application>Microsoft Office PowerPoint</Application>
  <PresentationFormat>On-screen Show (16:9)</PresentationFormat>
  <Paragraphs>142</Paragraphs>
  <Slides>10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Calibri</vt:lpstr>
      <vt:lpstr>Office Theme</vt:lpstr>
      <vt:lpstr>PowerPoint Presentation</vt:lpstr>
      <vt:lpstr>About Diabetic Retinopathy</vt:lpstr>
      <vt:lpstr>PowerPoint Presentation</vt:lpstr>
      <vt:lpstr>Research Aim</vt:lpstr>
      <vt:lpstr>PowerPoint Presentation</vt:lpstr>
      <vt:lpstr>How It Differs From Current Work</vt:lpstr>
      <vt:lpstr>PowerPoint Presentation</vt:lpstr>
      <vt:lpstr>Next Steps</vt:lpstr>
      <vt:lpstr>References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Roy Suja, Roshan</dc:creator>
  <cp:lastModifiedBy>Kazim Alikhan</cp:lastModifiedBy>
  <cp:revision>18</cp:revision>
  <dcterms:modified xsi:type="dcterms:W3CDTF">2026-08-01T08:50:42Z</dcterms:modified>
</cp:coreProperties>
</file>