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8" r:id="rId3"/>
    <p:sldId id="259" r:id="rId5"/>
    <p:sldId id="294" r:id="rId20"/>
    <p:sldId id="292" r:id="rId18"/>
    <p:sldId id="288" r:id="rId7"/>
    <p:sldId id="293" r:id="rId19"/>
    <p:sldId id="295" r:id="rId21"/>
    <p:sldId id="303" r:id="rId29"/>
    <p:sldId id="304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00" r:id="rId26"/>
    <p:sldId id="312" r:id="rId38"/>
    <p:sldId id="313" r:id="rId39"/>
    <p:sldId id="265" r:id="rId10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<Relationship Id="rId19" Type="http://schemas.openxmlformats.org/officeDocument/2006/relationships/slide" Target="slides/slide12.xml"/>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<Relationship Id="rId26" Type="http://schemas.openxmlformats.org/officeDocument/2006/relationships/slide" Target="slides/slide19.xml"/>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2_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4_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6_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7_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8_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9_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30_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Early DR (grades 1–2) on DDR, EyePACS and APTOS fundus images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r>
              <a:rPr lang="en-US" dirty="0">
                <a:solidFill>
                  <a:srgbClr val="121212"/>
                </a:solidFill>
              </a:rPr>
              <a:t>About Diabetic Retinopathy</a:t>
            </a:r>
            <a:endParaRPr sz="2200" b="1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49377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The clinical burden is growing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2903928" cy="55399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 dirty="0">
                <a:solidFill>
                  <a:srgbClr val="121212"/>
                </a:solidFill>
                <a:latin typeface="Arial"/>
              </a:rPr>
              <a:t>Diabetes has expanded rapidly worldwide, increasing the number of people who need retinal screening for diabetic retinopathy.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535" y="786384"/>
            <a:ext cx="1764792" cy="9683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97096" y="84181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0" y="854408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151M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6575" y="1204151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6535" y="2024253"/>
            <a:ext cx="1764792" cy="96240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97096" y="207568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36575" y="2065972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589M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6575" y="2396488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3168634"/>
            <a:ext cx="1759319" cy="104307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97096" y="3297313"/>
            <a:ext cx="73152" cy="914400"/>
          </a:xfrm>
          <a:prstGeom prst="rect">
            <a:avLst/>
          </a:prstGeom>
          <a:solidFill>
            <a:srgbClr val="FFCD00"/>
          </a:solidFill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36575" y="3254694"/>
            <a:ext cx="1444752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FCD00"/>
                </a:solidFill>
                <a:latin typeface="Arial"/>
              </a:rPr>
              <a:t>+290%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6316" y="3661392"/>
            <a:ext cx="1346487" cy="3600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observed increase in
screening population</a:t>
            </a:r>
          </a:p>
        </p:txBody>
      </p:sp>
      <p:pic>
        <p:nvPicPr>
          <p:cNvPr id="17" name="Picture 16" descr="diabetes_growth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13" y="2361462"/>
            <a:ext cx="5331355" cy="22539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3567" y="989267"/>
            <a:ext cx="22860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D5F84"/>
                </a:solidFill>
                <a:latin typeface="Arial"/>
              </a:rPr>
              <a:t>Observed growth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3567" y="1243584"/>
            <a:ext cx="22402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 dirty="0">
                <a:solidFill>
                  <a:srgbClr val="121212"/>
                </a:solidFill>
                <a:latin typeface="Arial"/>
              </a:rPr>
              <a:t>More patients means more fundus images to grade - and more pressure for fast triage.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AF627-36D3-95EE-AFDE-3CCF0DD2912C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Research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Catch early DR (grades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58952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>
                <a:solidFill>
                  <a:srgbClr val="121212"/>
                </a:solidFill>
                <a:latin typeface="Arial"/>
              </a:rPr>
              <a:t>Many studies target referable DR (moderate or worse). This thesis targets the earliest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6117" y="197510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Fundus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photo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4066" y="196089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Deep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2015" y="195224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Early-DR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flag (1–2)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9964" y="193167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Referral /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224028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Primary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Sensitivity for grades 1–2 vs No DR at a fixed specificity.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063240"/>
            <a:ext cx="23774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Secondary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Separate early (1–2) from late (3–4) DR for triage.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3063240"/>
            <a:ext cx="23317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Robustness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Held-out EyePACS patients, then APTOS, never used in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" y="4160520"/>
            <a:ext cx="6903720" cy="365760"/>
          </a:xfrm>
          <a:prstGeom prst="roundRect">
            <a:avLst/>
          </a:prstGeom>
          <a:solidFill>
            <a:srgbClr val="FFCD00"/>
          </a:solidFill>
          <a:ln w="9525"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220" b="1" dirty="0">
                <a:solidFill>
                  <a:srgbClr val="121212"/>
                </a:solidFill>
                <a:latin typeface="Arial"/>
              </a:rPr>
              <a:t>Goal: high sensitivity at fixed specificity, with calibrated probabilities.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FB9CBB-52B0-613A-C36E-30186E81F683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21D7F2C5-3AAE-29A3-EB2B-01438851D29E}"/>
              </a:ext>
            </a:extLst>
          </p:cNvPr>
          <p:cNvSpPr/>
          <p:nvPr/>
        </p:nvSpPr>
        <p:spPr>
          <a:xfrm>
            <a:off x="2205893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86BF4C34-5860-73D0-4EEA-45BE3BDDA49D}"/>
              </a:ext>
            </a:extLst>
          </p:cNvPr>
          <p:cNvSpPr/>
          <p:nvPr/>
        </p:nvSpPr>
        <p:spPr>
          <a:xfrm>
            <a:off x="5943987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DBEF0C2C-37B6-B487-308F-4BFD2C35336C}"/>
              </a:ext>
            </a:extLst>
          </p:cNvPr>
          <p:cNvSpPr/>
          <p:nvPr/>
        </p:nvSpPr>
        <p:spPr>
          <a:xfrm>
            <a:off x="4094226" y="2265958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EyePACS,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C: version 1 merge (negative control)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wins on its own test but not on APTOS = it learned the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1" y="987552"/>
            <a:ext cx="6640605" cy="137390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International Diabetes Federation. IDF Diabetes Atlas, 11th ed., 2025.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Ting, D. S. W., et al. 'Artificial intelligence-assisted diabetic retinopathy screening.' Ophthalmology, 2021.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Shah, P., et al. 'Progression of DR and screening demand.' JAMA Ophthalmology, 2024.</a:t>
            </a:r>
            <a:endParaRPr lang="en-US" sz="919" dirty="0">
              <a:solidFill>
                <a:srgbClr val="121212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WHO. Guidelines on diabetic retinopathy screening, 2023.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CDC. Eye-health guidance for people with diabetes, 2024.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Li, T., et al. Diagnostic assessment of deep learning algorithms for DR screening (DDR). Information Sciences, 2019.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Kaggle. Diabetic Retinopathy Detection (EyePACS), 2015; APTOS 2019 Blindness Detection.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Guo, C., et al. On calibration of modern neural networks. ICML, 2017.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Sipka, T., et al. The hitchhiker’s guide to prior-shift adaptation. WACV, 2022.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 sz="919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203F86-CDFA-B93E-DF6D-3F1C21538AE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Complete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From fundus image to a calibrated early-DR flag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sp>
        <p:nvSpPr>
          <p:cNvPr id="101" name="Label train"/>
          <p:cNvSpPr txBox="1"/>
          <p:nvPr/>
        </p:nvSpPr>
        <p:spPr>
          <a:xfrm>
            <a:off x="502920" y="118872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TRAIN: one model per arm, task and seed</a:t>
            </a:r>
          </a:p>
        </p:txBody>
      </p:sp>
      <p:sp>
        <p:nvSpPr>
          <p:cNvPr id="102" name="Train 1"/>
          <p:cNvSpPr/>
          <p:nvPr/>
        </p:nvSpPr>
        <p:spPr>
          <a:xfrm>
            <a:off x="502920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Fundus image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DDR, EyePACS, APTOS; frozen patient-level splits</a:t>
            </a:r>
          </a:p>
        </p:txBody>
      </p:sp>
      <p:sp>
        <p:nvSpPr>
          <p:cNvPr id="103" name="Arrow 1"/>
          <p:cNvSpPr/>
          <p:nvPr/>
        </p:nvSpPr>
        <p:spPr>
          <a:xfrm>
            <a:off x="1746504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4" name="Train 2"/>
          <p:cNvSpPr/>
          <p:nvPr/>
        </p:nvSpPr>
        <p:spPr>
          <a:xfrm>
            <a:off x="1901952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Preprocess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Crop border, pad to square, resize to 512 px (colour norm optional)</a:t>
            </a:r>
          </a:p>
        </p:txBody>
      </p:sp>
      <p:sp>
        <p:nvSpPr>
          <p:cNvPr id="105" name="Arrow 2"/>
          <p:cNvSpPr/>
          <p:nvPr/>
        </p:nvSpPr>
        <p:spPr>
          <a:xfrm>
            <a:off x="3145536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6" name="Train 3"/>
          <p:cNvSpPr/>
          <p:nvPr/>
        </p:nvSpPr>
        <p:spPr>
          <a:xfrm>
            <a:off x="3300984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Sampler + augment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Arm B: source-balanced. Weighted, class-aware or repeat-factor. Mild or strong</a:t>
            </a:r>
          </a:p>
        </p:txBody>
      </p:sp>
      <p:sp>
        <p:nvSpPr>
          <p:cNvPr id="107" name="Arrow 3"/>
          <p:cNvSpPr/>
          <p:nvPr/>
        </p:nvSpPr>
        <p:spPr>
          <a:xfrm>
            <a:off x="4544568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8" name="Train 4"/>
          <p:cNvSpPr/>
          <p:nvPr/>
        </p:nvSpPr>
        <p:spPr>
          <a:xfrm>
            <a:off x="4700016" y="1481328"/>
            <a:ext cx="1216152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Backbone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EfficientNet-B0, ImageNet weights (ViT + RETFound as extension)</a:t>
            </a:r>
          </a:p>
        </p:txBody>
      </p:sp>
      <p:sp>
        <p:nvSpPr>
          <p:cNvPr id="109" name="Arrow 4"/>
          <p:cNvSpPr/>
          <p:nvPr/>
        </p:nvSpPr>
        <p:spPr>
          <a:xfrm>
            <a:off x="5943600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0" name="Train 5"/>
          <p:cNvSpPr/>
          <p:nvPr/>
        </p:nvSpPr>
        <p:spPr>
          <a:xfrm>
            <a:off x="6099048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Head (1 per run)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0 vs 1-4, early vs late, 3-class or 5-grade</a:t>
            </a:r>
          </a:p>
        </p:txBody>
      </p:sp>
      <p:sp>
        <p:nvSpPr>
          <p:cNvPr id="111" name="Arrow 5"/>
          <p:cNvSpPr/>
          <p:nvPr/>
        </p:nvSpPr>
        <p:spPr>
          <a:xfrm>
            <a:off x="7342631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2" name="Train 6"/>
          <p:cNvSpPr/>
          <p:nvPr/>
        </p:nvSpPr>
        <p:spPr>
          <a:xfrm>
            <a:off x="7498080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Loss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Cross-entropy, class-balanced CE, or focal (gamma 1-3)</a:t>
            </a:r>
          </a:p>
        </p:txBody>
      </p:sp>
      <p:sp>
        <p:nvSpPr>
          <p:cNvPr id="113" name="Arrow down"/>
          <p:cNvSpPr/>
          <p:nvPr/>
        </p:nvSpPr>
        <p:spPr>
          <a:xfrm>
            <a:off x="8106156" y="2423160"/>
            <a:ext cx="0" cy="5029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4" name="Label validate"/>
          <p:cNvSpPr txBox="1"/>
          <p:nvPr/>
        </p:nvSpPr>
        <p:spPr>
          <a:xfrm>
            <a:off x="502920" y="265176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VALIDATE AND FREEZE, THEN TEST</a:t>
            </a:r>
          </a:p>
        </p:txBody>
      </p:sp>
      <p:sp>
        <p:nvSpPr>
          <p:cNvPr id="115" name="Eval 1"/>
          <p:cNvSpPr/>
          <p:nvPr/>
        </p:nvSpPr>
        <p:spPr>
          <a:xfrm>
            <a:off x="7251192" y="3017520"/>
            <a:ext cx="1463040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Best epoch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Chosen on validation score only</a:t>
            </a:r>
          </a:p>
        </p:txBody>
      </p:sp>
      <p:sp>
        <p:nvSpPr>
          <p:cNvPr id="116" name="Arrow back 1"/>
          <p:cNvSpPr/>
          <p:nvPr/>
        </p:nvSpPr>
        <p:spPr>
          <a:xfrm flipH="1">
            <a:off x="7054596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7" name="Eval 2"/>
          <p:cNvSpPr/>
          <p:nvPr/>
        </p:nvSpPr>
        <p:spPr>
          <a:xfrm>
            <a:off x="5564124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Temperature scaling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One number T, fitted on validation</a:t>
            </a:r>
          </a:p>
        </p:txBody>
      </p:sp>
      <p:sp>
        <p:nvSpPr>
          <p:cNvPr id="118" name="Arrow back 2"/>
          <p:cNvSpPr/>
          <p:nvPr/>
        </p:nvSpPr>
        <p:spPr>
          <a:xfrm flipH="1">
            <a:off x="5367528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9" name="Eval 3"/>
          <p:cNvSpPr/>
          <p:nvPr/>
        </p:nvSpPr>
        <p:spPr>
          <a:xfrm>
            <a:off x="3877056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Prior-shift correction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Training class mix back to natural prevalence</a:t>
            </a:r>
          </a:p>
        </p:txBody>
      </p:sp>
      <p:sp>
        <p:nvSpPr>
          <p:cNvPr id="120" name="Arrow back 3"/>
          <p:cNvSpPr/>
          <p:nvPr/>
        </p:nvSpPr>
        <p:spPr>
          <a:xfrm flipH="1">
            <a:off x="3680460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1" name="Eval 4"/>
          <p:cNvSpPr/>
          <p:nvPr/>
        </p:nvSpPr>
        <p:spPr>
          <a:xfrm>
            <a:off x="2189988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Frozen threshold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Set at the declared specificity (0.90) on validation</a:t>
            </a:r>
          </a:p>
        </p:txBody>
      </p:sp>
      <p:sp>
        <p:nvSpPr>
          <p:cNvPr id="122" name="Arrow back 4"/>
          <p:cNvSpPr/>
          <p:nvPr/>
        </p:nvSpPr>
        <p:spPr>
          <a:xfrm flipH="1">
            <a:off x="1993392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3" name="Eval 5"/>
          <p:cNvSpPr/>
          <p:nvPr/>
        </p:nvSpPr>
        <p:spPr>
          <a:xfrm>
            <a:off x="502920" y="3017520"/>
            <a:ext cx="1463040" cy="914400"/>
          </a:xfrm>
          <a:prstGeom prst="roundRect">
            <a:avLst/>
          </a:prstGeom>
          <a:solidFill>
            <a:srgbClr val="FFF0B3"/>
          </a:solidFill>
          <a:ln w="9525">
            <a:solidFill>
              <a:srgbClr val="E0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Outputs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Calibrated probability, early-DR flag, per-source metrics with 95% CI</a:t>
            </a:r>
          </a:p>
        </p:txBody>
      </p:sp>
      <p:sp>
        <p:nvSpPr>
          <p:cNvPr id="124" name="Banner"/>
          <p:cNvSpPr/>
          <p:nvPr/>
        </p:nvSpPr>
        <p:spPr>
          <a:xfrm>
            <a:off x="502920" y="4133087"/>
            <a:ext cx="8211312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Test sets opened once: DDR + held-out EyePACS, then APTOS last. Grad-CAM with a randomised-weights check.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Extensions and Sanity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Single-seed runs on DDR, scored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18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Early vs late (stage 2)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AUROC 0.951 at the best epoch: early and late DR separate well on DDR.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Three-class label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PR-AUC 0.974 vs 0.972 for the two-class head (arm A): no meaningful difference.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8892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Colour normalisation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0.973 vs 0.972: no gain, and 3.4 times slower to train (about 380 s per epoch).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8892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Grad-CAM sanity check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Trained vs randomised-weights maps correlate 0.12 and −0.27 in two runs: the maps depend on the model.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Test-set metrics for these runs are not analysed 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1: DDR Test Set (In-Domain)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Early DR (grades 1-2) vs No DR, mean of 3 seeds, threshold frozen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pic>
        <p:nvPicPr>
          <p:cNvPr id="201" name="Chart 1" descr="Bar charts: DDR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operating point works here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0.91, 0.94, 0.91 (target 0.90); sensitivity 0.937, 0.925, 0.937 for A, B, C.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 vs A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-0.012 (Holm p = 0.084, not significant); PR-AUC +0.007 (p = 0.002).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Caution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split is random with no patient IDs: the other eye of a patient can sit in train. Near-duplicate leakage is small (4%).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Adding EyePACS did not improve DDR sensitivity. In-domain numbers are optimistic.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2: Held-Out EyePACS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Same frozen threshold, unseen patients, all grades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Bar charts: EyePAC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C: the source shortcut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0.013: 99% of healthy EyePACS images flagged as DR. PR-AUC 0.43.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A: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Never saw EyePACS: specificity 0.39, sensitivity 0.885, PR-AUC 0.53.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B: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0.89, sensitivity 0.73, PR-AUC 0.80, AUROC 0.88.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Arm C is the source shortcut, measured directly.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3: APTOS External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Never used for training or selection; 3,662 images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pic>
        <p:nvPicPr>
          <p:cNvPr id="201" name="Chart 1" descr="Bar charts: APTO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Ranking is excellent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0.994 to 0.995 for all arms, even grade 1 vs No DR (0.98).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near 1.0 comes with specificity 0.46 (A), 0.83 (B), 0.24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Label tied to capture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alone predicts APTOS early DR (AUROC 0.96): not clean evidence of robustness.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AUROC for APTOS. Do not quote its sensitivity.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Grade by Grade: Grade 1 Is the Hard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against No DR, per grade and per source (post-hoc analysis)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pic>
        <p:nvPicPr>
          <p:cNvPr id="201" name="Chart 1" descr="Bar charts: AUROC for grade 1 and grade 2 against No DR per source and arm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2 is easy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0.98 to 0.999 on DDR and APTOS for every arm.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1 is harder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EyePACS grade 1 vs No DR: 0.61 (A), 0.77 (B), 0.63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Why it matters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"Early DR" in DDR is mostly grade 2, which flatters the headline numbers.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grade 1 on its own: it is the earliest disease.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1: Duplicate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Hash-matched candidates across train, validation, test and APTOS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13</a:t>
            </a:r>
          </a:p>
        </p:txBody>
      </p:sp>
      <p:pic>
        <p:nvPicPr>
          <p:cNvPr id="201" name="Chart 1" descr="Candidate duplicate pairs, labelled with dataset, split and grade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6812280" y="1261872"/>
            <a:ext cx="192024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02920" y="1261872"/>
            <a:ext cx="61264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834 candidate groups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Only 480 share the same grade; the rest are mostly hash collisions.</a:t>
            </a:r>
          </a:p>
        </p:txBody>
      </p:sp>
      <p:sp>
        <p:nvSpPr>
          <p:cNvPr id="203" name="Card 2"/>
          <p:cNvSpPr/>
          <p:nvPr/>
        </p:nvSpPr>
        <p:spPr>
          <a:xfrm>
            <a:off x="502920" y="2286000"/>
            <a:ext cx="61264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Metrics barely move without them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sensitivity 0.937 to 0.936; EyePACS and APTOS unchanged.</a:t>
            </a:r>
          </a:p>
        </p:txBody>
      </p:sp>
      <p:sp>
        <p:nvSpPr>
          <p:cNvPr id="204" name="Card 3"/>
          <p:cNvSpPr/>
          <p:nvPr/>
        </p:nvSpPr>
        <p:spPr>
          <a:xfrm>
            <a:off x="502920" y="3310128"/>
            <a:ext cx="61264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see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same patient photographed twice: patient-level leakage in the random DDR split is untested.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Exact duplicates do not explain the high scores.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3: A Group-Aware DDR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Near-duplicate images kept together; arms retrained (one seed) and evaluated once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14</a:t>
            </a:r>
          </a:p>
        </p:txBody>
      </p:sp>
      <p:pic>
        <p:nvPicPr>
          <p:cNvPr id="201" name="Chart 1" descr="Bar charts: near-duplicate leakage per split and validation PR-AUC on the random and group split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Leakage was small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4.2% of test images had a near-duplicate in train under the random split; 0% under the group split.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Test results changed little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APTOS AUROC down 0.002 to 0.008; DDR grade-1 sensitivity moved both ways. Arm C EyePACS 0.75 to 0.71 is seed noise.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fix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Fellow eyes of one patient (similarity 0.92 to 0.96) stay on both sides. APTOS specificity fell 0.04 to 0.08 at the old threshold.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Near-duplicate leakage does not explain the high DDR scores.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2: Which Image Properties Predict the Label?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for early DR vs No DR from image properties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15</a:t>
            </a:r>
          </a:p>
        </p:txBody>
      </p:sp>
      <p:pic>
        <p:nvPicPr>
          <p:cNvPr id="201" name="Chart 1" descr="Bar charts: AUROC from image size, file size, colour, sharpness and all properties for four train and test pair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029200" cy="2999232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DDR: size alone 0.58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barely predicts early DR. Colour (0.74) and file size (0.73) do: likely lesion content, not camera.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APTOS: size alone 0.96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Within APTOS, image size almost fully predicts the label: a real camera or hospital confound.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EyePACS: 0.50 to 0.59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No property predicts the label: the cleanest benchmark.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Orange = image size. APTOS is camera-confounded; EyePACS is clean; DDR is mixed.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16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Why Strong Augmentation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Diagnosed with the saved models and a short retrain (train and validation only)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17</a:t>
            </a:r>
          </a:p>
        </p:txBody>
      </p:sp>
      <p:pic>
        <p:nvPicPr>
          <p:cNvPr id="201" name="Chart 1" descr="Bar charts: strong-augmentation model scores and short retrain score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images are fine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Rotations and crops only: no blank or non-finite images.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BatchNorm mismatch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strong-all model scores 0.58 normally but 0.96 once BatchNorm is re-estimated.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Confirmed by rerunning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 trains fine (0.977). Colour/blur/noise breaks it. On minority classes only it drops to 0.834: a label cue.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Geometric-only on all classes fixes it, and gives the best raw calibration (T 1.65 vs 2.39).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20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