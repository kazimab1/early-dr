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7" r:id="rId1"/>
  </p:sldMasterIdLst>
  <p:notesMasterIdLst>
    <p:notesMasterId r:id="rId12"/>
  </p:notesMasterIdLst>
  <p:handoutMasterIdLst>
    <p:handoutMasterId r:id="rId13"/>
  </p:handoutMasterIdLst>
  <p:sldIdLst>
    <p:sldId id="256" r:id="rId2"/>
    <p:sldId id="258" r:id="rId3"/>
    <p:sldId id="303" r:id="rId29"/>
    <p:sldId id="304" r:id="rId30"/>
    <p:sldId id="308" r:id="rId34"/>
    <p:sldId id="309" r:id="rId35"/>
    <p:sldId id="305" r:id="rId31"/>
    <p:sldId id="288" r:id="rId7"/>
    <p:sldId id="312" r:id="rId38"/>
    <p:sldId id="310" r:id="rId36"/>
    <p:sldId id="311" r:id="rId37"/>
    <p:sldId id="265" r:id="rId10"/>
    <p:sldId id="267" r:id="rId11"/>
  </p:sldIdLst>
  <p:sldSz cx="9144000" cy="5143500" type="screen16x9"/>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119" d="100"/>
          <a:sy n="119" d="100"/>
        </p:scale>
        <p:origin x="446" y="9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7" Type="http://schemas.openxmlformats.org/officeDocument/2006/relationships/slide" Target="slides/slide8.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7.xml"/><Relationship Id="rId34" Type="http://schemas.openxmlformats.org/officeDocument/2006/relationships/slide" Target="slides/slide5.xml"/><Relationship Id="rId35" Type="http://schemas.openxmlformats.org/officeDocument/2006/relationships/slide" Target="slides/slide6.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B312860-1975-8061-2CE3-B8E45943A683}"/>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CFCB5A-3658-0982-E0B8-69C71A92D52F}"/>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DF0A7F9D-9802-4ED6-BF56-25C5E2F82295}" type="datetimeFigureOut">
              <a:rPr lang="en-US" smtClean="0"/>
              <a:t>7/22/2026</a:t>
            </a:fld>
            <a:endParaRPr lang="en-US"/>
          </a:p>
        </p:txBody>
      </p:sp>
      <p:sp>
        <p:nvSpPr>
          <p:cNvPr id="4" name="Footer Placeholder 3">
            <a:extLst>
              <a:ext uri="{FF2B5EF4-FFF2-40B4-BE49-F238E27FC236}">
                <a16:creationId xmlns:a16="http://schemas.microsoft.com/office/drawing/2014/main" id="{55939F0A-E2E7-21E1-8E46-E4DB86F5B260}"/>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7AE522C-0746-6130-9787-88A42369E183}"/>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3D1515B6-B6AE-41D6-8F0F-4DD928EAAC26}" type="slidenum">
              <a:rPr lang="en-US" smtClean="0"/>
              <a:t>‹#›</a:t>
            </a:fld>
            <a:endParaRPr lang="en-US"/>
          </a:p>
        </p:txBody>
      </p:sp>
    </p:spTree>
    <p:extLst>
      <p:ext uri="{BB962C8B-B14F-4D97-AF65-F5344CB8AC3E}">
        <p14:creationId xmlns:p14="http://schemas.microsoft.com/office/powerpoint/2010/main" val="407830834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4091"/>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4091"/>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409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[0:08] Hi, my project is early detection of diabetic retinopathy from retinal photographs.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2: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[0:03] Thank you for listening.</a:t>
            </a:r>
          </a:p>
        </p:txBody>
      </p:sp>
      <p:sp>
        <p:nvSpPr>
          <p:cNvPr id="269" name="Google Shape;269;p22: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[0:22] Let me start with why I chose this. The number of adults living with diabetes grew from 151 million in 2000 to 589 million in 2024. Each of them needs regular retinal screening, so the number of fundus images to grade keeps growing.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The screening pathway breaks down before an image is graded. About 60 percent of patients do not get an annual eye exam, grading takes specialist time, and early disease has no symptoms, so late detection lets preventable vision loss progress.</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So the goal is a triage aid for the ophthalmologist, not a replacement. The model reads a fundus image and gives a calibrated probability of early disease, grades 1 and 2, at a fixed specificity, so high-risk images are seen first.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[0:35] My research question is: does merging datasets help early detection, or does the model only learn which dataset an image came from? RQ1: does adding EyePACS to DDR improve sensitivity at a fixed specificity on sources the model has not seen? RQ2: do calibrated probabilities and a frozen threshold still hold on unseen data?</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This work builds on a few key pieces. Gulshan and colleagues showed deep learning for referable DR. DDR, EyePACS and APTOS are my data sources, and temperature scaling gives calibrated outputs. What I still need to do is a literature search for early-DR and merged-data studies.</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[0:35] How is this different? The common target is referable DR; mine is early DR at a fixed specificity. I test the merge instead of assuming it helps, I compare imbalance methods one at a time with a control, I test on held-out patients and an external set, and I report calibrated probabilities. It is not a new network: the value is the design and the evidence.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The method has three arms with everything else the same. A is DDR only, B is DDR plus EyePACS source-balanced, and C is an earlier merge kept as a negative control. I also test a weighted sampler, class-balanced and focal loss, and augmentation, one at a time.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The model is simple. A fundus image is cropped and resized, passed through an EfficientNet-B0, then calibrated with temperature scaling and a prior-shift correction. The output is a probability of early disease and a flag at a fixed specificity of 0.90, all set on validation data only.</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For data I use DDR, EyePACS split by patient, and APTOS as an external test only. The splits are frozen files, the model is EfficientNet-B0 at 512 pixels with three seeds on a Kaggle GPU, and test sets are opened only through a declared analysis.</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Next steps: train the three arms with several seeds, compare the imbalance methods one at a time, test on held-out EyePACS patients and APTOS with confidence intervals, calibrate and report sensitivity at a fixed specificity, and finish the literature search and thesis.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[0:03] These are my references.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136195" y="2318983"/>
            <a:ext cx="5654749" cy="55238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136195" y="2894946"/>
            <a:ext cx="565474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8" name="Google Shape;18;p2"/>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9" name="Google Shape;19;p2" descr="A close up of a logo  Description automatically generated"/>
          <p:cNvPicPr preferRelativeResize="0"/>
          <p:nvPr/>
        </p:nvPicPr>
        <p:blipFill rotWithShape="1">
          <a:blip r:embed="rId2">
            <a:alphaModFix/>
          </a:blip>
          <a:srcRect/>
          <a:stretch/>
        </p:blipFill>
        <p:spPr>
          <a:xfrm>
            <a:off x="0" y="0"/>
            <a:ext cx="9144000" cy="1262063"/>
          </a:xfrm>
          <a:prstGeom prst="rect">
            <a:avLst/>
          </a:prstGeom>
          <a:noFill/>
          <a:ln>
            <a:noFill/>
          </a:ln>
        </p:spPr>
      </p:pic>
      <p:pic>
        <p:nvPicPr>
          <p:cNvPr id="20" name="Google Shape;20;p2"/>
          <p:cNvPicPr preferRelativeResize="0"/>
          <p:nvPr/>
        </p:nvPicPr>
        <p:blipFill rotWithShape="1">
          <a:blip r:embed="rId3">
            <a:alphaModFix/>
          </a:blip>
          <a:srcRect b="6847"/>
          <a:stretch/>
        </p:blipFill>
        <p:spPr>
          <a:xfrm>
            <a:off x="299504" y="184149"/>
            <a:ext cx="1819687" cy="1937259"/>
          </a:xfrm>
          <a:prstGeom prst="rect">
            <a:avLst/>
          </a:prstGeom>
          <a:noFill/>
          <a:ln>
            <a:noFill/>
          </a:ln>
        </p:spPr>
      </p:pic>
      <p:pic>
        <p:nvPicPr>
          <p:cNvPr id="21" name="Google Shape;21;p2" descr="A close up of a logo  Description automatically generated"/>
          <p:cNvPicPr preferRelativeResize="0"/>
          <p:nvPr/>
        </p:nvPicPr>
        <p:blipFill rotWithShape="1">
          <a:blip r:embed="rId4">
            <a:alphaModFix/>
          </a:blip>
          <a:srcRect/>
          <a:stretch/>
        </p:blipFill>
        <p:spPr>
          <a:xfrm>
            <a:off x="2096677" y="934104"/>
            <a:ext cx="6928451" cy="538523"/>
          </a:xfrm>
          <a:prstGeom prst="rect">
            <a:avLst/>
          </a:prstGeom>
          <a:noFill/>
          <a:ln>
            <a:noFill/>
          </a:ln>
        </p:spPr>
      </p:pic>
      <p:pic>
        <p:nvPicPr>
          <p:cNvPr id="22" name="Google Shape;22;p2"/>
          <p:cNvPicPr preferRelativeResize="0"/>
          <p:nvPr/>
        </p:nvPicPr>
        <p:blipFill rotWithShape="1">
          <a:blip r:embed="rId5">
            <a:alphaModFix amt="12000"/>
          </a:blip>
          <a:srcRect l="4751" t="1941" r="-4750" b="51083"/>
          <a:stretch/>
        </p:blipFill>
        <p:spPr>
          <a:xfrm>
            <a:off x="6864096" y="1829521"/>
            <a:ext cx="1924301" cy="331397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536408" y="1177748"/>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pic>
        <p:nvPicPr>
          <p:cNvPr id="26" name="Google Shape;26;p3"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27" name="Google Shape;27;p3"/>
          <p:cNvGrpSpPr/>
          <p:nvPr/>
        </p:nvGrpSpPr>
        <p:grpSpPr>
          <a:xfrm>
            <a:off x="182346" y="104249"/>
            <a:ext cx="570006" cy="4473696"/>
            <a:chOff x="182346" y="104249"/>
            <a:chExt cx="570006" cy="4473696"/>
          </a:xfrm>
        </p:grpSpPr>
        <p:pic>
          <p:nvPicPr>
            <p:cNvPr id="28" name="Google Shape;28;p3"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29" name="Google Shape;29;p3"/>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Section Header" type="secHead">
  <p:cSld name="SECTION_HEADER">
    <p:spTree>
      <p:nvGrpSpPr>
        <p:cNvPr id="1" name="Shape 30"/>
        <p:cNvGrpSpPr/>
        <p:nvPr/>
      </p:nvGrpSpPr>
      <p:grpSpPr>
        <a:xfrm>
          <a:off x="0" y="0"/>
          <a:ext cx="0" cy="0"/>
          <a:chOff x="0" y="0"/>
          <a:chExt cx="0" cy="0"/>
        </a:xfrm>
      </p:grpSpPr>
      <p:pic>
        <p:nvPicPr>
          <p:cNvPr id="31" name="Google Shape;31;p4" descr="A large white building  Description automatically generated"/>
          <p:cNvPicPr preferRelativeResize="0"/>
          <p:nvPr/>
        </p:nvPicPr>
        <p:blipFill rotWithShape="1">
          <a:blip r:embed="rId2">
            <a:alphaModFix/>
          </a:blip>
          <a:srcRect l="2193" t="294" r="2531" b="-293"/>
          <a:stretch/>
        </p:blipFill>
        <p:spPr>
          <a:xfrm>
            <a:off x="1793311" y="0"/>
            <a:ext cx="7350689" cy="5143500"/>
          </a:xfrm>
          <a:prstGeom prst="rect">
            <a:avLst/>
          </a:prstGeom>
          <a:noFill/>
          <a:ln>
            <a:noFill/>
          </a:ln>
        </p:spPr>
      </p:pic>
      <p:grpSp>
        <p:nvGrpSpPr>
          <p:cNvPr id="32" name="Google Shape;32;p4"/>
          <p:cNvGrpSpPr/>
          <p:nvPr/>
        </p:nvGrpSpPr>
        <p:grpSpPr>
          <a:xfrm>
            <a:off x="439200" y="0"/>
            <a:ext cx="6377354" cy="5154356"/>
            <a:chOff x="0" y="-1"/>
            <a:chExt cx="6377354" cy="5150732"/>
          </a:xfrm>
        </p:grpSpPr>
        <p:sp>
          <p:nvSpPr>
            <p:cNvPr id="33" name="Google Shape;33;p4"/>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 name="Google Shape;34;p4"/>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35" name="Google Shape;35;p4"/>
          <p:cNvGrpSpPr/>
          <p:nvPr/>
        </p:nvGrpSpPr>
        <p:grpSpPr>
          <a:xfrm>
            <a:off x="-80647" y="-2"/>
            <a:ext cx="6377354" cy="5156081"/>
            <a:chOff x="0" y="-1"/>
            <a:chExt cx="6377354" cy="5150732"/>
          </a:xfrm>
        </p:grpSpPr>
        <p:sp>
          <p:nvSpPr>
            <p:cNvPr id="36" name="Google Shape;36;p4"/>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 name="Google Shape;37;p4"/>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38" name="Google Shape;38;p4"/>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9" name="Google Shape;39;p4"/>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41" name="Google Shape;41;p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42"/>
        <p:cNvGrpSpPr/>
        <p:nvPr/>
      </p:nvGrpSpPr>
      <p:grpSpPr>
        <a:xfrm>
          <a:off x="0" y="0"/>
          <a:ext cx="0" cy="0"/>
          <a:chOff x="0" y="0"/>
          <a:chExt cx="0" cy="0"/>
        </a:xfrm>
      </p:grpSpPr>
      <p:sp>
        <p:nvSpPr>
          <p:cNvPr id="43" name="Google Shape;43;p5"/>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44" name="Google Shape;44;p5" descr="A large white building  Description automatically generated"/>
          <p:cNvPicPr preferRelativeResize="0"/>
          <p:nvPr/>
        </p:nvPicPr>
        <p:blipFill rotWithShape="1">
          <a:blip r:embed="rId2">
            <a:alphaModFix/>
          </a:blip>
          <a:srcRect/>
          <a:stretch/>
        </p:blipFill>
        <p:spPr>
          <a:xfrm>
            <a:off x="4976603" y="556528"/>
            <a:ext cx="4167397" cy="4586971"/>
          </a:xfrm>
          <a:prstGeom prst="rect">
            <a:avLst/>
          </a:prstGeom>
          <a:noFill/>
          <a:ln>
            <a:noFill/>
          </a:ln>
          <a:effectLst>
            <a:outerShdw algn="ctr" rotWithShape="0">
              <a:srgbClr val="000000">
                <a:alpha val="42352"/>
              </a:srgbClr>
            </a:outerShdw>
          </a:effectLst>
        </p:spPr>
      </p:pic>
      <p:sp>
        <p:nvSpPr>
          <p:cNvPr id="45" name="Google Shape;45;p5"/>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46" name="Google Shape;46;p5"/>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47" name="Google Shape;47;p5"/>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48" name="Google Shape;48;p5" descr="A close up of a logo  Description automatically generated"/>
          <p:cNvPicPr preferRelativeResize="0"/>
          <p:nvPr/>
        </p:nvPicPr>
        <p:blipFill rotWithShape="1">
          <a:blip r:embed="rId4">
            <a:alphaModFix/>
          </a:blip>
          <a:srcRect b="19853"/>
          <a:stretch/>
        </p:blipFill>
        <p:spPr>
          <a:xfrm>
            <a:off x="4840586" y="2791962"/>
            <a:ext cx="818534" cy="2200843"/>
          </a:xfrm>
          <a:prstGeom prst="rect">
            <a:avLst/>
          </a:prstGeom>
          <a:noFill/>
          <a:ln>
            <a:noFill/>
          </a:ln>
        </p:spPr>
      </p:pic>
      <p:pic>
        <p:nvPicPr>
          <p:cNvPr id="49" name="Google Shape;49;p5" descr="A picture containing baseball  Description automatically generated"/>
          <p:cNvPicPr preferRelativeResize="0"/>
          <p:nvPr/>
        </p:nvPicPr>
        <p:blipFill rotWithShape="1">
          <a:blip r:embed="rId5">
            <a:alphaModFix/>
          </a:blip>
          <a:srcRect/>
          <a:stretch/>
        </p:blipFill>
        <p:spPr>
          <a:xfrm>
            <a:off x="6606209" y="1407073"/>
            <a:ext cx="1332108" cy="877805"/>
          </a:xfrm>
          <a:prstGeom prst="rect">
            <a:avLst/>
          </a:prstGeom>
          <a:noFill/>
          <a:ln>
            <a:noFill/>
          </a:ln>
        </p:spPr>
      </p:pic>
      <p:sp>
        <p:nvSpPr>
          <p:cNvPr id="50" name="Google Shape;50;p5"/>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Title Slide">
  <p:cSld name="5_Title Slide">
    <p:spTree>
      <p:nvGrpSpPr>
        <p:cNvPr id="1" name="Shape 51"/>
        <p:cNvGrpSpPr/>
        <p:nvPr/>
      </p:nvGrpSpPr>
      <p:grpSpPr>
        <a:xfrm>
          <a:off x="0" y="0"/>
          <a:ext cx="0" cy="0"/>
          <a:chOff x="0" y="0"/>
          <a:chExt cx="0" cy="0"/>
        </a:xfrm>
      </p:grpSpPr>
      <p:sp>
        <p:nvSpPr>
          <p:cNvPr id="52" name="Google Shape;52;p6"/>
          <p:cNvSpPr/>
          <p:nvPr/>
        </p:nvSpPr>
        <p:spPr>
          <a:xfrm>
            <a:off x="5332353" y="9004"/>
            <a:ext cx="3788497"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3" name="Google Shape;53;p6" descr="A large white building  Description automatically generated"/>
          <p:cNvPicPr preferRelativeResize="0"/>
          <p:nvPr/>
        </p:nvPicPr>
        <p:blipFill rotWithShape="1">
          <a:blip r:embed="rId2">
            <a:alphaModFix/>
          </a:blip>
          <a:srcRect r="16118"/>
          <a:stretch/>
        </p:blipFill>
        <p:spPr>
          <a:xfrm>
            <a:off x="5625197" y="556528"/>
            <a:ext cx="3495654" cy="4586971"/>
          </a:xfrm>
          <a:prstGeom prst="rect">
            <a:avLst/>
          </a:prstGeom>
          <a:noFill/>
          <a:ln>
            <a:noFill/>
          </a:ln>
          <a:effectLst>
            <a:outerShdw algn="ctr" rotWithShape="0">
              <a:srgbClr val="000000">
                <a:alpha val="42352"/>
              </a:srgbClr>
            </a:outerShdw>
          </a:effectLst>
        </p:spPr>
      </p:pic>
      <p:sp>
        <p:nvSpPr>
          <p:cNvPr id="54" name="Google Shape;54;p6"/>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6"/>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56" name="Google Shape;56;p6"/>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57" name="Google Shape;57;p6" descr="A close up of a logo  Description automatically generated"/>
          <p:cNvPicPr preferRelativeResize="0"/>
          <p:nvPr/>
        </p:nvPicPr>
        <p:blipFill rotWithShape="1">
          <a:blip r:embed="rId4">
            <a:alphaModFix/>
          </a:blip>
          <a:srcRect b="19853"/>
          <a:stretch/>
        </p:blipFill>
        <p:spPr>
          <a:xfrm>
            <a:off x="5489179" y="2791962"/>
            <a:ext cx="818534" cy="2200843"/>
          </a:xfrm>
          <a:prstGeom prst="rect">
            <a:avLst/>
          </a:prstGeom>
          <a:noFill/>
          <a:ln>
            <a:noFill/>
          </a:ln>
        </p:spPr>
      </p:pic>
      <p:pic>
        <p:nvPicPr>
          <p:cNvPr id="58" name="Google Shape;58;p6" descr="A picture containing baseball  Description automatically generated"/>
          <p:cNvPicPr preferRelativeResize="0"/>
          <p:nvPr/>
        </p:nvPicPr>
        <p:blipFill rotWithShape="1">
          <a:blip r:embed="rId5">
            <a:alphaModFix/>
          </a:blip>
          <a:srcRect/>
          <a:stretch/>
        </p:blipFill>
        <p:spPr>
          <a:xfrm>
            <a:off x="7254802" y="1407073"/>
            <a:ext cx="1332108" cy="877805"/>
          </a:xfrm>
          <a:prstGeom prst="rect">
            <a:avLst/>
          </a:prstGeom>
          <a:noFill/>
          <a:ln>
            <a:noFill/>
          </a:ln>
        </p:spPr>
      </p:pic>
      <p:sp>
        <p:nvSpPr>
          <p:cNvPr id="59" name="Google Shape;59;p6"/>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_Title Slide">
  <p:cSld name="3_Title Slide">
    <p:spTree>
      <p:nvGrpSpPr>
        <p:cNvPr id="1" name="Shape 60"/>
        <p:cNvGrpSpPr/>
        <p:nvPr/>
      </p:nvGrpSpPr>
      <p:grpSpPr>
        <a:xfrm>
          <a:off x="0" y="0"/>
          <a:ext cx="0" cy="0"/>
          <a:chOff x="0" y="0"/>
          <a:chExt cx="0" cy="0"/>
        </a:xfrm>
      </p:grpSpPr>
      <p:sp>
        <p:nvSpPr>
          <p:cNvPr id="61" name="Google Shape;61;p7"/>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7"/>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7"/>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64" name="Google Shape;64;p7"/>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65" name="Google Shape;65;p7" descr="A tree lined street  Description automatically generated"/>
          <p:cNvPicPr preferRelativeResize="0"/>
          <p:nvPr/>
        </p:nvPicPr>
        <p:blipFill rotWithShape="1">
          <a:blip r:embed="rId2">
            <a:alphaModFix/>
          </a:blip>
          <a:srcRect/>
          <a:stretch/>
        </p:blipFill>
        <p:spPr>
          <a:xfrm>
            <a:off x="4683760" y="702216"/>
            <a:ext cx="3865880" cy="4450287"/>
          </a:xfrm>
          <a:prstGeom prst="rect">
            <a:avLst/>
          </a:prstGeom>
          <a:noFill/>
          <a:ln>
            <a:noFill/>
          </a:ln>
        </p:spPr>
      </p:pic>
      <p:sp>
        <p:nvSpPr>
          <p:cNvPr id="66" name="Google Shape;66;p7"/>
          <p:cNvSpPr/>
          <p:nvPr/>
        </p:nvSpPr>
        <p:spPr>
          <a:xfrm flipH="1">
            <a:off x="4683073" y="720320"/>
            <a:ext cx="19949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67" name="Google Shape;67;p7"/>
          <p:cNvPicPr preferRelativeResize="0"/>
          <p:nvPr/>
        </p:nvPicPr>
        <p:blipFill rotWithShape="1">
          <a:blip r:embed="rId3">
            <a:alphaModFix/>
          </a:blip>
          <a:srcRect b="6847"/>
          <a:stretch/>
        </p:blipFill>
        <p:spPr>
          <a:xfrm>
            <a:off x="7736668" y="9004"/>
            <a:ext cx="1407332" cy="1498261"/>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Section Header">
  <p:cSld name="5_Section Header">
    <p:spTree>
      <p:nvGrpSpPr>
        <p:cNvPr id="1" name="Shape 68"/>
        <p:cNvGrpSpPr/>
        <p:nvPr/>
      </p:nvGrpSpPr>
      <p:grpSpPr>
        <a:xfrm>
          <a:off x="0" y="0"/>
          <a:ext cx="0" cy="0"/>
          <a:chOff x="0" y="0"/>
          <a:chExt cx="0" cy="0"/>
        </a:xfrm>
      </p:grpSpPr>
      <p:pic>
        <p:nvPicPr>
          <p:cNvPr id="69" name="Google Shape;69;p8" descr="A tree lined street  Description automatically generated"/>
          <p:cNvPicPr preferRelativeResize="0"/>
          <p:nvPr/>
        </p:nvPicPr>
        <p:blipFill rotWithShape="1">
          <a:blip r:embed="rId2">
            <a:alphaModFix/>
          </a:blip>
          <a:srcRect/>
          <a:stretch/>
        </p:blipFill>
        <p:spPr>
          <a:xfrm>
            <a:off x="34836" y="0"/>
            <a:ext cx="4536037" cy="5143500"/>
          </a:xfrm>
          <a:prstGeom prst="rect">
            <a:avLst/>
          </a:prstGeom>
          <a:noFill/>
          <a:ln>
            <a:noFill/>
          </a:ln>
        </p:spPr>
      </p:pic>
      <p:sp>
        <p:nvSpPr>
          <p:cNvPr id="70" name="Google Shape;70;p8"/>
          <p:cNvSpPr txBox="1">
            <a:spLocks noGrp="1"/>
          </p:cNvSpPr>
          <p:nvPr>
            <p:ph type="title"/>
          </p:nvPr>
        </p:nvSpPr>
        <p:spPr>
          <a:xfrm>
            <a:off x="4791393"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8"/>
          <p:cNvSpPr txBox="1">
            <a:spLocks noGrp="1"/>
          </p:cNvSpPr>
          <p:nvPr>
            <p:ph type="body" idx="1"/>
          </p:nvPr>
        </p:nvSpPr>
        <p:spPr>
          <a:xfrm>
            <a:off x="4791393"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72" name="Google Shape;72;p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3" name="Google Shape;73;p8"/>
          <p:cNvSpPr/>
          <p:nvPr/>
        </p:nvSpPr>
        <p:spPr>
          <a:xfrm>
            <a:off x="4427668" y="729324"/>
            <a:ext cx="14320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_Title Slide">
  <p:cSld name="4_Title Slide">
    <p:spTree>
      <p:nvGrpSpPr>
        <p:cNvPr id="1" name="Shape 74"/>
        <p:cNvGrpSpPr/>
        <p:nvPr/>
      </p:nvGrpSpPr>
      <p:grpSpPr>
        <a:xfrm>
          <a:off x="0" y="0"/>
          <a:ext cx="0" cy="0"/>
          <a:chOff x="0" y="0"/>
          <a:chExt cx="0" cy="0"/>
        </a:xfrm>
      </p:grpSpPr>
      <p:sp>
        <p:nvSpPr>
          <p:cNvPr id="75" name="Google Shape;75;p9"/>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76" name="Google Shape;76;p9" descr="A group of palm trees on the side of a building  Description automatically generated"/>
          <p:cNvPicPr preferRelativeResize="0"/>
          <p:nvPr/>
        </p:nvPicPr>
        <p:blipFill rotWithShape="1">
          <a:blip r:embed="rId2">
            <a:alphaModFix/>
          </a:blip>
          <a:srcRect t="-186"/>
          <a:stretch/>
        </p:blipFill>
        <p:spPr>
          <a:xfrm>
            <a:off x="4677507" y="914401"/>
            <a:ext cx="4466494" cy="4229100"/>
          </a:xfrm>
          <a:prstGeom prst="rect">
            <a:avLst/>
          </a:prstGeom>
          <a:noFill/>
          <a:ln>
            <a:noFill/>
          </a:ln>
        </p:spPr>
      </p:pic>
      <p:sp>
        <p:nvSpPr>
          <p:cNvPr id="77" name="Google Shape;77;p9"/>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8" name="Google Shape;78;p9"/>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79" name="Google Shape;79;p9" descr="A close up of a logo  Description automatically generated"/>
          <p:cNvPicPr preferRelativeResize="0"/>
          <p:nvPr/>
        </p:nvPicPr>
        <p:blipFill rotWithShape="1">
          <a:blip r:embed="rId3">
            <a:alphaModFix/>
          </a:blip>
          <a:srcRect b="19853"/>
          <a:stretch/>
        </p:blipFill>
        <p:spPr>
          <a:xfrm rot="-8851503">
            <a:off x="5255191" y="465522"/>
            <a:ext cx="930293" cy="2422736"/>
          </a:xfrm>
          <a:prstGeom prst="rect">
            <a:avLst/>
          </a:prstGeom>
          <a:noFill/>
          <a:ln>
            <a:noFill/>
          </a:ln>
        </p:spPr>
      </p:pic>
      <p:sp>
        <p:nvSpPr>
          <p:cNvPr id="80" name="Google Shape;80;p9"/>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9"/>
          <p:cNvSpPr/>
          <p:nvPr/>
        </p:nvSpPr>
        <p:spPr>
          <a:xfrm>
            <a:off x="4677505" y="0"/>
            <a:ext cx="4466495" cy="914400"/>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2" name="Google Shape;82;p9"/>
          <p:cNvPicPr preferRelativeResize="0"/>
          <p:nvPr/>
        </p:nvPicPr>
        <p:blipFill rotWithShape="1">
          <a:blip r:embed="rId4">
            <a:alphaModFix/>
          </a:blip>
          <a:srcRect b="6847"/>
          <a:stretch/>
        </p:blipFill>
        <p:spPr>
          <a:xfrm>
            <a:off x="7713518" y="2762"/>
            <a:ext cx="1407332" cy="1498261"/>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3"/>
        <p:cNvGrpSpPr/>
        <p:nvPr/>
      </p:nvGrpSpPr>
      <p:grpSpPr>
        <a:xfrm>
          <a:off x="0" y="0"/>
          <a:ext cx="0" cy="0"/>
          <a:chOff x="0" y="0"/>
          <a:chExt cx="0" cy="0"/>
        </a:xfrm>
      </p:grpSpPr>
      <p:pic>
        <p:nvPicPr>
          <p:cNvPr id="84" name="Google Shape;84;p10" descr="A close up of a logo  Description automatically generated"/>
          <p:cNvPicPr preferRelativeResize="0"/>
          <p:nvPr/>
        </p:nvPicPr>
        <p:blipFill rotWithShape="1">
          <a:blip r:embed="rId2">
            <a:alphaModFix/>
          </a:blip>
          <a:srcRect/>
          <a:stretch/>
        </p:blipFill>
        <p:spPr>
          <a:xfrm>
            <a:off x="3132058" y="2670664"/>
            <a:ext cx="804339" cy="810773"/>
          </a:xfrm>
          <a:prstGeom prst="rect">
            <a:avLst/>
          </a:prstGeom>
          <a:noFill/>
          <a:ln>
            <a:noFill/>
          </a:ln>
        </p:spPr>
      </p:pic>
      <p:sp>
        <p:nvSpPr>
          <p:cNvPr id="85" name="Google Shape;85;p10"/>
          <p:cNvSpPr txBox="1">
            <a:spLocks noGrp="1"/>
          </p:cNvSpPr>
          <p:nvPr>
            <p:ph type="ctrTitle"/>
          </p:nvPr>
        </p:nvSpPr>
        <p:spPr>
          <a:xfrm>
            <a:off x="330905" y="295171"/>
            <a:ext cx="2249504" cy="5512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0"/>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87" name="Google Shape;87;p10" descr="A close up of a logo  Description automatically generated"/>
          <p:cNvPicPr preferRelativeResize="0"/>
          <p:nvPr/>
        </p:nvPicPr>
        <p:blipFill rotWithShape="1">
          <a:blip r:embed="rId2">
            <a:alphaModFix/>
          </a:blip>
          <a:srcRect/>
          <a:stretch/>
        </p:blipFill>
        <p:spPr>
          <a:xfrm>
            <a:off x="3115433" y="642359"/>
            <a:ext cx="804339" cy="810773"/>
          </a:xfrm>
          <a:prstGeom prst="rect">
            <a:avLst/>
          </a:prstGeom>
          <a:noFill/>
          <a:ln>
            <a:noFill/>
          </a:ln>
        </p:spPr>
      </p:pic>
      <p:pic>
        <p:nvPicPr>
          <p:cNvPr id="88" name="Google Shape;88;p10" descr="A close up of a logo  Description automatically generated"/>
          <p:cNvPicPr preferRelativeResize="0"/>
          <p:nvPr/>
        </p:nvPicPr>
        <p:blipFill rotWithShape="1">
          <a:blip r:embed="rId3">
            <a:alphaModFix/>
          </a:blip>
          <a:srcRect/>
          <a:stretch/>
        </p:blipFill>
        <p:spPr>
          <a:xfrm>
            <a:off x="3115433" y="1660176"/>
            <a:ext cx="804339" cy="810773"/>
          </a:xfrm>
          <a:prstGeom prst="rect">
            <a:avLst/>
          </a:prstGeom>
          <a:noFill/>
          <a:ln>
            <a:noFill/>
          </a:ln>
        </p:spPr>
      </p:pic>
      <p:sp>
        <p:nvSpPr>
          <p:cNvPr id="89" name="Google Shape;89;p10"/>
          <p:cNvSpPr txBox="1"/>
          <p:nvPr/>
        </p:nvSpPr>
        <p:spPr>
          <a:xfrm>
            <a:off x="3163311" y="665781"/>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1</a:t>
            </a:r>
            <a:endParaRPr sz="1400" b="0" i="0" u="none" strike="noStrike" cap="none">
              <a:solidFill>
                <a:srgbClr val="000000"/>
              </a:solidFill>
              <a:latin typeface="Arial"/>
              <a:ea typeface="Arial"/>
              <a:cs typeface="Arial"/>
              <a:sym typeface="Arial"/>
            </a:endParaRPr>
          </a:p>
        </p:txBody>
      </p:sp>
      <p:sp>
        <p:nvSpPr>
          <p:cNvPr id="90" name="Google Shape;90;p10"/>
          <p:cNvSpPr txBox="1"/>
          <p:nvPr/>
        </p:nvSpPr>
        <p:spPr>
          <a:xfrm>
            <a:off x="3186250" y="170068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2</a:t>
            </a:r>
            <a:endParaRPr sz="1400" b="0" i="0" u="none" strike="noStrike" cap="none">
              <a:solidFill>
                <a:srgbClr val="000000"/>
              </a:solidFill>
              <a:latin typeface="Arial"/>
              <a:ea typeface="Arial"/>
              <a:cs typeface="Arial"/>
              <a:sym typeface="Arial"/>
            </a:endParaRPr>
          </a:p>
        </p:txBody>
      </p:sp>
      <p:sp>
        <p:nvSpPr>
          <p:cNvPr id="91" name="Google Shape;91;p10"/>
          <p:cNvSpPr txBox="1"/>
          <p:nvPr/>
        </p:nvSpPr>
        <p:spPr>
          <a:xfrm>
            <a:off x="3194563" y="270652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3</a:t>
            </a:r>
            <a:endParaRPr sz="1400" b="0" i="0" u="none" strike="noStrike" cap="none">
              <a:solidFill>
                <a:srgbClr val="000000"/>
              </a:solidFill>
              <a:latin typeface="Arial"/>
              <a:ea typeface="Arial"/>
              <a:cs typeface="Arial"/>
              <a:sym typeface="Arial"/>
            </a:endParaRPr>
          </a:p>
        </p:txBody>
      </p:sp>
      <p:pic>
        <p:nvPicPr>
          <p:cNvPr id="92" name="Google Shape;92;p10" descr="A close up of a logo  Description automatically generated"/>
          <p:cNvPicPr preferRelativeResize="0"/>
          <p:nvPr/>
        </p:nvPicPr>
        <p:blipFill rotWithShape="1">
          <a:blip r:embed="rId3">
            <a:alphaModFix/>
          </a:blip>
          <a:srcRect/>
          <a:stretch/>
        </p:blipFill>
        <p:spPr>
          <a:xfrm>
            <a:off x="3123746" y="3663543"/>
            <a:ext cx="804339" cy="810773"/>
          </a:xfrm>
          <a:prstGeom prst="rect">
            <a:avLst/>
          </a:prstGeom>
          <a:noFill/>
          <a:ln>
            <a:noFill/>
          </a:ln>
        </p:spPr>
      </p:pic>
      <p:sp>
        <p:nvSpPr>
          <p:cNvPr id="93" name="Google Shape;93;p10"/>
          <p:cNvSpPr txBox="1"/>
          <p:nvPr/>
        </p:nvSpPr>
        <p:spPr>
          <a:xfrm>
            <a:off x="3186250" y="3704055"/>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4</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4"/>
        <p:cNvGrpSpPr/>
        <p:nvPr/>
      </p:nvGrpSpPr>
      <p:grpSpPr>
        <a:xfrm>
          <a:off x="0" y="0"/>
          <a:ext cx="0" cy="0"/>
          <a:chOff x="0" y="0"/>
          <a:chExt cx="0" cy="0"/>
        </a:xfrm>
      </p:grpSpPr>
      <p:pic>
        <p:nvPicPr>
          <p:cNvPr id="95" name="Google Shape;95;p11" descr="A group of palm trees on the side of a building  Description automatically generated"/>
          <p:cNvPicPr preferRelativeResize="0"/>
          <p:nvPr/>
        </p:nvPicPr>
        <p:blipFill rotWithShape="1">
          <a:blip r:embed="rId2">
            <a:alphaModFix/>
          </a:blip>
          <a:srcRect t="-186"/>
          <a:stretch/>
        </p:blipFill>
        <p:spPr>
          <a:xfrm>
            <a:off x="-26057" y="-9562"/>
            <a:ext cx="5432223" cy="5143500"/>
          </a:xfrm>
          <a:prstGeom prst="rect">
            <a:avLst/>
          </a:prstGeom>
          <a:noFill/>
          <a:ln>
            <a:noFill/>
          </a:ln>
        </p:spPr>
      </p:pic>
      <p:grpSp>
        <p:nvGrpSpPr>
          <p:cNvPr id="96" name="Google Shape;96;p11"/>
          <p:cNvGrpSpPr/>
          <p:nvPr/>
        </p:nvGrpSpPr>
        <p:grpSpPr>
          <a:xfrm rot="10800000">
            <a:off x="2071688" y="-10886"/>
            <a:ext cx="6399490" cy="5143501"/>
            <a:chOff x="0" y="-1"/>
            <a:chExt cx="6377354" cy="5150732"/>
          </a:xfrm>
        </p:grpSpPr>
        <p:sp>
          <p:nvSpPr>
            <p:cNvPr id="97" name="Google Shape;97;p11"/>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11"/>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99" name="Google Shape;99;p11"/>
          <p:cNvGrpSpPr/>
          <p:nvPr/>
        </p:nvGrpSpPr>
        <p:grpSpPr>
          <a:xfrm rot="10800000">
            <a:off x="2589184" y="-16820"/>
            <a:ext cx="6548803" cy="5169255"/>
            <a:chOff x="-34290" y="-1"/>
            <a:chExt cx="6548804" cy="5150732"/>
          </a:xfrm>
        </p:grpSpPr>
        <p:sp>
          <p:nvSpPr>
            <p:cNvPr id="100" name="Google Shape;100;p11"/>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1" name="Google Shape;101;p11"/>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2" name="Google Shape;102;p11"/>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 name="Google Shape;103;p11"/>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11"/>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05" name="Google Shape;105;p1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_Section Header">
  <p:cSld name="3_Section Header">
    <p:spTree>
      <p:nvGrpSpPr>
        <p:cNvPr id="1" name="Shape 106"/>
        <p:cNvGrpSpPr/>
        <p:nvPr/>
      </p:nvGrpSpPr>
      <p:grpSpPr>
        <a:xfrm>
          <a:off x="0" y="0"/>
          <a:ext cx="0" cy="0"/>
          <a:chOff x="0" y="0"/>
          <a:chExt cx="0" cy="0"/>
        </a:xfrm>
      </p:grpSpPr>
      <p:pic>
        <p:nvPicPr>
          <p:cNvPr id="107" name="Google Shape;107;p12" descr="A group of people posing for the camera  Description automatically generated"/>
          <p:cNvPicPr preferRelativeResize="0"/>
          <p:nvPr/>
        </p:nvPicPr>
        <p:blipFill rotWithShape="1">
          <a:blip r:embed="rId2">
            <a:alphaModFix/>
          </a:blip>
          <a:srcRect/>
          <a:stretch/>
        </p:blipFill>
        <p:spPr>
          <a:xfrm>
            <a:off x="0" y="-9563"/>
            <a:ext cx="5387332" cy="5161997"/>
          </a:xfrm>
          <a:prstGeom prst="rect">
            <a:avLst/>
          </a:prstGeom>
          <a:noFill/>
          <a:ln>
            <a:noFill/>
          </a:ln>
        </p:spPr>
      </p:pic>
      <p:grpSp>
        <p:nvGrpSpPr>
          <p:cNvPr id="108" name="Google Shape;108;p12"/>
          <p:cNvGrpSpPr/>
          <p:nvPr/>
        </p:nvGrpSpPr>
        <p:grpSpPr>
          <a:xfrm rot="10800000">
            <a:off x="2071688" y="-10886"/>
            <a:ext cx="6399490" cy="5143501"/>
            <a:chOff x="0" y="-1"/>
            <a:chExt cx="6377354" cy="5150732"/>
          </a:xfrm>
        </p:grpSpPr>
        <p:sp>
          <p:nvSpPr>
            <p:cNvPr id="109" name="Google Shape;109;p12"/>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0" name="Google Shape;110;p12"/>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11" name="Google Shape;111;p12"/>
          <p:cNvGrpSpPr/>
          <p:nvPr/>
        </p:nvGrpSpPr>
        <p:grpSpPr>
          <a:xfrm rot="10800000">
            <a:off x="2589184" y="-16820"/>
            <a:ext cx="6548803" cy="5169255"/>
            <a:chOff x="-34290" y="-1"/>
            <a:chExt cx="6548804" cy="5150732"/>
          </a:xfrm>
        </p:grpSpPr>
        <p:sp>
          <p:nvSpPr>
            <p:cNvPr id="112" name="Google Shape;112;p12"/>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3" name="Google Shape;113;p12"/>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14" name="Google Shape;114;p12"/>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5" name="Google Shape;115;p12"/>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17" name="Google Shape;117;p12"/>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Section Header">
  <p:cSld name="4_Section Header">
    <p:spTree>
      <p:nvGrpSpPr>
        <p:cNvPr id="1" name="Shape 118"/>
        <p:cNvGrpSpPr/>
        <p:nvPr/>
      </p:nvGrpSpPr>
      <p:grpSpPr>
        <a:xfrm>
          <a:off x="0" y="0"/>
          <a:ext cx="0" cy="0"/>
          <a:chOff x="0" y="0"/>
          <a:chExt cx="0" cy="0"/>
        </a:xfrm>
      </p:grpSpPr>
      <p:pic>
        <p:nvPicPr>
          <p:cNvPr id="119" name="Google Shape;119;p13" descr="A group of people walking down a street  Description automatically generated"/>
          <p:cNvPicPr preferRelativeResize="0"/>
          <p:nvPr/>
        </p:nvPicPr>
        <p:blipFill rotWithShape="1">
          <a:blip r:embed="rId2">
            <a:alphaModFix/>
          </a:blip>
          <a:srcRect t="-162" b="-176"/>
          <a:stretch/>
        </p:blipFill>
        <p:spPr>
          <a:xfrm>
            <a:off x="3369971" y="-17293"/>
            <a:ext cx="5774029" cy="5160793"/>
          </a:xfrm>
          <a:prstGeom prst="rect">
            <a:avLst/>
          </a:prstGeom>
          <a:noFill/>
          <a:ln>
            <a:noFill/>
          </a:ln>
        </p:spPr>
      </p:pic>
      <p:grpSp>
        <p:nvGrpSpPr>
          <p:cNvPr id="120" name="Google Shape;120;p13"/>
          <p:cNvGrpSpPr/>
          <p:nvPr/>
        </p:nvGrpSpPr>
        <p:grpSpPr>
          <a:xfrm>
            <a:off x="439200" y="0"/>
            <a:ext cx="6377354" cy="5154356"/>
            <a:chOff x="0" y="-1"/>
            <a:chExt cx="6377354" cy="5150732"/>
          </a:xfrm>
        </p:grpSpPr>
        <p:sp>
          <p:nvSpPr>
            <p:cNvPr id="121" name="Google Shape;121;p13"/>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2" name="Google Shape;122;p13"/>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23" name="Google Shape;123;p13"/>
          <p:cNvGrpSpPr/>
          <p:nvPr/>
        </p:nvGrpSpPr>
        <p:grpSpPr>
          <a:xfrm>
            <a:off x="-80647" y="-2"/>
            <a:ext cx="6377354" cy="5156081"/>
            <a:chOff x="0" y="-1"/>
            <a:chExt cx="6377354" cy="5150732"/>
          </a:xfrm>
        </p:grpSpPr>
        <p:sp>
          <p:nvSpPr>
            <p:cNvPr id="124" name="Google Shape;124;p13"/>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5" name="Google Shape;125;p13"/>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6" name="Google Shape;126;p13"/>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7" name="Google Shape;127;p13"/>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3"/>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29" name="Google Shape;129;p13"/>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6_Section Header">
  <p:cSld name="6_Section Header">
    <p:spTree>
      <p:nvGrpSpPr>
        <p:cNvPr id="1" name="Shape 130"/>
        <p:cNvGrpSpPr/>
        <p:nvPr/>
      </p:nvGrpSpPr>
      <p:grpSpPr>
        <a:xfrm>
          <a:off x="0" y="0"/>
          <a:ext cx="0" cy="0"/>
          <a:chOff x="0" y="0"/>
          <a:chExt cx="0" cy="0"/>
        </a:xfrm>
      </p:grpSpPr>
      <p:pic>
        <p:nvPicPr>
          <p:cNvPr id="131" name="Google Shape;131;p14" descr="A group of people walking down a street next to a building  Description automatically generated"/>
          <p:cNvPicPr preferRelativeResize="0"/>
          <p:nvPr/>
        </p:nvPicPr>
        <p:blipFill rotWithShape="1">
          <a:blip r:embed="rId2">
            <a:alphaModFix/>
          </a:blip>
          <a:srcRect/>
          <a:stretch/>
        </p:blipFill>
        <p:spPr>
          <a:xfrm>
            <a:off x="4607449" y="0"/>
            <a:ext cx="4536551" cy="5125355"/>
          </a:xfrm>
          <a:prstGeom prst="rect">
            <a:avLst/>
          </a:prstGeom>
          <a:noFill/>
          <a:ln>
            <a:noFill/>
          </a:ln>
        </p:spPr>
      </p:pic>
      <p:sp>
        <p:nvSpPr>
          <p:cNvPr id="132" name="Google Shape;132;p14"/>
          <p:cNvSpPr txBox="1">
            <a:spLocks noGrp="1"/>
          </p:cNvSpPr>
          <p:nvPr>
            <p:ph type="title"/>
          </p:nvPr>
        </p:nvSpPr>
        <p:spPr>
          <a:xfrm>
            <a:off x="512001"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4"/>
          <p:cNvSpPr txBox="1">
            <a:spLocks noGrp="1"/>
          </p:cNvSpPr>
          <p:nvPr>
            <p:ph type="body" idx="1"/>
          </p:nvPr>
        </p:nvSpPr>
        <p:spPr>
          <a:xfrm>
            <a:off x="512001"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34" name="Google Shape;134;p1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5" name="Google Shape;135;p14"/>
          <p:cNvSpPr/>
          <p:nvPr/>
        </p:nvSpPr>
        <p:spPr>
          <a:xfrm flipH="1">
            <a:off x="4607449" y="729324"/>
            <a:ext cx="147431"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Header Only">
  <p:cSld name="Header Only">
    <p:spTree>
      <p:nvGrpSpPr>
        <p:cNvPr id="1" name="Shape 136"/>
        <p:cNvGrpSpPr/>
        <p:nvPr/>
      </p:nvGrpSpPr>
      <p:grpSpPr>
        <a:xfrm>
          <a:off x="0" y="0"/>
          <a:ext cx="0" cy="0"/>
          <a:chOff x="0" y="0"/>
          <a:chExt cx="0" cy="0"/>
        </a:xfrm>
      </p:grpSpPr>
      <p:sp>
        <p:nvSpPr>
          <p:cNvPr id="137" name="Google Shape;137;p15"/>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8" name="Google Shape;138;p15"/>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39" name="Google Shape;139;p15"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40" name="Google Shape;140;p15"/>
          <p:cNvGrpSpPr/>
          <p:nvPr/>
        </p:nvGrpSpPr>
        <p:grpSpPr>
          <a:xfrm>
            <a:off x="182346" y="104249"/>
            <a:ext cx="570006" cy="4473696"/>
            <a:chOff x="182346" y="104249"/>
            <a:chExt cx="570006" cy="4473696"/>
          </a:xfrm>
        </p:grpSpPr>
        <p:pic>
          <p:nvPicPr>
            <p:cNvPr id="141" name="Google Shape;141;p15"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42" name="Google Shape;142;p15"/>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Header &amp; Subtitle">
  <p:cSld name="1_Header &amp; Subtitle">
    <p:spTree>
      <p:nvGrpSpPr>
        <p:cNvPr id="1" name="Shape 143"/>
        <p:cNvGrpSpPr/>
        <p:nvPr/>
      </p:nvGrpSpPr>
      <p:grpSpPr>
        <a:xfrm>
          <a:off x="0" y="0"/>
          <a:ext cx="0" cy="0"/>
          <a:chOff x="0" y="0"/>
          <a:chExt cx="0" cy="0"/>
        </a:xfrm>
      </p:grpSpPr>
      <p:sp>
        <p:nvSpPr>
          <p:cNvPr id="144" name="Google Shape;144;p16"/>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45" name="Google Shape;145;p16"/>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46" name="Google Shape;146;p16"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sp>
        <p:nvSpPr>
          <p:cNvPr id="147" name="Google Shape;147;p16"/>
          <p:cNvSpPr txBox="1">
            <a:spLocks noGrp="1"/>
          </p:cNvSpPr>
          <p:nvPr>
            <p:ph type="body" idx="1"/>
          </p:nvPr>
        </p:nvSpPr>
        <p:spPr>
          <a:xfrm>
            <a:off x="536408" y="1146189"/>
            <a:ext cx="8140628"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grpSp>
        <p:nvGrpSpPr>
          <p:cNvPr id="148" name="Google Shape;148;p16"/>
          <p:cNvGrpSpPr/>
          <p:nvPr/>
        </p:nvGrpSpPr>
        <p:grpSpPr>
          <a:xfrm>
            <a:off x="182346" y="104249"/>
            <a:ext cx="570006" cy="4473696"/>
            <a:chOff x="182346" y="104249"/>
            <a:chExt cx="570006" cy="4473696"/>
          </a:xfrm>
        </p:grpSpPr>
        <p:pic>
          <p:nvPicPr>
            <p:cNvPr id="149" name="Google Shape;149;p16"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50" name="Google Shape;150;p16"/>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151"/>
        <p:cNvGrpSpPr/>
        <p:nvPr/>
      </p:nvGrpSpPr>
      <p:grpSpPr>
        <a:xfrm>
          <a:off x="0" y="0"/>
          <a:ext cx="0" cy="0"/>
          <a:chOff x="0" y="0"/>
          <a:chExt cx="0" cy="0"/>
        </a:xfrm>
      </p:grpSpPr>
      <p:pic>
        <p:nvPicPr>
          <p:cNvPr id="152" name="Google Shape;152;p17" descr="A close up of a logo  Description automatically generated"/>
          <p:cNvPicPr preferRelativeResize="0"/>
          <p:nvPr/>
        </p:nvPicPr>
        <p:blipFill rotWithShape="1">
          <a:blip r:embed="rId2">
            <a:alphaModFix/>
          </a:blip>
          <a:srcRect b="-4198"/>
          <a:stretch/>
        </p:blipFill>
        <p:spPr>
          <a:xfrm>
            <a:off x="2718" y="0"/>
            <a:ext cx="876601" cy="796293"/>
          </a:xfrm>
          <a:prstGeom prst="rect">
            <a:avLst/>
          </a:prstGeom>
          <a:noFill/>
          <a:ln>
            <a:noFill/>
          </a:ln>
        </p:spPr>
      </p:pic>
      <p:grpSp>
        <p:nvGrpSpPr>
          <p:cNvPr id="153" name="Google Shape;153;p17"/>
          <p:cNvGrpSpPr/>
          <p:nvPr/>
        </p:nvGrpSpPr>
        <p:grpSpPr>
          <a:xfrm>
            <a:off x="198023" y="147081"/>
            <a:ext cx="8503920" cy="543191"/>
            <a:chOff x="198023" y="147081"/>
            <a:chExt cx="8700480" cy="543191"/>
          </a:xfrm>
        </p:grpSpPr>
        <p:pic>
          <p:nvPicPr>
            <p:cNvPr id="154" name="Google Shape;154;p17" descr="A close up of a logo  Description automatically generated"/>
            <p:cNvPicPr preferRelativeResize="0"/>
            <p:nvPr/>
          </p:nvPicPr>
          <p:blipFill rotWithShape="1">
            <a:blip r:embed="rId3">
              <a:alphaModFix/>
            </a:blip>
            <a:srcRect/>
            <a:stretch/>
          </p:blipFill>
          <p:spPr>
            <a:xfrm>
              <a:off x="198023" y="151749"/>
              <a:ext cx="492246" cy="538523"/>
            </a:xfrm>
            <a:prstGeom prst="rect">
              <a:avLst/>
            </a:prstGeom>
            <a:noFill/>
            <a:ln>
              <a:noFill/>
            </a:ln>
          </p:spPr>
        </p:pic>
        <p:sp>
          <p:nvSpPr>
            <p:cNvPr id="155" name="Google Shape;155;p17"/>
            <p:cNvSpPr/>
            <p:nvPr/>
          </p:nvSpPr>
          <p:spPr>
            <a:xfrm>
              <a:off x="690269" y="147081"/>
              <a:ext cx="8208234" cy="64008"/>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56" name="Google Shape;156;p17"/>
          <p:cNvSpPr txBox="1">
            <a:spLocks noGrp="1"/>
          </p:cNvSpPr>
          <p:nvPr>
            <p:ph type="title"/>
          </p:nvPr>
        </p:nvSpPr>
        <p:spPr>
          <a:xfrm>
            <a:off x="536408" y="229323"/>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7" name="Google Shape;157;p17"/>
          <p:cNvSpPr txBox="1">
            <a:spLocks noGrp="1"/>
          </p:cNvSpPr>
          <p:nvPr>
            <p:ph type="body" idx="1"/>
          </p:nvPr>
        </p:nvSpPr>
        <p:spPr>
          <a:xfrm>
            <a:off x="536408" y="1169435"/>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llumn Content">
  <p:cSld name="Two Collumn Content">
    <p:spTree>
      <p:nvGrpSpPr>
        <p:cNvPr id="1" name="Shape 158"/>
        <p:cNvGrpSpPr/>
        <p:nvPr/>
      </p:nvGrpSpPr>
      <p:grpSpPr>
        <a:xfrm>
          <a:off x="0" y="0"/>
          <a:ext cx="0" cy="0"/>
          <a:chOff x="0" y="0"/>
          <a:chExt cx="0" cy="0"/>
        </a:xfrm>
      </p:grpSpPr>
      <p:sp>
        <p:nvSpPr>
          <p:cNvPr id="159" name="Google Shape;159;p18"/>
          <p:cNvSpPr txBox="1">
            <a:spLocks noGrp="1"/>
          </p:cNvSpPr>
          <p:nvPr>
            <p:ph type="body" idx="1"/>
          </p:nvPr>
        </p:nvSpPr>
        <p:spPr>
          <a:xfrm>
            <a:off x="536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0" name="Google Shape;160;p18"/>
          <p:cNvSpPr txBox="1">
            <a:spLocks noGrp="1"/>
          </p:cNvSpPr>
          <p:nvPr>
            <p:ph type="body" idx="2"/>
          </p:nvPr>
        </p:nvSpPr>
        <p:spPr>
          <a:xfrm>
            <a:off x="4727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1" name="Google Shape;161;p1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62" name="Google Shape;162;p18"/>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63" name="Google Shape;163;p18"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64" name="Google Shape;164;p18"/>
          <p:cNvGrpSpPr/>
          <p:nvPr/>
        </p:nvGrpSpPr>
        <p:grpSpPr>
          <a:xfrm>
            <a:off x="182346" y="104249"/>
            <a:ext cx="570006" cy="4473696"/>
            <a:chOff x="182346" y="104249"/>
            <a:chExt cx="570006" cy="4473696"/>
          </a:xfrm>
        </p:grpSpPr>
        <p:pic>
          <p:nvPicPr>
            <p:cNvPr id="165" name="Google Shape;165;p18"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66" name="Google Shape;166;p18"/>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7"/>
        <p:cNvGrpSpPr/>
        <p:nvPr/>
      </p:nvGrpSpPr>
      <p:grpSpPr>
        <a:xfrm>
          <a:off x="0" y="0"/>
          <a:ext cx="0" cy="0"/>
          <a:chOff x="0" y="0"/>
          <a:chExt cx="0" cy="0"/>
        </a:xfrm>
      </p:grpSpPr>
      <p:sp>
        <p:nvSpPr>
          <p:cNvPr id="168" name="Google Shape;168;p19"/>
          <p:cNvSpPr txBox="1">
            <a:spLocks noGrp="1"/>
          </p:cNvSpPr>
          <p:nvPr>
            <p:ph type="body" idx="1"/>
          </p:nvPr>
        </p:nvSpPr>
        <p:spPr>
          <a:xfrm>
            <a:off x="536408" y="1151335"/>
            <a:ext cx="3960980"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69" name="Google Shape;169;p19"/>
          <p:cNvSpPr txBox="1">
            <a:spLocks noGrp="1"/>
          </p:cNvSpPr>
          <p:nvPr>
            <p:ph type="body" idx="2"/>
          </p:nvPr>
        </p:nvSpPr>
        <p:spPr>
          <a:xfrm>
            <a:off x="536408" y="1631156"/>
            <a:ext cx="3960980"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0" name="Google Shape;170;p19"/>
          <p:cNvSpPr txBox="1">
            <a:spLocks noGrp="1"/>
          </p:cNvSpPr>
          <p:nvPr>
            <p:ph type="body" idx="3"/>
          </p:nvPr>
        </p:nvSpPr>
        <p:spPr>
          <a:xfrm>
            <a:off x="4724265" y="1151335"/>
            <a:ext cx="3962536"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71" name="Google Shape;171;p19"/>
          <p:cNvSpPr txBox="1">
            <a:spLocks noGrp="1"/>
          </p:cNvSpPr>
          <p:nvPr>
            <p:ph type="body" idx="4"/>
          </p:nvPr>
        </p:nvSpPr>
        <p:spPr>
          <a:xfrm>
            <a:off x="4724265" y="1631156"/>
            <a:ext cx="3962536"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2" name="Google Shape;172;p19"/>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73" name="Google Shape;173;p19"/>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74" name="Google Shape;174;p19"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75" name="Google Shape;175;p19"/>
          <p:cNvGrpSpPr/>
          <p:nvPr/>
        </p:nvGrpSpPr>
        <p:grpSpPr>
          <a:xfrm>
            <a:off x="182346" y="104249"/>
            <a:ext cx="570006" cy="4473696"/>
            <a:chOff x="182346" y="104249"/>
            <a:chExt cx="570006" cy="4473696"/>
          </a:xfrm>
        </p:grpSpPr>
        <p:pic>
          <p:nvPicPr>
            <p:cNvPr id="176" name="Google Shape;176;p19"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77" name="Google Shape;177;p19"/>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78"/>
        <p:cNvGrpSpPr/>
        <p:nvPr/>
      </p:nvGrpSpPr>
      <p:grpSpPr>
        <a:xfrm>
          <a:off x="0" y="0"/>
          <a:ext cx="0" cy="0"/>
          <a:chOff x="0" y="0"/>
          <a:chExt cx="0" cy="0"/>
        </a:xfrm>
      </p:grpSpPr>
      <p:sp>
        <p:nvSpPr>
          <p:cNvPr id="179" name="Google Shape;179;p20"/>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2200"/>
              <a:buFont typeface="Arial"/>
              <a:buNone/>
              <a:defRPr sz="22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8600" y="1126999"/>
            <a:ext cx="8769096" cy="339447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340"/>
              </a:spcBef>
              <a:spcAft>
                <a:spcPts val="0"/>
              </a:spcAft>
              <a:buClr>
                <a:schemeClr val="dk1"/>
              </a:buClr>
              <a:buSzPts val="1700"/>
              <a:buFont typeface="Arial"/>
              <a:buNone/>
              <a:defRPr sz="1700" b="0" i="0" u="none" strike="noStrike" cap="none">
                <a:solidFill>
                  <a:schemeClr val="dk1"/>
                </a:solidFill>
                <a:latin typeface="Arial"/>
                <a:ea typeface="Arial"/>
                <a:cs typeface="Arial"/>
                <a:sym typeface="Arial"/>
              </a:defRPr>
            </a:lvl1pPr>
            <a:lvl2pPr marL="914400" marR="0" lvl="1"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2pPr>
            <a:lvl3pPr marL="1371600" marR="0" lvl="2" indent="-317500" algn="l" rtl="0">
              <a:lnSpc>
                <a:spcPct val="100000"/>
              </a:lnSpc>
              <a:spcBef>
                <a:spcPts val="280"/>
              </a:spcBef>
              <a:spcAft>
                <a:spcPts val="0"/>
              </a:spcAft>
              <a:buClr>
                <a:schemeClr val="dk1"/>
              </a:buClr>
              <a:buSzPts val="1400"/>
              <a:buFont typeface="Courier New"/>
              <a:buChar char="o"/>
              <a:defRPr sz="1400" b="0" i="0" u="none" strike="noStrike" cap="none">
                <a:solidFill>
                  <a:schemeClr val="dk1"/>
                </a:solidFill>
                <a:latin typeface="Arial"/>
                <a:ea typeface="Arial"/>
                <a:cs typeface="Arial"/>
                <a:sym typeface="Arial"/>
              </a:defRPr>
            </a:lvl3pPr>
            <a:lvl4pPr marL="1828800" marR="0" lvl="3" indent="-304800" algn="l" rtl="0">
              <a:lnSpc>
                <a:spcPct val="100000"/>
              </a:lnSpc>
              <a:spcBef>
                <a:spcPts val="240"/>
              </a:spcBef>
              <a:spcAft>
                <a:spcPts val="0"/>
              </a:spcAft>
              <a:buClr>
                <a:srgbClr val="7F7F7F"/>
              </a:buClr>
              <a:buSzPts val="1200"/>
              <a:buFont typeface="Arial"/>
              <a:buChar char="–"/>
              <a:defRPr sz="1200" b="0" i="0" u="none" strike="noStrike" cap="none">
                <a:solidFill>
                  <a:srgbClr val="7F7F7F"/>
                </a:solidFill>
                <a:latin typeface="Arial"/>
                <a:ea typeface="Arial"/>
                <a:cs typeface="Arial"/>
                <a:sym typeface="Arial"/>
              </a:defRPr>
            </a:lvl4pPr>
            <a:lvl5pPr marL="2286000" marR="0" lvl="4" indent="-292100" algn="l" rtl="0">
              <a:lnSpc>
                <a:spcPct val="100000"/>
              </a:lnSpc>
              <a:spcBef>
                <a:spcPts val="200"/>
              </a:spcBef>
              <a:spcAft>
                <a:spcPts val="0"/>
              </a:spcAft>
              <a:buClr>
                <a:srgbClr val="7F7F7F"/>
              </a:buClr>
              <a:buSzPts val="1000"/>
              <a:buFont typeface="Arial"/>
              <a:buChar char="»"/>
              <a:defRPr sz="1000" b="0" i="0" u="none" strike="noStrike" cap="none">
                <a:solidFill>
                  <a:srgbClr val="7F7F7F"/>
                </a:solidFill>
                <a:latin typeface="Arial"/>
                <a:ea typeface="Arial"/>
                <a:cs typeface="Arial"/>
                <a:sym typeface="Arial"/>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3" name="Google Shape;13;p1"/>
          <p:cNvPicPr preferRelativeResize="0"/>
          <p:nvPr/>
        </p:nvPicPr>
        <p:blipFill rotWithShape="1">
          <a:blip r:embed="rId21">
            <a:alphaModFix/>
          </a:blip>
          <a:srcRect/>
          <a:stretch/>
        </p:blipFill>
        <p:spPr>
          <a:xfrm>
            <a:off x="80509" y="4720046"/>
            <a:ext cx="320286" cy="340980"/>
          </a:xfrm>
          <a:prstGeom prst="rect">
            <a:avLst/>
          </a:prstGeom>
          <a:noFill/>
          <a:ln>
            <a:noFill/>
          </a:ln>
        </p:spPr>
      </p:pic>
      <p:sp>
        <p:nvSpPr>
          <p:cNvPr id="14" name="Google Shape;14;p1"/>
          <p:cNvSpPr txBox="1"/>
          <p:nvPr/>
        </p:nvSpPr>
        <p:spPr>
          <a:xfrm>
            <a:off x="357250" y="4806164"/>
            <a:ext cx="2673331" cy="18466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US" sz="600" b="0" i="0" u="none" strike="noStrike" cap="none">
                <a:solidFill>
                  <a:schemeClr val="dk1"/>
                </a:solidFill>
                <a:latin typeface="Arial"/>
                <a:ea typeface="Arial"/>
                <a:cs typeface="Arial"/>
                <a:sym typeface="Arial"/>
              </a:rPr>
              <a:t>CAL STATE LA </a:t>
            </a:r>
            <a:r>
              <a:rPr lang="en-US" sz="600" b="0" i="0" u="none" strike="noStrike" cap="none">
                <a:solidFill>
                  <a:srgbClr val="FCC90A"/>
                </a:solidFill>
                <a:latin typeface="Arial"/>
                <a:ea typeface="Arial"/>
                <a:cs typeface="Arial"/>
                <a:sym typeface="Arial"/>
              </a:rPr>
              <a:t> |   </a:t>
            </a:r>
            <a:r>
              <a:rPr lang="en-US" sz="600" b="0" i="0" u="none" strike="noStrike" cap="none">
                <a:solidFill>
                  <a:schemeClr val="dk1"/>
                </a:solidFill>
                <a:latin typeface="Arial"/>
                <a:ea typeface="Arial"/>
                <a:cs typeface="Arial"/>
                <a:sym typeface="Arial"/>
              </a:rPr>
              <a:t>Department of Computer Science</a:t>
            </a: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Img1" Type="http://schemas.openxmlformats.org/officeDocument/2006/relationships/image" Target="../media/chart_slide23_1.jpg"/><Relationship Id="rId1"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a:spLocks noGrp="1"/>
          </p:cNvSpPr>
          <p:nvPr>
            <p:ph type="subTitle" idx="1"/>
          </p:nvPr>
        </p:nvSpPr>
        <p:spPr>
          <a:xfrm>
            <a:off x="2103863" y="3465715"/>
            <a:ext cx="4906537" cy="1216814"/>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1700"/>
              <a:buNone/>
            </a:pPr>
            <a:r>
              <a:rPr lang="en-US">
                <a:solidFill>
                  <a:schemeClr val="dk1"/>
                </a:solidFill>
              </a:rPr>
              <a:t>Final 5-minute presentation</a:t>
            </a:r>
            <a:endParaRPr/>
          </a:p>
          <a:p>
            <a:pPr marL="0" lvl="0" indent="0" algn="ctr" rtl="0">
              <a:lnSpc>
                <a:spcPct val="100000"/>
              </a:lnSpc>
              <a:spcBef>
                <a:spcPts val="340"/>
              </a:spcBef>
              <a:spcAft>
                <a:spcPts val="0"/>
              </a:spcAft>
              <a:buClr>
                <a:schemeClr val="dk1"/>
              </a:buClr>
              <a:buSzPts val="1700"/>
              <a:buNone/>
            </a:pPr>
            <a:r>
              <a:rPr lang="en-US">
                <a:solidFill>
                  <a:schemeClr val="dk1"/>
                </a:solidFill>
              </a:rPr>
              <a:t>Advisor: Navid Amini, PhD</a:t>
            </a:r>
            <a:endParaRPr/>
          </a:p>
          <a:p>
            <a:pPr marL="0" lvl="0" indent="0" algn="ctr" rtl="0">
              <a:lnSpc>
                <a:spcPct val="100000"/>
              </a:lnSpc>
              <a:spcBef>
                <a:spcPts val="340"/>
              </a:spcBef>
              <a:spcAft>
                <a:spcPts val="0"/>
              </a:spcAft>
              <a:buClr>
                <a:srgbClr val="4A4F55"/>
              </a:buClr>
              <a:buSzPts val="1700"/>
              <a:buNone/>
            </a:pPr>
            <a:endParaRPr/>
          </a:p>
          <a:p>
            <a:pPr marL="0" lvl="0" indent="0" algn="ctr" rtl="0">
              <a:lnSpc>
                <a:spcPct val="100000"/>
              </a:lnSpc>
              <a:spcBef>
                <a:spcPts val="340"/>
              </a:spcBef>
              <a:spcAft>
                <a:spcPts val="0"/>
              </a:spcAft>
              <a:buClr>
                <a:srgbClr val="4A4F55"/>
              </a:buClr>
              <a:buSzPts val="1700"/>
              <a:buNone/>
            </a:pPr>
            <a:r>
              <a:rPr lang="en-US"/>
              <a:t>Department of Computer Science</a:t>
            </a:r>
            <a:endParaRPr/>
          </a:p>
          <a:p>
            <a:pPr marL="0" lvl="0" indent="0" algn="ctr" rtl="0">
              <a:lnSpc>
                <a:spcPct val="100000"/>
              </a:lnSpc>
              <a:spcBef>
                <a:spcPts val="340"/>
              </a:spcBef>
              <a:spcAft>
                <a:spcPts val="0"/>
              </a:spcAft>
              <a:buClr>
                <a:srgbClr val="4A4F55"/>
              </a:buClr>
              <a:buSzPts val="1700"/>
              <a:buNone/>
            </a:pPr>
            <a:endParaRPr/>
          </a:p>
        </p:txBody>
      </p:sp>
      <p:sp>
        <p:nvSpPr>
          <p:cNvPr id="187" name="Google Shape;187;p21"/>
          <p:cNvSpPr txBox="1"/>
          <p:nvPr/>
        </p:nvSpPr>
        <p:spPr>
          <a:xfrm>
            <a:off x="0" y="2112255"/>
            <a:ext cx="9144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dirty="0">
                <a:solidFill>
                  <a:schemeClr val="dk1"/>
                </a:solidFill>
              </a:rPr>
              <a:t>Early Detection of Diabetic Retinopathy</a:t>
            </a:r>
            <a:endParaRPr sz="3600" dirty="0">
              <a:solidFill>
                <a:schemeClr val="dk1"/>
              </a:solidFill>
            </a:endParaRPr>
          </a:p>
        </p:txBody>
      </p:sp>
      <p:sp>
        <p:nvSpPr>
          <p:cNvPr id="4" name="TextBox 3">
            <a:extLst>
              <a:ext uri="{FF2B5EF4-FFF2-40B4-BE49-F238E27FC236}">
                <a16:creationId xmlns:a16="http://schemas.microsoft.com/office/drawing/2014/main" id="{EF837E60-3D38-F4EB-DDD8-AB78CC76A965}"/>
              </a:ext>
            </a:extLst>
          </p:cNvPr>
          <p:cNvSpPr txBox="1"/>
          <p:nvPr/>
        </p:nvSpPr>
        <p:spPr>
          <a:xfrm>
            <a:off x="8801100" y="4792436"/>
            <a:ext cx="342900" cy="261610"/>
          </a:xfrm>
          <a:prstGeom prst="rect">
            <a:avLst/>
          </a:prstGeom>
          <a:noFill/>
        </p:spPr>
        <p:txBody>
          <a:bodyPr wrap="square" rtlCol="0">
            <a:spAutoFit/>
          </a:bodyPr>
          <a:lstStyle/>
          <a:p>
            <a:r>
              <a:rPr lang="en-US" sz="1100" dirty="0"/>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r>
              <a:rPr lang="en-US" dirty="0">
                <a:solidFill>
                  <a:srgbClr val="121212"/>
                </a:solidFill>
              </a:rPr>
              <a:t>About Diabetic Retinopathy</a:t>
            </a:r>
            <a:endParaRPr sz="2200" b="1" dirty="0">
              <a:solidFill>
                <a:srgbClr val="121212"/>
              </a:solidFill>
              <a:latin typeface="Arial"/>
            </a:endParaRPr>
          </a:p>
        </p:txBody>
      </p:sp>
      <p:sp>
        <p:nvSpPr>
          <p:cNvPr id="3" name="TextBox 2"/>
          <p:cNvSpPr txBox="1"/>
          <p:nvPr/>
        </p:nvSpPr>
        <p:spPr>
          <a:xfrm>
            <a:off x="566928" y="960120"/>
            <a:ext cx="49377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burden is growing</a:t>
            </a:r>
          </a:p>
        </p:txBody>
      </p:sp>
      <p:sp>
        <p:nvSpPr>
          <p:cNvPr id="4" name="TextBox 3"/>
          <p:cNvSpPr txBox="1"/>
          <p:nvPr/>
        </p:nvSpPr>
        <p:spPr>
          <a:xfrm>
            <a:off x="566928" y="1243584"/>
            <a:ext cx="2903928" cy="553998"/>
          </a:xfrm>
          <a:prstGeom prst="rect">
            <a:avLst/>
          </a:prstGeom>
          <a:noFill/>
        </p:spPr>
        <p:txBody>
          <a:bodyPr wrap="square" lIns="27432" tIns="18288" rIns="27432" bIns="18288" anchor="t">
            <a:spAutoFit/>
          </a:bodyPr>
          <a:lstStyle/>
          <a:p>
            <a:pPr algn="l"/>
            <a:r>
              <a:rPr sz="1120" b="0" i="0" dirty="0">
                <a:solidFill>
                  <a:srgbClr val="121212"/>
                </a:solidFill>
                <a:latin typeface="Arial"/>
              </a:rPr>
              <a:t>Diabetes has expanded rapidly worldwide, increasing the number of people who need retinal screening for diabetic retinopathy.</a:t>
            </a:r>
          </a:p>
        </p:txBody>
      </p:sp>
      <p:sp>
        <p:nvSpPr>
          <p:cNvPr id="5" name="Rounded Rectangle 4"/>
          <p:cNvSpPr/>
          <p:nvPr/>
        </p:nvSpPr>
        <p:spPr>
          <a:xfrm>
            <a:off x="6916535" y="786384"/>
            <a:ext cx="1764792" cy="968308"/>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097096" y="84181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223760" y="854408"/>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151M</a:t>
            </a:r>
          </a:p>
        </p:txBody>
      </p:sp>
      <p:sp>
        <p:nvSpPr>
          <p:cNvPr id="8" name="TextBox 7"/>
          <p:cNvSpPr txBox="1"/>
          <p:nvPr/>
        </p:nvSpPr>
        <p:spPr>
          <a:xfrm>
            <a:off x="7236575" y="1204151"/>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2000</a:t>
            </a:r>
          </a:p>
        </p:txBody>
      </p:sp>
      <p:sp>
        <p:nvSpPr>
          <p:cNvPr id="9" name="Rounded Rectangle 8"/>
          <p:cNvSpPr/>
          <p:nvPr/>
        </p:nvSpPr>
        <p:spPr>
          <a:xfrm>
            <a:off x="6916535" y="2024253"/>
            <a:ext cx="1764792" cy="962406"/>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097096" y="207568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36575" y="2065972"/>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589M</a:t>
            </a:r>
          </a:p>
        </p:txBody>
      </p:sp>
      <p:sp>
        <p:nvSpPr>
          <p:cNvPr id="12" name="TextBox 11"/>
          <p:cNvSpPr txBox="1"/>
          <p:nvPr/>
        </p:nvSpPr>
        <p:spPr>
          <a:xfrm>
            <a:off x="7236575" y="2396488"/>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2024</a:t>
            </a:r>
          </a:p>
        </p:txBody>
      </p:sp>
      <p:sp>
        <p:nvSpPr>
          <p:cNvPr id="13" name="Rounded Rectangle 12"/>
          <p:cNvSpPr/>
          <p:nvPr/>
        </p:nvSpPr>
        <p:spPr>
          <a:xfrm>
            <a:off x="6922008" y="3168634"/>
            <a:ext cx="1759319" cy="1043079"/>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97096" y="3297313"/>
            <a:ext cx="73152" cy="914400"/>
          </a:xfrm>
          <a:prstGeom prst="rect">
            <a:avLst/>
          </a:prstGeom>
          <a:solidFill>
            <a:srgbClr val="FFCD00"/>
          </a:solidFill>
          <a:ln>
            <a:solidFill>
              <a:srgbClr val="FFC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36575" y="3254694"/>
            <a:ext cx="1444752" cy="329184"/>
          </a:xfrm>
          <a:prstGeom prst="rect">
            <a:avLst/>
          </a:prstGeom>
          <a:noFill/>
        </p:spPr>
        <p:txBody>
          <a:bodyPr wrap="square" lIns="27432" tIns="18288" rIns="27432" bIns="18288" anchor="t">
            <a:spAutoFit/>
          </a:bodyPr>
          <a:lstStyle/>
          <a:p>
            <a:pPr algn="l"/>
            <a:r>
              <a:rPr sz="2300" b="1" i="0" dirty="0">
                <a:solidFill>
                  <a:srgbClr val="FFCD00"/>
                </a:solidFill>
                <a:latin typeface="Arial"/>
              </a:rPr>
              <a:t>+290%</a:t>
            </a:r>
          </a:p>
        </p:txBody>
      </p:sp>
      <p:sp>
        <p:nvSpPr>
          <p:cNvPr id="16" name="TextBox 15"/>
          <p:cNvSpPr txBox="1"/>
          <p:nvPr/>
        </p:nvSpPr>
        <p:spPr>
          <a:xfrm>
            <a:off x="7236316" y="3661392"/>
            <a:ext cx="1346487" cy="360099"/>
          </a:xfrm>
          <a:prstGeom prst="rect">
            <a:avLst/>
          </a:prstGeom>
          <a:noFill/>
        </p:spPr>
        <p:txBody>
          <a:bodyPr wrap="square" lIns="27432" tIns="18288" rIns="27432" bIns="18288" anchor="t">
            <a:spAutoFit/>
          </a:bodyPr>
          <a:lstStyle/>
          <a:p>
            <a:pPr algn="l"/>
            <a:r>
              <a:rPr sz="1050" b="0" i="0" dirty="0">
                <a:solidFill>
                  <a:srgbClr val="121212"/>
                </a:solidFill>
                <a:latin typeface="Arial"/>
              </a:rPr>
              <a:t>observed increase in
screening population</a:t>
            </a:r>
          </a:p>
        </p:txBody>
      </p:sp>
      <p:pic>
        <p:nvPicPr>
          <p:cNvPr id="17" name="Picture 16" descr="diabetes_growth_chart.png"/>
          <p:cNvPicPr>
            <a:picLocks noChangeAspect="1"/>
          </p:cNvPicPr>
          <p:nvPr/>
        </p:nvPicPr>
        <p:blipFill>
          <a:blip r:embed="rId2"/>
          <a:stretch>
            <a:fillRect/>
          </a:stretch>
        </p:blipFill>
        <p:spPr>
          <a:xfrm>
            <a:off x="528113" y="2361462"/>
            <a:ext cx="5331355" cy="2253949"/>
          </a:xfrm>
          <a:prstGeom prst="rect">
            <a:avLst/>
          </a:prstGeom>
        </p:spPr>
      </p:pic>
      <p:sp>
        <p:nvSpPr>
          <p:cNvPr id="18" name="TextBox 17"/>
          <p:cNvSpPr txBox="1"/>
          <p:nvPr/>
        </p:nvSpPr>
        <p:spPr>
          <a:xfrm>
            <a:off x="3743567" y="989267"/>
            <a:ext cx="2286000" cy="228600"/>
          </a:xfrm>
          <a:prstGeom prst="rect">
            <a:avLst/>
          </a:prstGeom>
          <a:noFill/>
        </p:spPr>
        <p:txBody>
          <a:bodyPr wrap="square" lIns="27432" tIns="18288" rIns="27432" bIns="18288" anchor="t">
            <a:spAutoFit/>
          </a:bodyPr>
          <a:lstStyle/>
          <a:p>
            <a:pPr algn="l"/>
            <a:r>
              <a:rPr sz="1300" b="1" i="0" dirty="0">
                <a:solidFill>
                  <a:srgbClr val="3D5F84"/>
                </a:solidFill>
                <a:latin typeface="Arial"/>
              </a:rPr>
              <a:t>Observed growth over time</a:t>
            </a:r>
          </a:p>
        </p:txBody>
      </p:sp>
      <p:sp>
        <p:nvSpPr>
          <p:cNvPr id="19" name="TextBox 18"/>
          <p:cNvSpPr txBox="1"/>
          <p:nvPr/>
        </p:nvSpPr>
        <p:spPr>
          <a:xfrm>
            <a:off x="3743567" y="1243584"/>
            <a:ext cx="2240280" cy="731520"/>
          </a:xfrm>
          <a:prstGeom prst="rect">
            <a:avLst/>
          </a:prstGeom>
          <a:noFill/>
        </p:spPr>
        <p:txBody>
          <a:bodyPr wrap="square" lIns="27432" tIns="18288" rIns="27432" bIns="18288" anchor="t">
            <a:spAutoFit/>
          </a:bodyPr>
          <a:lstStyle/>
          <a:p>
            <a:pPr algn="l"/>
            <a:r>
              <a:rPr sz="1100" b="0" i="0" dirty="0">
                <a:solidFill>
                  <a:srgbClr val="121212"/>
                </a:solidFill>
                <a:latin typeface="Arial"/>
              </a:rPr>
              <a:t>More patients means more fundus images to grade - and more pressure for fast triage.</a:t>
            </a:r>
          </a:p>
        </p:txBody>
      </p:sp>
      <p:sp>
        <p:nvSpPr>
          <p:cNvPr id="21" name="TextBox 20">
            <a:extLst>
              <a:ext uri="{FF2B5EF4-FFF2-40B4-BE49-F238E27FC236}">
                <a16:creationId xmlns:a16="http://schemas.microsoft.com/office/drawing/2014/main" id="{130AF627-36D3-95EE-AFDE-3CCF0DD2912C}"/>
              </a:ext>
            </a:extLst>
          </p:cNvPr>
          <p:cNvSpPr txBox="1"/>
          <p:nvPr/>
        </p:nvSpPr>
        <p:spPr>
          <a:xfrm>
            <a:off x="8801100" y="4792436"/>
            <a:ext cx="342900" cy="261610"/>
          </a:xfrm>
          <a:prstGeom prst="rect">
            <a:avLst/>
          </a:prstGeom>
          <a:noFill/>
        </p:spPr>
        <p:txBody>
          <a:bodyPr wrap="square" rtlCol="0">
            <a:spAutoFit/>
          </a:bodyPr>
          <a:lstStyle/>
          <a:p>
            <a:r>
              <a:rPr lang="en-US" sz="1100" dirty="0"/>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Why Screening Needs Help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pathway breaks down before an image is graded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3</a:t>
            </a:r>
          </a:p>
        </p:txBody>
      </p:sp>
      <p:sp>
        <p:nvSpPr>
          <p:cNvPr id="201" name="Path 1"/>
          <p:cNvSpPr/>
          <p:nvPr/>
        </p:nvSpPr>
        <p:spPr>
          <a:xfrm>
            <a:off x="64008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Diabetes</a:t>
            </a:r>
          </a:p>
          <a:p>
            <a:pPr algn="ctr"/>
            <a:r>
              <a:rPr sz="1100" b="1">
                <a:solidFill>
                  <a:srgbClr val="121212"/>
                </a:solidFill>
                <a:latin typeface="Arial"/>
              </a:rPr>
              <a:t>patient</a:t>
            </a:r>
          </a:p>
        </p:txBody>
      </p:sp>
      <p:sp>
        <p:nvSpPr>
          <p:cNvPr id="202" name="Path arrow 1"/>
          <p:cNvSpPr/>
          <p:nvPr/>
        </p:nvSpPr>
        <p:spPr>
          <a:xfrm>
            <a:off x="2404872" y="1673352"/>
            <a:ext cx="219456" cy="0"/>
          </a:xfrm>
          <a:prstGeom prst="line">
            <a:avLst/>
          </a:prstGeom>
          <a:noFill/>
          <a:ln w="25400">
            <a:solidFill>
              <a:srgbClr val="555555"/>
            </a:solidFill>
            <a:prstDash val="solid"/>
            <a:tailEnd type="triangle"/>
          </a:ln>
        </p:spPr>
        <p:txBody>
          <a:bodyPr/>
          <a:lstStyle/>
          <a:p>
            <a:endParaRPr sz="1050"/>
          </a:p>
        </p:txBody>
      </p:sp>
      <p:sp>
        <p:nvSpPr>
          <p:cNvPr id="203" name="Path 2"/>
          <p:cNvSpPr/>
          <p:nvPr/>
        </p:nvSpPr>
        <p:spPr>
          <a:xfrm>
            <a:off x="265176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Annual eye</a:t>
            </a:r>
          </a:p>
          <a:p>
            <a:pPr algn="ctr"/>
            <a:r>
              <a:rPr sz="1100" b="1">
                <a:solidFill>
                  <a:srgbClr val="121212"/>
                </a:solidFill>
                <a:latin typeface="Arial"/>
              </a:rPr>
              <a:t>exam / photo</a:t>
            </a:r>
          </a:p>
        </p:txBody>
      </p:sp>
      <p:sp>
        <p:nvSpPr>
          <p:cNvPr id="204" name="Path arrow 2"/>
          <p:cNvSpPr/>
          <p:nvPr/>
        </p:nvSpPr>
        <p:spPr>
          <a:xfrm>
            <a:off x="4416552" y="1673352"/>
            <a:ext cx="219456" cy="0"/>
          </a:xfrm>
          <a:prstGeom prst="line">
            <a:avLst/>
          </a:prstGeom>
          <a:noFill/>
          <a:ln w="25400">
            <a:solidFill>
              <a:srgbClr val="555555"/>
            </a:solidFill>
            <a:prstDash val="solid"/>
            <a:tailEnd type="triangle"/>
          </a:ln>
        </p:spPr>
        <p:txBody>
          <a:bodyPr/>
          <a:lstStyle/>
          <a:p>
            <a:endParaRPr sz="1050"/>
          </a:p>
        </p:txBody>
      </p:sp>
      <p:sp>
        <p:nvSpPr>
          <p:cNvPr id="205" name="Path 3"/>
          <p:cNvSpPr/>
          <p:nvPr/>
        </p:nvSpPr>
        <p:spPr>
          <a:xfrm>
            <a:off x="466344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Human grading</a:t>
            </a:r>
          </a:p>
          <a:p>
            <a:pPr algn="ctr"/>
            <a:r>
              <a:rPr sz="1100" b="1">
                <a:solidFill>
                  <a:srgbClr val="121212"/>
                </a:solidFill>
                <a:latin typeface="Arial"/>
              </a:rPr>
              <a:t>queue</a:t>
            </a:r>
          </a:p>
        </p:txBody>
      </p:sp>
      <p:sp>
        <p:nvSpPr>
          <p:cNvPr id="206" name="Path arrow 3"/>
          <p:cNvSpPr/>
          <p:nvPr/>
        </p:nvSpPr>
        <p:spPr>
          <a:xfrm>
            <a:off x="6428231" y="1673352"/>
            <a:ext cx="219456" cy="0"/>
          </a:xfrm>
          <a:prstGeom prst="line">
            <a:avLst/>
          </a:prstGeom>
          <a:noFill/>
          <a:ln w="25400">
            <a:solidFill>
              <a:srgbClr val="555555"/>
            </a:solidFill>
            <a:prstDash val="solid"/>
            <a:tailEnd type="triangle"/>
          </a:ln>
        </p:spPr>
        <p:txBody>
          <a:bodyPr/>
          <a:lstStyle/>
          <a:p>
            <a:endParaRPr sz="1050"/>
          </a:p>
        </p:txBody>
      </p:sp>
      <p:sp>
        <p:nvSpPr>
          <p:cNvPr id="207" name="Path 4"/>
          <p:cNvSpPr/>
          <p:nvPr/>
        </p:nvSpPr>
        <p:spPr>
          <a:xfrm>
            <a:off x="6675120" y="1325880"/>
            <a:ext cx="1737360" cy="68580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Referral /</a:t>
            </a:r>
          </a:p>
          <a:p>
            <a:pPr algn="ctr"/>
            <a:r>
              <a:rPr sz="1100" b="1">
                <a:solidFill>
                  <a:srgbClr val="121212"/>
                </a:solidFill>
                <a:latin typeface="Arial"/>
              </a:rPr>
              <a:t>treatment</a:t>
            </a:r>
          </a:p>
        </p:txBody>
      </p:sp>
      <p:sp>
        <p:nvSpPr>
          <p:cNvPr id="208" name="Gap 1"/>
          <p:cNvSpPr/>
          <p:nvPr/>
        </p:nvSpPr>
        <p:spPr>
          <a:xfrm>
            <a:off x="502920" y="2331720"/>
            <a:ext cx="2606040" cy="155448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Coverage gap</a:t>
            </a:r>
          </a:p>
          <a:p>
            <a:pPr algn="l"/>
            <a:r>
              <a:rPr sz="1100" b="0">
                <a:solidFill>
                  <a:srgbClr val="3a3a3a"/>
                </a:solidFill>
                <a:latin typeface="Arial"/>
              </a:rPr>
              <a:t>60% do not get annual eye exams.</a:t>
            </a:r>
          </a:p>
        </p:txBody>
      </p:sp>
      <p:sp>
        <p:nvSpPr>
          <p:cNvPr id="209" name="Gap 2"/>
          <p:cNvSpPr/>
          <p:nvPr/>
        </p:nvSpPr>
        <p:spPr>
          <a:xfrm>
            <a:off x="3273552" y="2331720"/>
            <a:ext cx="2606040" cy="155448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Capacity gap</a:t>
            </a:r>
          </a:p>
          <a:p>
            <a:pPr algn="l"/>
            <a:r>
              <a:rPr sz="1100" b="0">
                <a:solidFill>
                  <a:srgbClr val="3a3a3a"/>
                </a:solidFill>
                <a:latin typeface="Arial"/>
              </a:rPr>
              <a:t>More images need more grading time and specialist review.</a:t>
            </a:r>
          </a:p>
        </p:txBody>
      </p:sp>
      <p:sp>
        <p:nvSpPr>
          <p:cNvPr id="210" name="Gap 3"/>
          <p:cNvSpPr/>
          <p:nvPr/>
        </p:nvSpPr>
        <p:spPr>
          <a:xfrm>
            <a:off x="6044183" y="2331720"/>
            <a:ext cx="2606040" cy="155448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Safety gap</a:t>
            </a:r>
          </a:p>
          <a:p>
            <a:pPr algn="l"/>
            <a:r>
              <a:rPr sz="1100" b="0">
                <a:solidFill>
                  <a:srgbClr val="3a3a3a"/>
                </a:solidFill>
                <a:latin typeface="Arial"/>
              </a:rPr>
              <a:t>Early disease often has no symptoms; late detection lets preventable vision loss progress.</a:t>
            </a:r>
          </a:p>
        </p:txBody>
      </p:sp>
      <p:sp>
        <p:nvSpPr>
          <p:cNvPr id="211"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Need: rapid, consistent triage immediately after fundus image capture.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What It Can Do</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A triage aid for the ophthalmologist, not a replacement</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4</a:t>
            </a:r>
          </a:p>
        </p:txBody>
      </p:sp>
      <p:pic>
        <p:nvPicPr>
          <p:cNvPr id="201" name="Chart 1" descr="Retinal fundus photograph"/>
          <p:cNvPicPr>
            <a:picLocks noChangeAspect="1"/>
          </p:cNvPicPr>
          <p:nvPr/>
        </p:nvPicPr>
        <p:blipFill>
          <a:blip r:embed="rIdImg1"/>
          <a:stretch>
            <a:fillRect/>
          </a:stretch>
        </p:blipFill>
        <p:spPr>
          <a:xfrm>
            <a:off x="502920" y="1463040"/>
            <a:ext cx="2194560" cy="1505102"/>
          </a:xfrm>
          <a:prstGeom prst="rect">
            <a:avLst/>
          </a:prstGeom>
        </p:spPr>
      </p:pic>
      <p:sp>
        <p:nvSpPr>
          <p:cNvPr id="202" name="Input label"/>
          <p:cNvSpPr/>
          <p:nvPr/>
        </p:nvSpPr>
        <p:spPr>
          <a:xfrm>
            <a:off x="502920" y="3017520"/>
            <a:ext cx="2194560" cy="365760"/>
          </a:xfrm>
          <a:prstGeom prst="roundRect">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Fundus image</a:t>
            </a:r>
          </a:p>
        </p:txBody>
      </p:sp>
      <p:sp>
        <p:nvSpPr>
          <p:cNvPr id="203" name="Arrow 1"/>
          <p:cNvSpPr/>
          <p:nvPr/>
        </p:nvSpPr>
        <p:spPr>
          <a:xfrm>
            <a:off x="2788920" y="2286000"/>
            <a:ext cx="365760" cy="0"/>
          </a:xfrm>
          <a:prstGeom prst="line">
            <a:avLst/>
          </a:prstGeom>
          <a:noFill/>
          <a:ln w="25400">
            <a:solidFill>
              <a:srgbClr val="555555"/>
            </a:solidFill>
            <a:prstDash val="solid"/>
            <a:tailEnd type="triangle"/>
          </a:ln>
        </p:spPr>
        <p:txBody>
          <a:bodyPr/>
          <a:lstStyle/>
          <a:p>
            <a:endParaRPr sz="1050"/>
          </a:p>
        </p:txBody>
      </p:sp>
      <p:sp>
        <p:nvSpPr>
          <p:cNvPr id="204" name="Model"/>
          <p:cNvSpPr/>
          <p:nvPr/>
        </p:nvSpPr>
        <p:spPr>
          <a:xfrm>
            <a:off x="3246120" y="1600200"/>
            <a:ext cx="173736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200" b="1">
                <a:solidFill>
                  <a:srgbClr val="121212"/>
                </a:solidFill>
                <a:latin typeface="Arial"/>
              </a:rPr>
              <a:t>Early-DR model</a:t>
            </a:r>
          </a:p>
          <a:p>
            <a:pPr algn="ctr"/>
            <a:r>
              <a:rPr sz="1050" b="0">
                <a:solidFill>
                  <a:srgbClr val="3a3a3a"/>
                </a:solidFill>
                <a:latin typeface="Arial"/>
              </a:rPr>
              <a:t>EfficientNet-B0 with calibrated probabilities</a:t>
            </a:r>
          </a:p>
        </p:txBody>
      </p:sp>
      <p:sp>
        <p:nvSpPr>
          <p:cNvPr id="205" name="Arrow 2"/>
          <p:cNvSpPr/>
          <p:nvPr/>
        </p:nvSpPr>
        <p:spPr>
          <a:xfrm>
            <a:off x="5074920" y="2286000"/>
            <a:ext cx="365760" cy="0"/>
          </a:xfrm>
          <a:prstGeom prst="line">
            <a:avLst/>
          </a:prstGeom>
          <a:noFill/>
          <a:ln w="25400">
            <a:solidFill>
              <a:srgbClr val="555555"/>
            </a:solidFill>
            <a:prstDash val="solid"/>
            <a:tailEnd type="triangle"/>
          </a:ln>
        </p:spPr>
        <p:txBody>
          <a:bodyPr/>
          <a:lstStyle/>
          <a:p>
            <a:endParaRPr sz="1050"/>
          </a:p>
        </p:txBody>
      </p:sp>
      <p:sp>
        <p:nvSpPr>
          <p:cNvPr id="206" name="Output 1"/>
          <p:cNvSpPr/>
          <p:nvPr/>
        </p:nvSpPr>
        <p:spPr>
          <a:xfrm>
            <a:off x="5532120" y="1280160"/>
            <a:ext cx="3108960" cy="8686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Early-DR flag</a:t>
            </a:r>
          </a:p>
          <a:p>
            <a:pPr algn="l"/>
            <a:r>
              <a:rPr sz="1050" b="0">
                <a:solidFill>
                  <a:srgbClr val="3a3a3a"/>
                </a:solidFill>
                <a:latin typeface="Arial"/>
              </a:rPr>
              <a:t>Grades 1-2 vs No DR at a fixed specificity</a:t>
            </a:r>
          </a:p>
        </p:txBody>
      </p:sp>
      <p:sp>
        <p:nvSpPr>
          <p:cNvPr id="207" name="Output 2"/>
          <p:cNvSpPr/>
          <p:nvPr/>
        </p:nvSpPr>
        <p:spPr>
          <a:xfrm>
            <a:off x="5532120" y="2240280"/>
            <a:ext cx="3108960" cy="8686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Early vs late</a:t>
            </a:r>
          </a:p>
          <a:p>
            <a:pPr algn="l"/>
            <a:r>
              <a:rPr sz="1050" b="0">
                <a:solidFill>
                  <a:srgbClr val="3a3a3a"/>
                </a:solidFill>
                <a:latin typeface="Arial"/>
              </a:rPr>
              <a:t>Separates early from late disease to set priority</a:t>
            </a:r>
          </a:p>
        </p:txBody>
      </p:sp>
      <p:sp>
        <p:nvSpPr>
          <p:cNvPr id="208" name="Output 3"/>
          <p:cNvSpPr/>
          <p:nvPr/>
        </p:nvSpPr>
        <p:spPr>
          <a:xfrm>
            <a:off x="5532120" y="3200400"/>
            <a:ext cx="3108960" cy="86868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50" b="1">
                <a:solidFill>
                  <a:srgbClr val="121212"/>
                </a:solidFill>
                <a:latin typeface="Arial"/>
              </a:rPr>
              <a:t>Calibrated probability</a:t>
            </a:r>
          </a:p>
          <a:p>
            <a:pPr algn="l"/>
            <a:r>
              <a:rPr sz="1050" b="0">
                <a:solidFill>
                  <a:srgbClr val="3a3a3a"/>
                </a:solidFill>
                <a:latin typeface="Arial"/>
              </a:rPr>
              <a:t>A score clinicians can trust, tested on unseen datasets</a:t>
            </a:r>
          </a:p>
        </p:txBody>
      </p:sp>
      <p:sp>
        <p:nvSpPr>
          <p:cNvPr id="20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The model supports the ophthalmologist: faster prioritization of high-risk images.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Research Question</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this project asks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5</a:t>
            </a:r>
          </a:p>
        </p:txBody>
      </p:sp>
      <p:sp>
        <p:nvSpPr>
          <p:cNvPr id="201" name="Question"/>
          <p:cNvSpPr/>
          <p:nvPr/>
        </p:nvSpPr>
        <p:spPr>
          <a:xfrm>
            <a:off x="502920" y="1280160"/>
            <a:ext cx="8138160" cy="73152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300" b="1">
                <a:solidFill>
                  <a:srgbClr val="121212"/>
                </a:solidFill>
                <a:latin typeface="Arial"/>
              </a:rPr>
              <a:t>Does merging datasets help early-DR detection, or does the model only learn which dataset an image came from?</a:t>
            </a:r>
          </a:p>
        </p:txBody>
      </p:sp>
      <p:sp>
        <p:nvSpPr>
          <p:cNvPr id="202" name="RQ1"/>
          <p:cNvSpPr/>
          <p:nvPr/>
        </p:nvSpPr>
        <p:spPr>
          <a:xfrm>
            <a:off x="502920" y="2148840"/>
            <a:ext cx="3977639"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RQ1</a:t>
            </a:r>
          </a:p>
          <a:p>
            <a:pPr algn="l"/>
            <a:r>
              <a:rPr sz="1100" b="0">
                <a:solidFill>
                  <a:srgbClr val="3a3a3a"/>
                </a:solidFill>
                <a:latin typeface="Arial"/>
              </a:rPr>
              <a:t>Does adding EyePACS to DDR improve early-DR sensitivity at a fixed specificity on sources the model has not seen?</a:t>
            </a:r>
          </a:p>
        </p:txBody>
      </p:sp>
      <p:sp>
        <p:nvSpPr>
          <p:cNvPr id="203" name="RQ2"/>
          <p:cNvSpPr/>
          <p:nvPr/>
        </p:nvSpPr>
        <p:spPr>
          <a:xfrm>
            <a:off x="4663440" y="2148840"/>
            <a:ext cx="3977639"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200" b="1">
                <a:solidFill>
                  <a:srgbClr val="121212"/>
                </a:solidFill>
                <a:latin typeface="Arial"/>
              </a:rPr>
              <a:t>RQ2</a:t>
            </a:r>
          </a:p>
          <a:p>
            <a:pPr algn="l"/>
            <a:r>
              <a:rPr sz="1100" b="0">
                <a:solidFill>
                  <a:srgbClr val="3a3a3a"/>
                </a:solidFill>
                <a:latin typeface="Arial"/>
              </a:rPr>
              <a:t>Do calibrated probabilities and a threshold frozen on validation still hold on unseen data?</a:t>
            </a:r>
          </a:p>
        </p:txBody>
      </p:sp>
      <p:sp>
        <p:nvSpPr>
          <p:cNvPr id="204" name="Signal"/>
          <p:cNvSpPr/>
          <p:nvPr/>
        </p:nvSpPr>
        <p:spPr>
          <a:xfrm>
            <a:off x="502920" y="3657600"/>
            <a:ext cx="8138160" cy="5486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Measure: sensitivity at specificity 0.90 for grades 1-2 vs No DR, on held-out EyePACS patients and APTOS.</a:t>
            </a:r>
          </a:p>
        </p:txBody>
      </p:sp>
      <p:sp>
        <p:nvSpPr>
          <p:cNvPr id="205"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Three data arms, one change at a time, with a negative control.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Relevant Works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Data and methods this project builds on</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6</a:t>
            </a:r>
          </a:p>
        </p:txBody>
      </p:sp>
      <p:sp>
        <p:nvSpPr>
          <p:cNvPr id="201" name="H Work"/>
          <p:cNvSpPr/>
          <p:nvPr/>
        </p:nvSpPr>
        <p:spPr>
          <a:xfrm>
            <a:off x="502920" y="1280160"/>
            <a:ext cx="237744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Work</a:t>
            </a:r>
          </a:p>
        </p:txBody>
      </p:sp>
      <p:sp>
        <p:nvSpPr>
          <p:cNvPr id="202" name="H What it provides"/>
          <p:cNvSpPr/>
          <p:nvPr/>
        </p:nvSpPr>
        <p:spPr>
          <a:xfrm>
            <a:off x="2971800" y="1280160"/>
            <a:ext cx="310896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What it provides</a:t>
            </a:r>
          </a:p>
        </p:txBody>
      </p:sp>
      <p:sp>
        <p:nvSpPr>
          <p:cNvPr id="203" name="H Role in this project"/>
          <p:cNvSpPr/>
          <p:nvPr/>
        </p:nvSpPr>
        <p:spPr>
          <a:xfrm>
            <a:off x="6172200" y="1280160"/>
            <a:ext cx="246888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Role in this project</a:t>
            </a:r>
          </a:p>
        </p:txBody>
      </p:sp>
      <p:sp>
        <p:nvSpPr>
          <p:cNvPr id="204" name="W00.55"/>
          <p:cNvSpPr/>
          <p:nvPr/>
        </p:nvSpPr>
        <p:spPr>
          <a:xfrm>
            <a:off x="502920" y="1627632"/>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Gulshan et al. (2016)</a:t>
            </a:r>
          </a:p>
        </p:txBody>
      </p:sp>
      <p:sp>
        <p:nvSpPr>
          <p:cNvPr id="205" name="W03.25"/>
          <p:cNvSpPr/>
          <p:nvPr/>
        </p:nvSpPr>
        <p:spPr>
          <a:xfrm>
            <a:off x="2971800" y="1627632"/>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Deep learning for referable DR (moderate or worse) on retinal images</a:t>
            </a:r>
          </a:p>
        </p:txBody>
      </p:sp>
      <p:sp>
        <p:nvSpPr>
          <p:cNvPr id="206" name="W06.75"/>
          <p:cNvSpPr/>
          <p:nvPr/>
        </p:nvSpPr>
        <p:spPr>
          <a:xfrm>
            <a:off x="6172200" y="1627632"/>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Reference point; I target early DR (grades 1-2)</a:t>
            </a:r>
          </a:p>
        </p:txBody>
      </p:sp>
      <p:sp>
        <p:nvSpPr>
          <p:cNvPr id="207" name="W10.55"/>
          <p:cNvSpPr/>
          <p:nvPr/>
        </p:nvSpPr>
        <p:spPr>
          <a:xfrm>
            <a:off x="502920" y="2121408"/>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Li et al. (2019), DDR</a:t>
            </a:r>
          </a:p>
        </p:txBody>
      </p:sp>
      <p:sp>
        <p:nvSpPr>
          <p:cNvPr id="208" name="W13.25"/>
          <p:cNvSpPr/>
          <p:nvPr/>
        </p:nvSpPr>
        <p:spPr>
          <a:xfrm>
            <a:off x="2971800" y="2121408"/>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Graded fundus image dataset (grades 0-4)</a:t>
            </a:r>
          </a:p>
        </p:txBody>
      </p:sp>
      <p:sp>
        <p:nvSpPr>
          <p:cNvPr id="209" name="W16.75"/>
          <p:cNvSpPr/>
          <p:nvPr/>
        </p:nvSpPr>
        <p:spPr>
          <a:xfrm>
            <a:off x="6172200" y="2121408"/>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Training source and internal test</a:t>
            </a:r>
          </a:p>
        </p:txBody>
      </p:sp>
      <p:sp>
        <p:nvSpPr>
          <p:cNvPr id="210" name="W20.55"/>
          <p:cNvSpPr/>
          <p:nvPr/>
        </p:nvSpPr>
        <p:spPr>
          <a:xfrm>
            <a:off x="502920" y="2615184"/>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Kaggle EyePACS (2015)</a:t>
            </a:r>
          </a:p>
        </p:txBody>
      </p:sp>
      <p:sp>
        <p:nvSpPr>
          <p:cNvPr id="211" name="W23.25"/>
          <p:cNvSpPr/>
          <p:nvPr/>
        </p:nvSpPr>
        <p:spPr>
          <a:xfrm>
            <a:off x="2971800" y="2615184"/>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Large graded fundus image set</a:t>
            </a:r>
          </a:p>
        </p:txBody>
      </p:sp>
      <p:sp>
        <p:nvSpPr>
          <p:cNvPr id="212" name="W26.75"/>
          <p:cNvSpPr/>
          <p:nvPr/>
        </p:nvSpPr>
        <p:spPr>
          <a:xfrm>
            <a:off x="6172200" y="2615184"/>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Second source; held-out patients as test</a:t>
            </a:r>
          </a:p>
        </p:txBody>
      </p:sp>
      <p:sp>
        <p:nvSpPr>
          <p:cNvPr id="213" name="W30.55"/>
          <p:cNvSpPr/>
          <p:nvPr/>
        </p:nvSpPr>
        <p:spPr>
          <a:xfrm>
            <a:off x="502920" y="3108960"/>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APTOS 2019</a:t>
            </a:r>
          </a:p>
        </p:txBody>
      </p:sp>
      <p:sp>
        <p:nvSpPr>
          <p:cNvPr id="214" name="W33.25"/>
          <p:cNvSpPr/>
          <p:nvPr/>
        </p:nvSpPr>
        <p:spPr>
          <a:xfrm>
            <a:off x="2971800" y="3108960"/>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Graded images from a separate source</a:t>
            </a:r>
          </a:p>
        </p:txBody>
      </p:sp>
      <p:sp>
        <p:nvSpPr>
          <p:cNvPr id="215" name="W36.75"/>
          <p:cNvSpPr/>
          <p:nvPr/>
        </p:nvSpPr>
        <p:spPr>
          <a:xfrm>
            <a:off x="6172200" y="3108960"/>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External test only, never trained on</a:t>
            </a:r>
          </a:p>
        </p:txBody>
      </p:sp>
      <p:sp>
        <p:nvSpPr>
          <p:cNvPr id="216" name="W40.55"/>
          <p:cNvSpPr/>
          <p:nvPr/>
        </p:nvSpPr>
        <p:spPr>
          <a:xfrm>
            <a:off x="502920" y="3602736"/>
            <a:ext cx="237744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Guo et al. (2017)</a:t>
            </a:r>
          </a:p>
        </p:txBody>
      </p:sp>
      <p:sp>
        <p:nvSpPr>
          <p:cNvPr id="217" name="W43.25"/>
          <p:cNvSpPr/>
          <p:nvPr/>
        </p:nvSpPr>
        <p:spPr>
          <a:xfrm>
            <a:off x="2971800" y="3602736"/>
            <a:ext cx="310896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Temperature scaling for calibrated outputs</a:t>
            </a:r>
          </a:p>
        </p:txBody>
      </p:sp>
      <p:sp>
        <p:nvSpPr>
          <p:cNvPr id="218" name="W46.75"/>
          <p:cNvSpPr/>
          <p:nvPr/>
        </p:nvSpPr>
        <p:spPr>
          <a:xfrm>
            <a:off x="6172200" y="3602736"/>
            <a:ext cx="246888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0">
                <a:solidFill>
                  <a:srgbClr val="3a3a3a"/>
                </a:solidFill>
                <a:latin typeface="Arial"/>
              </a:rPr>
              <a:t>Used to calibrate probabilities</a:t>
            </a:r>
          </a:p>
        </p:txBody>
      </p:sp>
      <p:sp>
        <p:nvSpPr>
          <p:cNvPr id="21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Still to do: a literature search for early-DR and merged-data studies.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How It Is Different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Common practice as I understand it, to be checked in the literature review</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7</a:t>
            </a:r>
          </a:p>
        </p:txBody>
      </p:sp>
      <p:sp>
        <p:nvSpPr>
          <p:cNvPr id="201" name="H0"/>
          <p:cNvSpPr/>
          <p:nvPr/>
        </p:nvSpPr>
        <p:spPr>
          <a:xfrm>
            <a:off x="502920" y="1280160"/>
            <a:ext cx="1188720" cy="292608"/>
          </a:xfrm>
          <a:prstGeom prst="roundRect">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00" b="1">
                <a:solidFill>
                  <a:srgbClr val="121212"/>
                </a:solidFill>
                <a:latin typeface="Arial"/>
              </a:rPr>
              <a:t/>
            </a:r>
          </a:p>
        </p:txBody>
      </p:sp>
      <p:sp>
        <p:nvSpPr>
          <p:cNvPr id="202" name="H1"/>
          <p:cNvSpPr/>
          <p:nvPr/>
        </p:nvSpPr>
        <p:spPr>
          <a:xfrm>
            <a:off x="1783080" y="1280160"/>
            <a:ext cx="324612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Common in existing work (to verify)</a:t>
            </a:r>
          </a:p>
        </p:txBody>
      </p:sp>
      <p:sp>
        <p:nvSpPr>
          <p:cNvPr id="203" name="H2"/>
          <p:cNvSpPr/>
          <p:nvPr/>
        </p:nvSpPr>
        <p:spPr>
          <a:xfrm>
            <a:off x="5120640" y="1280160"/>
            <a:ext cx="3566160" cy="292608"/>
          </a:xfrm>
          <a:prstGeom prst="roundRect">
            <a:avLst/>
          </a:prstGeom>
          <a:solidFill>
            <a:srgbClr val="1E7A5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This project</a:t>
            </a:r>
          </a:p>
        </p:txBody>
      </p:sp>
      <p:sp>
        <p:nvSpPr>
          <p:cNvPr id="204" name="L0"/>
          <p:cNvSpPr/>
          <p:nvPr/>
        </p:nvSpPr>
        <p:spPr>
          <a:xfrm>
            <a:off x="502920" y="1645920"/>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Target</a:t>
            </a:r>
          </a:p>
        </p:txBody>
      </p:sp>
      <p:sp>
        <p:nvSpPr>
          <p:cNvPr id="205" name="C0"/>
          <p:cNvSpPr/>
          <p:nvPr/>
        </p:nvSpPr>
        <p:spPr>
          <a:xfrm>
            <a:off x="1783080" y="1645920"/>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Referable DR (moderate or worse)</a:t>
            </a:r>
          </a:p>
        </p:txBody>
      </p:sp>
      <p:sp>
        <p:nvSpPr>
          <p:cNvPr id="206" name="D0"/>
          <p:cNvSpPr/>
          <p:nvPr/>
        </p:nvSpPr>
        <p:spPr>
          <a:xfrm>
            <a:off x="5120640" y="1645920"/>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Early DR (grades 1-2) at a fixed specificity</a:t>
            </a:r>
          </a:p>
        </p:txBody>
      </p:sp>
      <p:sp>
        <p:nvSpPr>
          <p:cNvPr id="207" name="L1"/>
          <p:cNvSpPr/>
          <p:nvPr/>
        </p:nvSpPr>
        <p:spPr>
          <a:xfrm>
            <a:off x="502920" y="2167128"/>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Data</a:t>
            </a:r>
          </a:p>
        </p:txBody>
      </p:sp>
      <p:sp>
        <p:nvSpPr>
          <p:cNvPr id="208" name="C1"/>
          <p:cNvSpPr/>
          <p:nvPr/>
        </p:nvSpPr>
        <p:spPr>
          <a:xfrm>
            <a:off x="1783080" y="2167128"/>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One dataset, or merged without testing the merge</a:t>
            </a:r>
          </a:p>
        </p:txBody>
      </p:sp>
      <p:sp>
        <p:nvSpPr>
          <p:cNvPr id="209" name="D1"/>
          <p:cNvSpPr/>
          <p:nvPr/>
        </p:nvSpPr>
        <p:spPr>
          <a:xfrm>
            <a:off x="5120640" y="2167128"/>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The merge is tested: DDR only, source-balanced, and the old merge as a control</a:t>
            </a:r>
          </a:p>
        </p:txBody>
      </p:sp>
      <p:sp>
        <p:nvSpPr>
          <p:cNvPr id="210" name="L2"/>
          <p:cNvSpPr/>
          <p:nvPr/>
        </p:nvSpPr>
        <p:spPr>
          <a:xfrm>
            <a:off x="502920" y="2688336"/>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Imbalance</a:t>
            </a:r>
          </a:p>
        </p:txBody>
      </p:sp>
      <p:sp>
        <p:nvSpPr>
          <p:cNvPr id="211" name="C2"/>
          <p:cNvSpPr/>
          <p:nvPr/>
        </p:nvSpPr>
        <p:spPr>
          <a:xfrm>
            <a:off x="1783080" y="2688336"/>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A new method against a few baselines</a:t>
            </a:r>
          </a:p>
        </p:txBody>
      </p:sp>
      <p:sp>
        <p:nvSpPr>
          <p:cNvPr id="212" name="D2"/>
          <p:cNvSpPr/>
          <p:nvPr/>
        </p:nvSpPr>
        <p:spPr>
          <a:xfrm>
            <a:off x="5120640" y="2688336"/>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Sampler, loss and augmentation one at a time, with a control</a:t>
            </a:r>
          </a:p>
        </p:txBody>
      </p:sp>
      <p:sp>
        <p:nvSpPr>
          <p:cNvPr id="213" name="L3"/>
          <p:cNvSpPr/>
          <p:nvPr/>
        </p:nvSpPr>
        <p:spPr>
          <a:xfrm>
            <a:off x="502920" y="3209544"/>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Transfer</a:t>
            </a:r>
          </a:p>
        </p:txBody>
      </p:sp>
      <p:sp>
        <p:nvSpPr>
          <p:cNvPr id="214" name="C3"/>
          <p:cNvSpPr/>
          <p:nvPr/>
        </p:nvSpPr>
        <p:spPr>
          <a:xfrm>
            <a:off x="1783080" y="3209544"/>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Internal splits or one external set</a:t>
            </a:r>
          </a:p>
        </p:txBody>
      </p:sp>
      <p:sp>
        <p:nvSpPr>
          <p:cNvPr id="215" name="D3"/>
          <p:cNvSpPr/>
          <p:nvPr/>
        </p:nvSpPr>
        <p:spPr>
          <a:xfrm>
            <a:off x="5120640" y="3209544"/>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Held-out EyePACS patients plus APTOS, reported per source</a:t>
            </a:r>
          </a:p>
        </p:txBody>
      </p:sp>
      <p:sp>
        <p:nvSpPr>
          <p:cNvPr id="216" name="L4"/>
          <p:cNvSpPr/>
          <p:nvPr/>
        </p:nvSpPr>
        <p:spPr>
          <a:xfrm>
            <a:off x="502920" y="3730752"/>
            <a:ext cx="1188720" cy="4572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Probabilities</a:t>
            </a:r>
          </a:p>
        </p:txBody>
      </p:sp>
      <p:sp>
        <p:nvSpPr>
          <p:cNvPr id="217" name="C4"/>
          <p:cNvSpPr/>
          <p:nvPr/>
        </p:nvSpPr>
        <p:spPr>
          <a:xfrm>
            <a:off x="1783080" y="3730752"/>
            <a:ext cx="3246120" cy="45720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Accuracy or AUC</a:t>
            </a:r>
          </a:p>
        </p:txBody>
      </p:sp>
      <p:sp>
        <p:nvSpPr>
          <p:cNvPr id="218" name="D4"/>
          <p:cNvSpPr/>
          <p:nvPr/>
        </p:nvSpPr>
        <p:spPr>
          <a:xfrm>
            <a:off x="5120640" y="3730752"/>
            <a:ext cx="3566160" cy="4572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121212"/>
                </a:solidFill>
                <a:latin typeface="Arial"/>
              </a:rPr>
              <a:t>Calibrated, prior-shift-corrected, with reliability curves</a:t>
            </a:r>
          </a:p>
        </p:txBody>
      </p:sp>
      <p:sp>
        <p:nvSpPr>
          <p:cNvPr id="21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value is the design and the evidence. Novelty claims wait for the literature search.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Proposed Methods</a:t>
            </a:r>
          </a:p>
        </p:txBody>
      </p:sp>
      <p:sp>
        <p:nvSpPr>
          <p:cNvPr id="3" name="TextBox 2"/>
          <p:cNvSpPr txBox="1"/>
          <p:nvPr/>
        </p:nvSpPr>
        <p:spPr>
          <a:xfrm>
            <a:off x="566928" y="932688"/>
            <a:ext cx="548640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data arms, one change at a time</a:t>
            </a:r>
          </a:p>
        </p:txBody>
      </p:sp>
      <p:sp>
        <p:nvSpPr>
          <p:cNvPr id="4" name="TextBox 3"/>
          <p:cNvSpPr txBox="1"/>
          <p:nvPr/>
        </p:nvSpPr>
        <p:spPr>
          <a:xfrm>
            <a:off x="566928" y="1207008"/>
            <a:ext cx="7315200" cy="274320"/>
          </a:xfrm>
          <a:prstGeom prst="rect">
            <a:avLst/>
          </a:prstGeom>
          <a:noFill/>
        </p:spPr>
        <p:txBody>
          <a:bodyPr wrap="square" lIns="27432" tIns="18288" rIns="27432" bIns="18288" anchor="t">
            <a:spAutoFit/>
          </a:bodyPr>
          <a:lstStyle/>
          <a:p>
            <a:pPr algn="l"/>
            <a:r>
              <a:rPr sz="1120" b="0" i="0">
                <a:solidFill>
                  <a:srgbClr val="121212"/>
                </a:solidFill>
                <a:latin typeface="Arial"/>
              </a:rPr>
              <a:t>Same model, image size and epochs; frozen patient-level splits; test sets opened once.</a:t>
            </a:r>
          </a:p>
        </p:txBody>
      </p:sp>
      <p:sp>
        <p:nvSpPr>
          <p:cNvPr id="9" name="Rounded Rectangle 8"/>
          <p:cNvSpPr/>
          <p:nvPr/>
        </p:nvSpPr>
        <p:spPr>
          <a:xfrm>
            <a:off x="640080" y="1737360"/>
            <a:ext cx="1335024" cy="64008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Data</a:t>
            </a:r>
            <a:br>
              <a:rPr sz="880" b="1">
                <a:solidFill>
                  <a:srgbClr val="121212"/>
                </a:solidFill>
                <a:latin typeface="Arial"/>
              </a:rPr>
            </a:br>
            <a:r>
              <a:rPr sz="880" b="1">
                <a:solidFill>
                  <a:srgbClr val="121212"/>
                </a:solidFill>
                <a:latin typeface="Arial"/>
              </a:rPr>
              <a:t>DDR, EyePACS, APTOS</a:t>
            </a:r>
          </a:p>
        </p:txBody>
      </p:sp>
      <p:sp>
        <p:nvSpPr>
          <p:cNvPr id="10" name="Rounded Rectangle 9"/>
          <p:cNvSpPr/>
          <p:nvPr/>
        </p:nvSpPr>
        <p:spPr>
          <a:xfrm>
            <a:off x="2249424" y="1737360"/>
            <a:ext cx="1335024" cy="64008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Prepare</a:t>
            </a:r>
            <a:br>
              <a:rPr sz="880" b="1">
                <a:solidFill>
                  <a:srgbClr val="121212"/>
                </a:solidFill>
                <a:latin typeface="Arial"/>
              </a:rPr>
            </a:br>
            <a:r>
              <a:rPr sz="880" b="1">
                <a:solidFill>
                  <a:srgbClr val="121212"/>
                </a:solidFill>
                <a:latin typeface="Arial"/>
              </a:rPr>
              <a:t>Crop, pad, 512 px</a:t>
            </a:r>
          </a:p>
        </p:txBody>
      </p:sp>
      <p:sp>
        <p:nvSpPr>
          <p:cNvPr id="11" name="Rounded Rectangle 10"/>
          <p:cNvSpPr/>
          <p:nvPr/>
        </p:nvSpPr>
        <p:spPr>
          <a:xfrm>
            <a:off x="3858768" y="1737360"/>
            <a:ext cx="1335024" cy="640080"/>
          </a:xfrm>
          <a:prstGeom prst="roundRect">
            <a:avLst/>
          </a:prstGeom>
          <a:solidFill>
            <a:srgbClr val="BCCFE4"/>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Merge arms</a:t>
            </a:r>
            <a:br>
              <a:rPr sz="880" b="1">
                <a:solidFill>
                  <a:srgbClr val="121212"/>
                </a:solidFill>
                <a:latin typeface="Arial"/>
              </a:rPr>
            </a:br>
            <a:r>
              <a:rPr sz="880" b="1">
                <a:solidFill>
                  <a:srgbClr val="121212"/>
                </a:solidFill>
                <a:latin typeface="Arial"/>
              </a:rPr>
              <a:t>A, B, C</a:t>
            </a:r>
          </a:p>
        </p:txBody>
      </p:sp>
      <p:sp>
        <p:nvSpPr>
          <p:cNvPr id="12" name="Rounded Rectangle 11"/>
          <p:cNvSpPr/>
          <p:nvPr/>
        </p:nvSpPr>
        <p:spPr>
          <a:xfrm>
            <a:off x="5468112" y="1737360"/>
            <a:ext cx="1335024" cy="640080"/>
          </a:xfrm>
          <a:prstGeom prst="roundRect">
            <a:avLst/>
          </a:prstGeom>
          <a:solidFill>
            <a:srgbClr val="E0F1EB"/>
          </a:solidFill>
          <a:ln w="9525">
            <a:solidFill>
              <a:srgbClr val="00634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Model</a:t>
            </a:r>
            <a:br>
              <a:rPr sz="880" b="1">
                <a:solidFill>
                  <a:srgbClr val="121212"/>
                </a:solidFill>
                <a:latin typeface="Arial"/>
              </a:rPr>
            </a:br>
            <a:r>
              <a:rPr sz="880" b="1">
                <a:solidFill>
                  <a:srgbClr val="121212"/>
                </a:solidFill>
                <a:latin typeface="Arial"/>
              </a:rPr>
              <a:t>EfficientNet-B0</a:t>
            </a:r>
          </a:p>
        </p:txBody>
      </p:sp>
      <p:sp>
        <p:nvSpPr>
          <p:cNvPr id="13" name="Rounded Rectangle 12"/>
          <p:cNvSpPr/>
          <p:nvPr/>
        </p:nvSpPr>
        <p:spPr>
          <a:xfrm>
            <a:off x="7077456" y="1737360"/>
            <a:ext cx="1335024" cy="640080"/>
          </a:xfrm>
          <a:prstGeom prst="roundRect">
            <a:avLst/>
          </a:prstGeom>
          <a:solidFill>
            <a:srgbClr val="E0F1EB"/>
          </a:solidFill>
          <a:ln w="9525">
            <a:solidFill>
              <a:srgbClr val="00634A"/>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80" b="1">
                <a:solidFill>
                  <a:srgbClr val="121212"/>
                </a:solidFill>
                <a:latin typeface="Arial"/>
              </a:rPr>
              <a:t>Output</a:t>
            </a:r>
            <a:br>
              <a:rPr sz="880" b="1">
                <a:solidFill>
                  <a:srgbClr val="121212"/>
                </a:solidFill>
                <a:latin typeface="Arial"/>
              </a:rPr>
            </a:br>
            <a:r>
              <a:rPr sz="880" b="1">
                <a:solidFill>
                  <a:srgbClr val="121212"/>
                </a:solidFill>
                <a:latin typeface="Arial"/>
              </a:rPr>
              <a:t>Calibrated, 95% CI</a:t>
            </a:r>
          </a:p>
        </p:txBody>
      </p:sp>
      <p:sp>
        <p:nvSpPr>
          <p:cNvPr id="14" name="TextBox 13"/>
          <p:cNvSpPr txBox="1"/>
          <p:nvPr/>
        </p:nvSpPr>
        <p:spPr>
          <a:xfrm>
            <a:off x="694944" y="2743200"/>
            <a:ext cx="2514600" cy="201168"/>
          </a:xfrm>
          <a:prstGeom prst="rect">
            <a:avLst/>
          </a:prstGeom>
          <a:noFill/>
        </p:spPr>
        <p:txBody>
          <a:bodyPr wrap="square" lIns="27432" tIns="18288" rIns="27432" bIns="18288" anchor="t">
            <a:spAutoFit/>
          </a:bodyPr>
          <a:lstStyle/>
          <a:p>
            <a:pPr algn="l"/>
            <a:r>
              <a:rPr sz="1220" b="1" i="0">
                <a:solidFill>
                  <a:srgbClr val="3D5F84"/>
                </a:solidFill>
                <a:latin typeface="Arial"/>
              </a:rPr>
              <a:t>Imbalance methods tested</a:t>
            </a:r>
          </a:p>
        </p:txBody>
      </p:sp>
      <p:sp>
        <p:nvSpPr>
          <p:cNvPr id="15" name="Rounded Rectangle 14"/>
          <p:cNvSpPr/>
          <p:nvPr/>
        </p:nvSpPr>
        <p:spPr>
          <a:xfrm>
            <a:off x="731520" y="3044952"/>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Weighted sampler</a:t>
            </a:r>
          </a:p>
        </p:txBody>
      </p:sp>
      <p:sp>
        <p:nvSpPr>
          <p:cNvPr id="16" name="Rounded Rectangle 15"/>
          <p:cNvSpPr/>
          <p:nvPr/>
        </p:nvSpPr>
        <p:spPr>
          <a:xfrm>
            <a:off x="2130552" y="3044952"/>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Class-balanced loss</a:t>
            </a:r>
          </a:p>
        </p:txBody>
      </p:sp>
      <p:sp>
        <p:nvSpPr>
          <p:cNvPr id="17" name="Rounded Rectangle 16"/>
          <p:cNvSpPr/>
          <p:nvPr/>
        </p:nvSpPr>
        <p:spPr>
          <a:xfrm>
            <a:off x="3529584" y="3044952"/>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Focal loss</a:t>
            </a:r>
          </a:p>
        </p:txBody>
      </p:sp>
      <p:sp>
        <p:nvSpPr>
          <p:cNvPr id="18" name="Rounded Rectangle 17"/>
          <p:cNvSpPr/>
          <p:nvPr/>
        </p:nvSpPr>
        <p:spPr>
          <a:xfrm>
            <a:off x="731520" y="3483864"/>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Strong augmentation</a:t>
            </a:r>
          </a:p>
        </p:txBody>
      </p:sp>
      <p:sp>
        <p:nvSpPr>
          <p:cNvPr id="19" name="Rounded Rectangle 18"/>
          <p:cNvSpPr/>
          <p:nvPr/>
        </p:nvSpPr>
        <p:spPr>
          <a:xfrm>
            <a:off x="2130552" y="3483864"/>
            <a:ext cx="1261872" cy="32004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869" b="1">
                <a:solidFill>
                  <a:srgbClr val="121212"/>
                </a:solidFill>
                <a:latin typeface="Arial"/>
              </a:rPr>
              <a:t>Augmentation control</a:t>
            </a:r>
          </a:p>
        </p:txBody>
      </p:sp>
      <p:sp>
        <p:nvSpPr>
          <p:cNvPr id="20" name="TextBox 19"/>
          <p:cNvSpPr txBox="1"/>
          <p:nvPr/>
        </p:nvSpPr>
        <p:spPr>
          <a:xfrm>
            <a:off x="5010912" y="2743200"/>
            <a:ext cx="2926080" cy="201168"/>
          </a:xfrm>
          <a:prstGeom prst="rect">
            <a:avLst/>
          </a:prstGeom>
          <a:noFill/>
        </p:spPr>
        <p:txBody>
          <a:bodyPr wrap="square" lIns="27432" tIns="18288" rIns="27432" bIns="18288" anchor="t">
            <a:spAutoFit/>
          </a:bodyPr>
          <a:lstStyle/>
          <a:p>
            <a:pPr algn="l"/>
            <a:r>
              <a:rPr sz="1220" b="1" i="0">
                <a:solidFill>
                  <a:srgbClr val="3D5F84"/>
                </a:solidFill>
                <a:latin typeface="Arial"/>
              </a:rPr>
              <a:t>The three arms</a:t>
            </a:r>
          </a:p>
        </p:txBody>
      </p:sp>
      <p:sp>
        <p:nvSpPr>
          <p:cNvPr id="21" name="TextBox 20"/>
          <p:cNvSpPr txBox="1"/>
          <p:nvPr/>
        </p:nvSpPr>
        <p:spPr>
          <a:xfrm>
            <a:off x="5029200" y="2999232"/>
            <a:ext cx="3520440" cy="960120"/>
          </a:xfrm>
          <a:prstGeom prst="rect">
            <a:avLst/>
          </a:prstGeom>
          <a:noFill/>
        </p:spPr>
        <p:txBody>
          <a:bodyPr wrap="square" lIns="18288" tIns="18288" rIns="18288" bIns="18288">
            <a:spAutoFit/>
          </a:bodyPr>
          <a:lstStyle/>
          <a:p>
            <a:pPr algn="l">
              <a:lnSpc>
                <a:spcPct val="105000"/>
              </a:lnSpc>
              <a:spcAft>
                <a:spcPts val="400"/>
              </a:spcAft>
            </a:pPr>
            <a:r>
              <a:rPr sz="1000">
                <a:solidFill>
                  <a:srgbClr val="121212"/>
                </a:solidFill>
                <a:latin typeface="Arial"/>
              </a:rPr>
              <a:t>• A: DDR only (clean baseline)</a:t>
            </a:r>
          </a:p>
          <a:p>
            <a:pPr algn="l">
              <a:lnSpc>
                <a:spcPct val="105000"/>
              </a:lnSpc>
              <a:spcAft>
                <a:spcPts val="400"/>
              </a:spcAft>
            </a:pPr>
            <a:r>
              <a:rPr sz="1000">
                <a:solidFill>
                  <a:srgbClr val="121212"/>
                </a:solidFill>
                <a:latin typeface="Arial"/>
              </a:rPr>
              <a:t>• B: DDR + EyePACS, source-balanced</a:t>
            </a:r>
          </a:p>
          <a:p>
            <a:pPr algn="l">
              <a:lnSpc>
                <a:spcPct val="105000"/>
              </a:lnSpc>
              <a:spcAft>
                <a:spcPts val="400"/>
              </a:spcAft>
            </a:pPr>
            <a:r>
              <a:rPr sz="1000">
                <a:solidFill>
                  <a:srgbClr val="121212"/>
                </a:solidFill>
                <a:latin typeface="Arial"/>
              </a:rPr>
              <a:t>• C: version 1 merge (negative control)</a:t>
            </a:r>
          </a:p>
          <a:p>
            <a:pPr algn="l">
              <a:lnSpc>
                <a:spcPct val="105000"/>
              </a:lnSpc>
              <a:spcAft>
                <a:spcPts val="400"/>
              </a:spcAft>
            </a:pPr>
            <a:r>
              <a:rPr sz="1000">
                <a:solidFill>
                  <a:srgbClr val="121212"/>
                </a:solidFill>
                <a:latin typeface="Arial"/>
              </a:rPr>
              <a:t>• The question: does the merge help, or teach the source?</a:t>
            </a:r>
          </a:p>
        </p:txBody>
      </p:sp>
      <p:sp>
        <p:nvSpPr>
          <p:cNvPr id="22" name="Rounded Rectangle 21"/>
          <p:cNvSpPr/>
          <p:nvPr/>
        </p:nvSpPr>
        <p:spPr>
          <a:xfrm>
            <a:off x="1097280" y="4160520"/>
            <a:ext cx="6903720" cy="329184"/>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r>
              <a:rPr sz="980" b="1">
                <a:solidFill>
                  <a:srgbClr val="121212"/>
                </a:solidFill>
                <a:latin typeface="Arial"/>
              </a:rPr>
              <a:t>Not a new network: the value is the design, the controls and the evidence.</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8</a:t>
            </a:r>
          </a:p>
        </p:txBody>
      </p:sp>
      <p:sp>
        <p:nvSpPr>
          <p:cNvPr id="27" name="Shape 8">
            <a:extLst>
              <a:ext uri="{FF2B5EF4-FFF2-40B4-BE49-F238E27FC236}">
                <a16:creationId xmlns:a16="http://schemas.microsoft.com/office/drawing/2014/main" id="{D3022105-94A7-5198-D6E2-77CC59383713}"/>
              </a:ext>
            </a:extLst>
          </p:cNvPr>
          <p:cNvSpPr/>
          <p:nvPr/>
        </p:nvSpPr>
        <p:spPr>
          <a:xfrm flipV="1">
            <a:off x="2059718" y="2057015"/>
            <a:ext cx="141667" cy="0"/>
          </a:xfrm>
          <a:prstGeom prst="line">
            <a:avLst/>
          </a:prstGeom>
          <a:noFill/>
          <a:ln w="25400">
            <a:solidFill>
              <a:srgbClr val="555555"/>
            </a:solidFill>
            <a:prstDash val="solid"/>
            <a:tailEnd type="triangle"/>
          </a:ln>
        </p:spPr>
        <p:txBody>
          <a:bodyPr/>
          <a:lstStyle/>
          <a:p>
            <a:endParaRPr sz="1050"/>
          </a:p>
        </p:txBody>
      </p:sp>
      <p:sp>
        <p:nvSpPr>
          <p:cNvPr id="29" name="Shape 8">
            <a:extLst>
              <a:ext uri="{FF2B5EF4-FFF2-40B4-BE49-F238E27FC236}">
                <a16:creationId xmlns:a16="http://schemas.microsoft.com/office/drawing/2014/main" id="{582591C4-F68D-4A15-B6B9-5FEB08D109EA}"/>
              </a:ext>
            </a:extLst>
          </p:cNvPr>
          <p:cNvSpPr/>
          <p:nvPr/>
        </p:nvSpPr>
        <p:spPr>
          <a:xfrm flipV="1">
            <a:off x="3660991" y="2074875"/>
            <a:ext cx="141667" cy="0"/>
          </a:xfrm>
          <a:prstGeom prst="line">
            <a:avLst/>
          </a:prstGeom>
          <a:noFill/>
          <a:ln w="25400">
            <a:solidFill>
              <a:srgbClr val="555555"/>
            </a:solidFill>
            <a:prstDash val="solid"/>
            <a:tailEnd type="triangle"/>
          </a:ln>
        </p:spPr>
        <p:txBody>
          <a:bodyPr/>
          <a:lstStyle/>
          <a:p>
            <a:endParaRPr sz="1050"/>
          </a:p>
        </p:txBody>
      </p:sp>
      <p:sp>
        <p:nvSpPr>
          <p:cNvPr id="31" name="Shape 8">
            <a:extLst>
              <a:ext uri="{FF2B5EF4-FFF2-40B4-BE49-F238E27FC236}">
                <a16:creationId xmlns:a16="http://schemas.microsoft.com/office/drawing/2014/main" id="{856019FD-6159-C16E-82A6-31C9B8A4135D}"/>
              </a:ext>
            </a:extLst>
          </p:cNvPr>
          <p:cNvSpPr/>
          <p:nvPr/>
        </p:nvSpPr>
        <p:spPr>
          <a:xfrm flipV="1">
            <a:off x="5262264" y="2074875"/>
            <a:ext cx="141667" cy="0"/>
          </a:xfrm>
          <a:prstGeom prst="line">
            <a:avLst/>
          </a:prstGeom>
          <a:noFill/>
          <a:ln w="25400">
            <a:solidFill>
              <a:srgbClr val="555555"/>
            </a:solidFill>
            <a:prstDash val="solid"/>
            <a:tailEnd type="triangle"/>
          </a:ln>
        </p:spPr>
        <p:txBody>
          <a:bodyPr/>
          <a:lstStyle/>
          <a:p>
            <a:endParaRPr sz="1050"/>
          </a:p>
        </p:txBody>
      </p:sp>
      <p:sp>
        <p:nvSpPr>
          <p:cNvPr id="33" name="Shape 8">
            <a:extLst>
              <a:ext uri="{FF2B5EF4-FFF2-40B4-BE49-F238E27FC236}">
                <a16:creationId xmlns:a16="http://schemas.microsoft.com/office/drawing/2014/main" id="{6B13386C-625D-A28B-390E-14BA0411E195}"/>
              </a:ext>
            </a:extLst>
          </p:cNvPr>
          <p:cNvSpPr/>
          <p:nvPr/>
        </p:nvSpPr>
        <p:spPr>
          <a:xfrm flipV="1">
            <a:off x="6876416" y="2059850"/>
            <a:ext cx="141667" cy="0"/>
          </a:xfrm>
          <a:prstGeom prst="line">
            <a:avLst/>
          </a:prstGeom>
          <a:noFill/>
          <a:ln w="25400">
            <a:solidFill>
              <a:srgbClr val="555555"/>
            </a:solidFill>
            <a:prstDash val="solid"/>
            <a:tailEnd type="triangle"/>
          </a:ln>
        </p:spPr>
        <p:txBody>
          <a:bodyPr/>
          <a:lstStyle/>
          <a:p>
            <a:endParaRPr sz="10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Model Architecture</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From fundus image to a calibrated early-DR flag</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9</a:t>
            </a:r>
          </a:p>
        </p:txBody>
      </p:sp>
      <p:sp>
        <p:nvSpPr>
          <p:cNvPr id="201" name="Stage 1"/>
          <p:cNvSpPr/>
          <p:nvPr/>
        </p:nvSpPr>
        <p:spPr>
          <a:xfrm>
            <a:off x="502920"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Fundus image</a:t>
            </a:r>
          </a:p>
          <a:p>
            <a:pPr algn="ctr"/>
            <a:r>
              <a:rPr sz="1000" b="0">
                <a:solidFill>
                  <a:srgbClr val="3a3a3a"/>
                </a:solidFill>
                <a:latin typeface="Arial"/>
              </a:rPr>
              <a:t>DDR, EyePACS, APTOS</a:t>
            </a:r>
          </a:p>
        </p:txBody>
      </p:sp>
      <p:sp>
        <p:nvSpPr>
          <p:cNvPr id="202" name="Flow arrow 1"/>
          <p:cNvSpPr/>
          <p:nvPr/>
        </p:nvSpPr>
        <p:spPr>
          <a:xfrm>
            <a:off x="1938528" y="2148840"/>
            <a:ext cx="228600" cy="0"/>
          </a:xfrm>
          <a:prstGeom prst="line">
            <a:avLst/>
          </a:prstGeom>
          <a:noFill/>
          <a:ln w="25400">
            <a:solidFill>
              <a:srgbClr val="555555"/>
            </a:solidFill>
            <a:prstDash val="solid"/>
            <a:tailEnd type="triangle"/>
          </a:ln>
        </p:spPr>
        <p:txBody>
          <a:bodyPr/>
          <a:lstStyle/>
          <a:p>
            <a:endParaRPr sz="1050"/>
          </a:p>
        </p:txBody>
      </p:sp>
      <p:sp>
        <p:nvSpPr>
          <p:cNvPr id="203" name="Stage 2"/>
          <p:cNvSpPr/>
          <p:nvPr/>
        </p:nvSpPr>
        <p:spPr>
          <a:xfrm>
            <a:off x="2185416"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Preprocess</a:t>
            </a:r>
          </a:p>
          <a:p>
            <a:pPr algn="ctr"/>
            <a:r>
              <a:rPr sz="1000" b="0">
                <a:solidFill>
                  <a:srgbClr val="3a3a3a"/>
                </a:solidFill>
                <a:latin typeface="Arial"/>
              </a:rPr>
              <a:t>Crop, pad, resize to 512 px</a:t>
            </a:r>
          </a:p>
        </p:txBody>
      </p:sp>
      <p:sp>
        <p:nvSpPr>
          <p:cNvPr id="204" name="Flow arrow 2"/>
          <p:cNvSpPr/>
          <p:nvPr/>
        </p:nvSpPr>
        <p:spPr>
          <a:xfrm>
            <a:off x="3621024" y="2148840"/>
            <a:ext cx="228600" cy="0"/>
          </a:xfrm>
          <a:prstGeom prst="line">
            <a:avLst/>
          </a:prstGeom>
          <a:noFill/>
          <a:ln w="25400">
            <a:solidFill>
              <a:srgbClr val="555555"/>
            </a:solidFill>
            <a:prstDash val="solid"/>
            <a:tailEnd type="triangle"/>
          </a:ln>
        </p:spPr>
        <p:txBody>
          <a:bodyPr/>
          <a:lstStyle/>
          <a:p>
            <a:endParaRPr sz="1050"/>
          </a:p>
        </p:txBody>
      </p:sp>
      <p:sp>
        <p:nvSpPr>
          <p:cNvPr id="205" name="Stage 3"/>
          <p:cNvSpPr/>
          <p:nvPr/>
        </p:nvSpPr>
        <p:spPr>
          <a:xfrm>
            <a:off x="3867912" y="1554480"/>
            <a:ext cx="141732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EfficientNet-B0</a:t>
            </a:r>
          </a:p>
          <a:p>
            <a:pPr algn="ctr"/>
            <a:r>
              <a:rPr sz="1000" b="0">
                <a:solidFill>
                  <a:srgbClr val="3a3a3a"/>
                </a:solidFill>
                <a:latin typeface="Arial"/>
              </a:rPr>
              <a:t>ImageNet weights, one output head</a:t>
            </a:r>
          </a:p>
        </p:txBody>
      </p:sp>
      <p:sp>
        <p:nvSpPr>
          <p:cNvPr id="206" name="Flow arrow 3"/>
          <p:cNvSpPr/>
          <p:nvPr/>
        </p:nvSpPr>
        <p:spPr>
          <a:xfrm>
            <a:off x="5303520" y="2148840"/>
            <a:ext cx="228600" cy="0"/>
          </a:xfrm>
          <a:prstGeom prst="line">
            <a:avLst/>
          </a:prstGeom>
          <a:noFill/>
          <a:ln w="25400">
            <a:solidFill>
              <a:srgbClr val="555555"/>
            </a:solidFill>
            <a:prstDash val="solid"/>
            <a:tailEnd type="triangle"/>
          </a:ln>
        </p:spPr>
        <p:txBody>
          <a:bodyPr/>
          <a:lstStyle/>
          <a:p>
            <a:endParaRPr sz="1050"/>
          </a:p>
        </p:txBody>
      </p:sp>
      <p:sp>
        <p:nvSpPr>
          <p:cNvPr id="207" name="Stage 4"/>
          <p:cNvSpPr/>
          <p:nvPr/>
        </p:nvSpPr>
        <p:spPr>
          <a:xfrm>
            <a:off x="5550408"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Calibration</a:t>
            </a:r>
          </a:p>
          <a:p>
            <a:pPr algn="ctr"/>
            <a:r>
              <a:rPr sz="1000" b="0">
                <a:solidFill>
                  <a:srgbClr val="3a3a3a"/>
                </a:solidFill>
                <a:latin typeface="Arial"/>
              </a:rPr>
              <a:t>Temperature scaling and prior-shift correction</a:t>
            </a:r>
          </a:p>
        </p:txBody>
      </p:sp>
      <p:sp>
        <p:nvSpPr>
          <p:cNvPr id="208" name="Flow arrow 4"/>
          <p:cNvSpPr/>
          <p:nvPr/>
        </p:nvSpPr>
        <p:spPr>
          <a:xfrm>
            <a:off x="6986016" y="2148840"/>
            <a:ext cx="228600" cy="0"/>
          </a:xfrm>
          <a:prstGeom prst="line">
            <a:avLst/>
          </a:prstGeom>
          <a:noFill/>
          <a:ln w="25400">
            <a:solidFill>
              <a:srgbClr val="555555"/>
            </a:solidFill>
            <a:prstDash val="solid"/>
            <a:tailEnd type="triangle"/>
          </a:ln>
        </p:spPr>
        <p:txBody>
          <a:bodyPr/>
          <a:lstStyle/>
          <a:p>
            <a:endParaRPr sz="1050"/>
          </a:p>
        </p:txBody>
      </p:sp>
      <p:sp>
        <p:nvSpPr>
          <p:cNvPr id="209" name="Stage 5"/>
          <p:cNvSpPr/>
          <p:nvPr/>
        </p:nvSpPr>
        <p:spPr>
          <a:xfrm>
            <a:off x="7232904" y="1554480"/>
            <a:ext cx="1417320" cy="137160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Output</a:t>
            </a:r>
          </a:p>
          <a:p>
            <a:pPr algn="ctr"/>
            <a:r>
              <a:rPr sz="1000" b="0">
                <a:solidFill>
                  <a:srgbClr val="3a3a3a"/>
                </a:solidFill>
                <a:latin typeface="Arial"/>
              </a:rPr>
              <a:t>Early-DR probability and flag</a:t>
            </a:r>
          </a:p>
        </p:txBody>
      </p:sp>
      <p:sp>
        <p:nvSpPr>
          <p:cNvPr id="210" name="Note"/>
          <p:cNvSpPr/>
          <p:nvPr/>
        </p:nvSpPr>
        <p:spPr>
          <a:xfrm>
            <a:off x="502920" y="3200400"/>
            <a:ext cx="8138160" cy="82296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Trained on the training split. The best epoch, calibration and a threshold at specificity 0.90 are set on validation only; test sets are opened afterwards.</a:t>
            </a:r>
          </a:p>
        </p:txBody>
      </p:sp>
      <p:sp>
        <p:nvSpPr>
          <p:cNvPr id="211"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design and the evidence are the contribution.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Datasets and Experimental Setup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sources, frozen splits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10</a:t>
            </a:r>
          </a:p>
        </p:txBody>
      </p:sp>
      <p:sp>
        <p:nvSpPr>
          <p:cNvPr id="201" name="H Dataset"/>
          <p:cNvSpPr/>
          <p:nvPr/>
        </p:nvSpPr>
        <p:spPr>
          <a:xfrm>
            <a:off x="502920" y="1280160"/>
            <a:ext cx="137160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Dataset</a:t>
            </a:r>
          </a:p>
        </p:txBody>
      </p:sp>
      <p:sp>
        <p:nvSpPr>
          <p:cNvPr id="202" name="H Role"/>
          <p:cNvSpPr/>
          <p:nvPr/>
        </p:nvSpPr>
        <p:spPr>
          <a:xfrm>
            <a:off x="1965960" y="1280160"/>
            <a:ext cx="237744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Role</a:t>
            </a:r>
          </a:p>
        </p:txBody>
      </p:sp>
      <p:sp>
        <p:nvSpPr>
          <p:cNvPr id="203" name="H Images"/>
          <p:cNvSpPr/>
          <p:nvPr/>
        </p:nvSpPr>
        <p:spPr>
          <a:xfrm>
            <a:off x="4434840" y="1280160"/>
            <a:ext cx="173736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Images</a:t>
            </a:r>
          </a:p>
        </p:txBody>
      </p:sp>
      <p:sp>
        <p:nvSpPr>
          <p:cNvPr id="204" name="H Split"/>
          <p:cNvSpPr/>
          <p:nvPr/>
        </p:nvSpPr>
        <p:spPr>
          <a:xfrm>
            <a:off x="6263640" y="1280160"/>
            <a:ext cx="2377440" cy="292608"/>
          </a:xfrm>
          <a:prstGeom prst="roundRect">
            <a:avLst/>
          </a:prstGeom>
          <a:solidFill>
            <a:srgbClr val="3D5F84"/>
          </a:solidFill>
          <a:ln w="9525">
            <a:solidFill>
              <a:srgbClr val="3D5F8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FFFFFF"/>
                </a:solidFill>
                <a:latin typeface="Arial"/>
              </a:rPr>
              <a:t>Split</a:t>
            </a:r>
          </a:p>
        </p:txBody>
      </p:sp>
      <p:sp>
        <p:nvSpPr>
          <p:cNvPr id="205" name="D00.55"/>
          <p:cNvSpPr/>
          <p:nvPr/>
        </p:nvSpPr>
        <p:spPr>
          <a:xfrm>
            <a:off x="502920" y="1627632"/>
            <a:ext cx="137160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3a3a3a"/>
                </a:solidFill>
                <a:latin typeface="Arial"/>
              </a:rPr>
              <a:t>DDR</a:t>
            </a:r>
          </a:p>
        </p:txBody>
      </p:sp>
      <p:sp>
        <p:nvSpPr>
          <p:cNvPr id="206" name="D02.15"/>
          <p:cNvSpPr/>
          <p:nvPr/>
        </p:nvSpPr>
        <p:spPr>
          <a:xfrm>
            <a:off x="1965960" y="1627632"/>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Training source and internal test</a:t>
            </a:r>
          </a:p>
        </p:txBody>
      </p:sp>
      <p:sp>
        <p:nvSpPr>
          <p:cNvPr id="207" name="D04.85"/>
          <p:cNvSpPr/>
          <p:nvPr/>
        </p:nvSpPr>
        <p:spPr>
          <a:xfrm>
            <a:off x="4434840" y="1627632"/>
            <a:ext cx="173736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12,522</a:t>
            </a:r>
          </a:p>
        </p:txBody>
      </p:sp>
      <p:sp>
        <p:nvSpPr>
          <p:cNvPr id="208" name="D06.85"/>
          <p:cNvSpPr/>
          <p:nvPr/>
        </p:nvSpPr>
        <p:spPr>
          <a:xfrm>
            <a:off x="6263640" y="1627632"/>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Random 60/20/20 (patient IDs not available)</a:t>
            </a:r>
          </a:p>
        </p:txBody>
      </p:sp>
      <p:sp>
        <p:nvSpPr>
          <p:cNvPr id="209" name="D10.55"/>
          <p:cNvSpPr/>
          <p:nvPr/>
        </p:nvSpPr>
        <p:spPr>
          <a:xfrm>
            <a:off x="502920" y="2194560"/>
            <a:ext cx="137160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3a3a3a"/>
                </a:solidFill>
                <a:latin typeface="Arial"/>
              </a:rPr>
              <a:t>EyePACS</a:t>
            </a:r>
          </a:p>
        </p:txBody>
      </p:sp>
      <p:sp>
        <p:nvSpPr>
          <p:cNvPr id="210" name="D12.15"/>
          <p:cNvSpPr/>
          <p:nvPr/>
        </p:nvSpPr>
        <p:spPr>
          <a:xfrm>
            <a:off x="1965960" y="2194560"/>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Second source; held-out test</a:t>
            </a:r>
          </a:p>
        </p:txBody>
      </p:sp>
      <p:sp>
        <p:nvSpPr>
          <p:cNvPr id="211" name="D14.85"/>
          <p:cNvSpPr/>
          <p:nvPr/>
        </p:nvSpPr>
        <p:spPr>
          <a:xfrm>
            <a:off x="4434840" y="2194560"/>
            <a:ext cx="173736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35,108</a:t>
            </a:r>
          </a:p>
        </p:txBody>
      </p:sp>
      <p:sp>
        <p:nvSpPr>
          <p:cNvPr id="212" name="D16.85"/>
          <p:cNvSpPr/>
          <p:nvPr/>
        </p:nvSpPr>
        <p:spPr>
          <a:xfrm>
            <a:off x="6263640" y="2194560"/>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By patient, 70/15/15</a:t>
            </a:r>
          </a:p>
        </p:txBody>
      </p:sp>
      <p:sp>
        <p:nvSpPr>
          <p:cNvPr id="213" name="D20.55"/>
          <p:cNvSpPr/>
          <p:nvPr/>
        </p:nvSpPr>
        <p:spPr>
          <a:xfrm>
            <a:off x="502920" y="2761488"/>
            <a:ext cx="137160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1">
                <a:solidFill>
                  <a:srgbClr val="3a3a3a"/>
                </a:solidFill>
                <a:latin typeface="Arial"/>
              </a:rPr>
              <a:t>APTOS</a:t>
            </a:r>
          </a:p>
        </p:txBody>
      </p:sp>
      <p:sp>
        <p:nvSpPr>
          <p:cNvPr id="214" name="D22.15"/>
          <p:cNvSpPr/>
          <p:nvPr/>
        </p:nvSpPr>
        <p:spPr>
          <a:xfrm>
            <a:off x="1965960" y="2761488"/>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External test only</a:t>
            </a:r>
          </a:p>
        </p:txBody>
      </p:sp>
      <p:sp>
        <p:nvSpPr>
          <p:cNvPr id="215" name="D24.85"/>
          <p:cNvSpPr/>
          <p:nvPr/>
        </p:nvSpPr>
        <p:spPr>
          <a:xfrm>
            <a:off x="4434840" y="2761488"/>
            <a:ext cx="173736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3,662</a:t>
            </a:r>
          </a:p>
        </p:txBody>
      </p:sp>
      <p:sp>
        <p:nvSpPr>
          <p:cNvPr id="216" name="D26.85"/>
          <p:cNvSpPr/>
          <p:nvPr/>
        </p:nvSpPr>
        <p:spPr>
          <a:xfrm>
            <a:off x="6263640" y="2761488"/>
            <a:ext cx="2377440" cy="512064"/>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050" b="0">
                <a:solidFill>
                  <a:srgbClr val="3a3a3a"/>
                </a:solidFill>
                <a:latin typeface="Arial"/>
              </a:rPr>
              <a:t>Never used for training or selection</a:t>
            </a:r>
          </a:p>
        </p:txBody>
      </p:sp>
      <p:sp>
        <p:nvSpPr>
          <p:cNvPr id="217" name="Model"/>
          <p:cNvSpPr/>
          <p:nvPr/>
        </p:nvSpPr>
        <p:spPr>
          <a:xfrm>
            <a:off x="502920" y="3429000"/>
            <a:ext cx="3977639" cy="77724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Model and training</a:t>
            </a:r>
          </a:p>
          <a:p>
            <a:pPr algn="l"/>
            <a:r>
              <a:rPr sz="1050" b="0">
                <a:solidFill>
                  <a:srgbClr val="3a3a3a"/>
                </a:solidFill>
                <a:latin typeface="Arial"/>
              </a:rPr>
              <a:t>EfficientNet-B0, 512 px, 3 seeds, Kaggle GPU</a:t>
            </a:r>
          </a:p>
        </p:txBody>
      </p:sp>
      <p:sp>
        <p:nvSpPr>
          <p:cNvPr id="218" name="Calib"/>
          <p:cNvSpPr/>
          <p:nvPr/>
        </p:nvSpPr>
        <p:spPr>
          <a:xfrm>
            <a:off x="4663440" y="3429000"/>
            <a:ext cx="3977639" cy="77724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1">
                <a:solidFill>
                  <a:srgbClr val="121212"/>
                </a:solidFill>
                <a:latin typeface="Arial"/>
              </a:rPr>
              <a:t>Calibration</a:t>
            </a:r>
          </a:p>
          <a:p>
            <a:pPr algn="l"/>
            <a:r>
              <a:rPr sz="1050" b="0">
                <a:solidFill>
                  <a:srgbClr val="3a3a3a"/>
                </a:solidFill>
                <a:latin typeface="Arial"/>
              </a:rPr>
              <a:t>Temperature and prior shift on validation; threshold at specificity 0.90</a:t>
            </a:r>
          </a:p>
        </p:txBody>
      </p:sp>
      <p:sp>
        <p:nvSpPr>
          <p:cNvPr id="219"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Splits are frozen files; test sets are opened only through a declared analysis.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Next Steps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is planned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11</a:t>
            </a:r>
          </a:p>
        </p:txBody>
      </p:sp>
      <p:sp>
        <p:nvSpPr>
          <p:cNvPr id="201" name="Steps"/>
          <p:cNvSpPr/>
          <p:nvPr/>
        </p:nvSpPr>
        <p:spPr>
          <a:xfrm>
            <a:off x="502920" y="1280160"/>
            <a:ext cx="8138160" cy="237744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600" b="0">
                <a:solidFill>
                  <a:srgbClr val="3a3a3a"/>
                </a:solidFill>
                <a:latin typeface="Arial"/>
              </a:rPr>
              <a:t>• Train the three data arms with several seeds on frozen patient-level splits</a:t>
            </a:r>
          </a:p>
          <a:p>
            <a:pPr algn="l"/>
            <a:r>
              <a:rPr sz="1600" b="0">
                <a:solidFill>
                  <a:srgbClr val="3a3a3a"/>
                </a:solidFill>
                <a:latin typeface="Arial"/>
              </a:rPr>
              <a:t>• Compare sampler, loss and augmentation methods one at a time</a:t>
            </a:r>
          </a:p>
          <a:p>
            <a:pPr algn="l"/>
            <a:r>
              <a:rPr sz="1600" b="0">
                <a:solidFill>
                  <a:srgbClr val="3a3a3a"/>
                </a:solidFill>
                <a:latin typeface="Arial"/>
              </a:rPr>
              <a:t>• Test on held-out EyePACS patients and APTOS, with 95% confidence intervals</a:t>
            </a:r>
          </a:p>
          <a:p>
            <a:pPr algn="l"/>
            <a:r>
              <a:rPr sz="1600" b="0">
                <a:solidFill>
                  <a:srgbClr val="3a3a3a"/>
                </a:solidFill>
                <a:latin typeface="Arial"/>
              </a:rPr>
              <a:t>• Calibrate probabilities and report sensitivity at a fixed specificity</a:t>
            </a:r>
          </a:p>
          <a:p>
            <a:pPr algn="l"/>
            <a:r>
              <a:rPr sz="1600" b="0">
                <a:solidFill>
                  <a:srgbClr val="3a3a3a"/>
                </a:solidFill>
                <a:latin typeface="Arial"/>
              </a:rPr>
              <a:t>• Finish the literature search and write the thesis</a:t>
            </a:r>
          </a:p>
        </p:txBody>
      </p:sp>
      <p:sp>
        <p:nvSpPr>
          <p:cNvPr id="202" name="Later"/>
          <p:cNvSpPr/>
          <p:nvPr/>
        </p:nvSpPr>
        <p:spPr>
          <a:xfrm>
            <a:off x="502920" y="3703320"/>
            <a:ext cx="8138160" cy="50292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Later, as an extension: an external check on IDRiD.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References</a:t>
            </a:r>
          </a:p>
        </p:txBody>
      </p:sp>
      <p:sp>
        <p:nvSpPr>
          <p:cNvPr id="3" name="TextBox 2"/>
          <p:cNvSpPr txBox="1"/>
          <p:nvPr/>
        </p:nvSpPr>
        <p:spPr>
          <a:xfrm>
            <a:off x="713231" y="987552"/>
            <a:ext cx="6640605" cy="1373902"/>
          </a:xfrm>
          <a:prstGeom prst="rect">
            <a:avLst/>
          </a:prstGeom>
          <a:noFill/>
        </p:spPr>
        <p:txBody>
          <a:bodyPr wrap="square" lIns="18288" tIns="18288" rIns="18288" bIns="18288">
            <a:spAutoFit/>
          </a:bodyPr>
          <a:lstStyle/>
          <a:p>
            <a:pPr algn="l">
              <a:lnSpc>
                <a:spcPct val="105000"/>
              </a:lnSpc>
              <a:spcAft>
                <a:spcPts val="400"/>
              </a:spcAft>
            </a:pPr>
            <a:r>
              <a:rPr sz="919" dirty="0">
                <a:solidFill>
                  <a:srgbClr val="121212"/>
                </a:solidFill>
                <a:latin typeface="Arial"/>
              </a:rPr>
              <a:t>• International Diabetes Federation. IDF Diabetes Atlas, 11th ed., 2025.</a:t>
            </a:r>
          </a:p>
          <a:p>
            <a:pPr algn="l">
              <a:lnSpc>
                <a:spcPct val="105000"/>
              </a:lnSpc>
              <a:spcAft>
                <a:spcPts val="400"/>
              </a:spcAft>
            </a:pPr>
            <a:r>
              <a:rPr sz="919" dirty="0">
                <a:solidFill>
                  <a:srgbClr val="121212"/>
                </a:solidFill>
                <a:latin typeface="Arial"/>
              </a:rPr>
              <a:t>• Ting, D. S. W., et al. 'Artificial intelligence-assisted diabetic retinopathy screening.' Ophthalmology, 2021.</a:t>
            </a:r>
          </a:p>
          <a:p>
            <a:pPr algn="l">
              <a:lnSpc>
                <a:spcPct val="105000"/>
              </a:lnSpc>
              <a:spcAft>
                <a:spcPts val="400"/>
              </a:spcAft>
            </a:pPr>
            <a:r>
              <a:rPr sz="919" dirty="0">
                <a:solidFill>
                  <a:srgbClr val="121212"/>
                </a:solidFill>
                <a:latin typeface="Arial"/>
              </a:rPr>
              <a:t>• Shah, P., et al. 'Progression of DR and screening demand.' JAMA Ophthalmology, 2024.</a:t>
            </a:r>
            <a:endParaRPr lang="en-US" sz="919" dirty="0">
              <a:solidFill>
                <a:srgbClr val="121212"/>
              </a:solidFill>
              <a:latin typeface="Arial"/>
            </a:endParaRPr>
          </a:p>
          <a:p>
            <a:pPr>
              <a:lnSpc>
                <a:spcPct val="105000"/>
              </a:lnSpc>
              <a:spcAft>
                <a:spcPts val="400"/>
              </a:spcAft>
            </a:pPr>
            <a:r>
              <a:rPr lang="en-US" sz="919" dirty="0">
                <a:solidFill>
                  <a:srgbClr val="121212"/>
                </a:solidFill>
              </a:rPr>
              <a:t>• WHO. Guidelines on diabetic retinopathy screening, 2023.</a:t>
            </a:r>
          </a:p>
          <a:p>
            <a:pPr>
              <a:lnSpc>
                <a:spcPct val="105000"/>
              </a:lnSpc>
              <a:spcAft>
                <a:spcPts val="400"/>
              </a:spcAft>
            </a:pPr>
            <a:r>
              <a:rPr lang="en-US" sz="919" dirty="0">
                <a:solidFill>
                  <a:srgbClr val="121212"/>
                </a:solidFill>
              </a:rPr>
              <a:t>• CDC. Eye-health guidance for people with diabetes, 2024.</a:t>
            </a:r>
          </a:p>
          <a:p>
            <a:pPr>
              <a:lnSpc>
                <a:spcPct val="105000"/>
              </a:lnSpc>
              <a:spcAft>
                <a:spcPts val="400"/>
              </a:spcAft>
            </a:pPr>
            <a:r>
              <a:rPr lang="en-US" sz="919" dirty="0">
                <a:solidFill>
                  <a:srgbClr val="121212"/>
                </a:solidFill>
              </a:rPr>
              <a:t>• Li, T., et al. Diagnostic assessment of deep learning algorithms for DR screening (DDR). Information Sciences, 2019.</a:t>
            </a:r>
          </a:p>
          <a:p>
            <a:pPr>
              <a:lnSpc>
                <a:spcPct val="105000"/>
              </a:lnSpc>
              <a:spcAft>
                <a:spcPts val="400"/>
              </a:spcAft>
            </a:pPr>
            <a:r>
              <a:rPr lang="en-US" sz="919" dirty="0">
                <a:solidFill>
                  <a:srgbClr val="121212"/>
                </a:solidFill>
              </a:rPr>
              <a:t>• Kaggle. Diabetic Retinopathy Detection (EyePACS), 2015; APTOS 2019 Blindness Detection.</a:t>
            </a:r>
          </a:p>
          <a:p>
            <a:pPr>
              <a:lnSpc>
                <a:spcPct val="105000"/>
              </a:lnSpc>
              <a:spcAft>
                <a:spcPts val="400"/>
              </a:spcAft>
            </a:pPr>
            <a:r>
              <a:rPr lang="en-US" sz="919" dirty="0">
                <a:solidFill>
                  <a:srgbClr val="121212"/>
                </a:solidFill>
              </a:rPr>
              <a:t>• Guo, C., et al. On calibration of modern neural networks. ICML, 2017.</a:t>
            </a:r>
          </a:p>
          <a:p>
            <a:pPr>
              <a:lnSpc>
                <a:spcPct val="105000"/>
              </a:lnSpc>
              <a:spcAft>
                <a:spcPts val="400"/>
              </a:spcAft>
            </a:pPr>
            <a:r>
              <a:rPr lang="en-US" sz="919" dirty="0">
                <a:solidFill>
                  <a:srgbClr val="121212"/>
                </a:solidFill>
              </a:rPr>
              <a:t>• Sipka, T., et al. The hitchhiker’s guide to prior-shift adaptation. WACV, 2022.</a:t>
            </a:r>
          </a:p>
          <a:p>
            <a:pPr algn="l">
              <a:lnSpc>
                <a:spcPct val="105000"/>
              </a:lnSpc>
              <a:spcAft>
                <a:spcPts val="400"/>
              </a:spcAft>
            </a:pPr>
            <a:r>
              <a:rPr sz="919" dirty="0">
                <a:solidFill>
                  <a:srgbClr val="121212"/>
                </a:solidFill>
                <a:latin typeface="Arial"/>
              </a:rPr>
              <a:t>• Gulshan, V., et al. Development and validation of a deep learning algorithm for detection of diabetic retinopathy. JAMA, 2016.</a:t>
            </a:r>
          </a:p>
          <a:p>
            <a:pPr algn="l">
              <a:lnSpc>
                <a:spcPct val="105000"/>
              </a:lnSpc>
              <a:spcAft>
                <a:spcPts val="400"/>
              </a:spcAft>
            </a:pPr>
            <a:r>
              <a:rPr sz="919" dirty="0">
                <a:solidFill>
                  <a:srgbClr val="121212"/>
                </a:solidFill>
                <a:latin typeface="Arial"/>
              </a:rPr>
              <a:t>• Tan, M., &amp; Le, Q. EfficientNet: Rethinking model scaling for convolutional neural networks. ICML, 2019.</a:t>
            </a:r>
          </a:p>
        </p:txBody>
      </p:sp>
      <p:sp>
        <p:nvSpPr>
          <p:cNvPr id="7" name="TextBox 6">
            <a:extLst>
              <a:ext uri="{FF2B5EF4-FFF2-40B4-BE49-F238E27FC236}">
                <a16:creationId xmlns:a16="http://schemas.microsoft.com/office/drawing/2014/main" id="{20203F86-CDFA-B93E-DF6D-3F1C21538AEF}"/>
              </a:ext>
            </a:extLst>
          </p:cNvPr>
          <p:cNvSpPr txBox="1"/>
          <p:nvPr/>
        </p:nvSpPr>
        <p:spPr>
          <a:xfrm>
            <a:off x="8801100" y="4792436"/>
            <a:ext cx="342900" cy="261610"/>
          </a:xfrm>
          <a:prstGeom prst="rect">
            <a:avLst/>
          </a:prstGeom>
          <a:noFill/>
        </p:spPr>
        <p:txBody>
          <a:bodyPr wrap="square" rtlCol="0">
            <a:spAutoFit/>
          </a:bodyPr>
          <a:lstStyle/>
          <a:p>
            <a:r>
              <a:rPr lang="en-US" sz="1100" dirty="0"/>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a:spLocks noGrp="1"/>
          </p:cNvSpPr>
          <p:nvPr>
            <p:ph type="title"/>
          </p:nvPr>
        </p:nvSpPr>
        <p:spPr>
          <a:xfrm>
            <a:off x="866073" y="1977949"/>
            <a:ext cx="3592512" cy="593801"/>
          </a:xfrm>
          <a:prstGeom prst="rect">
            <a:avLst/>
          </a:prstGeom>
          <a:noFill/>
          <a:ln>
            <a:noFill/>
          </a:ln>
        </p:spPr>
        <p:txBody>
          <a:bodyPr spcFirstLastPara="1" wrap="square" lIns="91425" tIns="45700" rIns="91425" bIns="45700" anchor="t" anchorCtr="0">
            <a:normAutofit fontScale="90000"/>
          </a:bodyPr>
          <a:lstStyle/>
          <a:p>
            <a:pPr marL="0" lvl="0" indent="0" algn="ctr" rtl="0">
              <a:lnSpc>
                <a:spcPct val="100000"/>
              </a:lnSpc>
              <a:spcBef>
                <a:spcPts val="0"/>
              </a:spcBef>
              <a:spcAft>
                <a:spcPts val="0"/>
              </a:spcAft>
              <a:buClr>
                <a:schemeClr val="dk1"/>
              </a:buClr>
              <a:buSzPct val="100000"/>
              <a:buFont typeface="Arial"/>
              <a:buNone/>
            </a:pPr>
            <a:r>
              <a:rPr lang="en-US" sz="3600"/>
              <a:t>THANK YOU</a:t>
            </a:r>
            <a:endParaRPr/>
          </a:p>
        </p:txBody>
      </p:sp>
      <p:sp>
        <p:nvSpPr>
          <p:cNvPr id="12" name="TYSub"/>
          <p:cNvSpPr txBox="1"/>
          <p:nvPr/>
        </p:nvSpPr>
        <p:spPr>
          <a:xfrm>
            <a:off x="500000" y="2650000"/>
            <a:ext cx="4000000" cy="380000"/>
          </a:xfrm>
          <a:prstGeom prst="rect">
            <a:avLst/>
          </a:prstGeom>
          <a:noFill/>
        </p:spPr>
        <p:txBody>
          <a:bodyPr wrap="square" lIns="0" tIns="0" rIns="0" bIns="0">
            <a:spAutoFit/>
          </a:bodyPr>
          <a:lstStyle/>
          <a:p>
            <a:pPr algn="ctr"/>
            <a:r>
              <a:rPr lang="en-US" sz="1400" i="1" dirty="0">
                <a:solidFill>
                  <a:srgbClr val="444444"/>
                </a:solidFill>
              </a:rPr>
              <a:t>Questions? We’d love to discuss!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16647</TotalTime>
  <Words>737</Words>
  <Application>Microsoft Office PowerPoint</Application>
  <PresentationFormat>On-screen Show (16:9)</PresentationFormat>
  <Paragraphs>142</Paragraphs>
  <Slides>10</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About Diabetic Retinopathy</vt:lpstr>
      <vt:lpstr>PowerPoint Presentation</vt:lpstr>
      <vt:lpstr>Research Aim</vt:lpstr>
      <vt:lpstr>PowerPoint Presentation</vt:lpstr>
      <vt:lpstr>How It Differs From Current Work</vt:lpstr>
      <vt:lpstr>PowerPoint Presentation</vt:lpstr>
      <vt:lpstr>Next Steps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Roy Suja, Roshan</dc:creator>
  <cp:lastModifiedBy>Kazim Alikhan</cp:lastModifiedBy>
  <cp:revision>18</cp:revision>
  <dcterms:modified xsi:type="dcterms:W3CDTF">2026-08-01T08:50:42Z</dcterms:modified>
</cp:coreProperties>
</file>