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7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8" r:id="rId3"/>
    <p:sldId id="259" r:id="rId5"/>
    <p:sldId id="294" r:id="rId20"/>
    <p:sldId id="292" r:id="rId18"/>
    <p:sldId id="288" r:id="rId7"/>
    <p:sldId id="293" r:id="rId19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265" r:id="rId10"/>
    <p:sldId id="267" r:id="rId11"/>
  </p:sldIdLst>
  <p:sldSz cx="9144000" cy="5143500" type="screen16x9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4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  <Relationship Id="rId19" Type="http://schemas.openxmlformats.org/officeDocument/2006/relationships/slide" Target="slides/slide12.xml"/>
  <Relationship Id="rId20" Type="http://schemas.openxmlformats.org/officeDocument/2006/relationships/slide" Target="slides/slide13.xml"/>
  <Relationship Id="rId21" Type="http://schemas.openxmlformats.org/officeDocument/2006/relationships/slide" Target="slides/slide14.xml"/>
  <Relationship Id="rId22" Type="http://schemas.openxmlformats.org/officeDocument/2006/relationships/slide" Target="slides/slide15.xml"/>
  <Relationship Id="rId23" Type="http://schemas.openxmlformats.org/officeDocument/2006/relationships/slide" Target="slides/slide16.xml"/>
  <Relationship Id="rId24" Type="http://schemas.openxmlformats.org/officeDocument/2006/relationships/slide" Target="slides/slide17.xml"/>
  <Relationship Id="rId25" Type="http://schemas.openxmlformats.org/officeDocument/2006/relationships/slide" Target="slides/slide18.xml"/>
  <Relationship Id="rId26" Type="http://schemas.openxmlformats.org/officeDocument/2006/relationships/slide" Target="slides/slide19.xml"/>
  <Relationship Id="rId27" Type="http://schemas.openxmlformats.org/officeDocument/2006/relationships/slide" Target="slides/slide20.xml"/>
  <Relationship Id="rId28" Type="http://schemas.openxmlformats.org/officeDocument/2006/relationships/slide" Target="slides/slide21.xml"/>
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312860-1975-8061-2CE3-B8E45943A6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FCB5A-3658-0982-E0B8-69C71A92D5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A7F9D-9802-4ED6-BF56-25C5E2F8229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939F0A-E2E7-21E1-8E46-E4DB86F5B2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E522C-0746-6130-9787-88A42369E1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515B6-B6AE-41D6-8F0F-4DD928EAA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083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what I have measured so far, and it changed the design of the project. Because the top-up is applied only to the short grades, grades 0 and 2 contain no EyePACS images while grades 1 and 3 are nearly 80 percent EyePACS. A quarter of the severity label is recoverable from the dataset name alone. Every merged EyePACS image carries disease, so a model that learns only to recognise the camera gets 38.7 percent of disease cases right with no false alarms — and only for the earliest decision, which is the one I am targeting. So the merge is not just an imbalance fix; it has a cost, and the thesis now measures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136195" y="2318983"/>
            <a:ext cx="5654749" cy="55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136195" y="2894946"/>
            <a:ext cx="565474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126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299504" y="184149"/>
            <a:ext cx="1819687" cy="1937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6677" y="934104"/>
            <a:ext cx="6928451" cy="538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/>
          <p:cNvPicPr preferRelativeResize="0"/>
          <p:nvPr/>
        </p:nvPicPr>
        <p:blipFill rotWithShape="1">
          <a:blip r:embed="rId5">
            <a:alphaModFix amt="12000"/>
          </a:blip>
          <a:srcRect l="4751" t="1941" r="-4750" b="51083"/>
          <a:stretch/>
        </p:blipFill>
        <p:spPr>
          <a:xfrm>
            <a:off x="6864096" y="1829521"/>
            <a:ext cx="1924301" cy="3313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536408" y="1177748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6" name="Google Shape;26;p3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28" name="Google Shape;28;p3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3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l="2193" t="294" r="2531" b="-293"/>
          <a:stretch/>
        </p:blipFill>
        <p:spPr>
          <a:xfrm>
            <a:off x="1793311" y="0"/>
            <a:ext cx="7350689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oogle Shape;32;p4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33" name="Google Shape;33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35;p4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36" name="Google Shape;36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4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5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76603" y="556528"/>
            <a:ext cx="4167397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47" name="Google Shape;47;p5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4840586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06209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5332353" y="9004"/>
            <a:ext cx="3788497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6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r="16118"/>
          <a:stretch/>
        </p:blipFill>
        <p:spPr>
          <a:xfrm>
            <a:off x="5625197" y="556528"/>
            <a:ext cx="3495654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54" name="Google Shape;54;p6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56" name="Google Shape;56;p6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5489179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4802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7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83760" y="702216"/>
            <a:ext cx="3865880" cy="445028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 flipH="1">
            <a:off x="4683073" y="720320"/>
            <a:ext cx="19949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36668" y="9004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ection Header">
  <p:cSld name="5_Section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836" y="0"/>
            <a:ext cx="453603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4791393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body" idx="1"/>
          </p:nvPr>
        </p:nvSpPr>
        <p:spPr>
          <a:xfrm>
            <a:off x="4791393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4427668" y="729324"/>
            <a:ext cx="14320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9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4677507" y="914401"/>
            <a:ext cx="4466494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79" name="Google Shape;79;p9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 b="19853"/>
          <a:stretch/>
        </p:blipFill>
        <p:spPr>
          <a:xfrm rot="-8851503">
            <a:off x="5255191" y="465522"/>
            <a:ext cx="930293" cy="242273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4677505" y="0"/>
            <a:ext cx="4466495" cy="914400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4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32058" y="2670664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>
            <a:spLocks noGrp="1"/>
          </p:cNvSpPr>
          <p:nvPr>
            <p:ph type="ctrTitle"/>
          </p:nvPr>
        </p:nvSpPr>
        <p:spPr>
          <a:xfrm>
            <a:off x="330905" y="295171"/>
            <a:ext cx="2249504" cy="551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15433" y="642359"/>
            <a:ext cx="804339" cy="81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5433" y="1660176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163311" y="665781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 txBox="1"/>
          <p:nvPr/>
        </p:nvSpPr>
        <p:spPr>
          <a:xfrm>
            <a:off x="3186250" y="170068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 txBox="1"/>
          <p:nvPr/>
        </p:nvSpPr>
        <p:spPr>
          <a:xfrm>
            <a:off x="3194563" y="270652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3746" y="3663543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0"/>
          <p:cNvSpPr txBox="1"/>
          <p:nvPr/>
        </p:nvSpPr>
        <p:spPr>
          <a:xfrm>
            <a:off x="3186250" y="3704055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1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-26057" y="-9562"/>
            <a:ext cx="543222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1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97" name="Google Shape;97;p11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1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1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00" name="Google Shape;100;p11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1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1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ection Header">
  <p:cSld name="3_Section 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2" descr="A group of people posing for the camera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9563"/>
            <a:ext cx="5387332" cy="5161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12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109" name="Google Shape;109;p12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2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12" name="Google Shape;112;p12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2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2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2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2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2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Section Header">
  <p:cSld name="4_Section Head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 descr="A group of people walking down a street  Description automatically generated"/>
          <p:cNvPicPr preferRelativeResize="0"/>
          <p:nvPr/>
        </p:nvPicPr>
        <p:blipFill rotWithShape="1">
          <a:blip r:embed="rId2">
            <a:alphaModFix/>
          </a:blip>
          <a:srcRect t="-162" b="-176"/>
          <a:stretch/>
        </p:blipFill>
        <p:spPr>
          <a:xfrm>
            <a:off x="3369971" y="-17293"/>
            <a:ext cx="5774029" cy="51607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3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121" name="Google Shape;121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13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124" name="Google Shape;124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3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Section Header">
  <p:cSld name="6_Section Header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4" descr="A group of people walking down a street next to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07449" y="0"/>
            <a:ext cx="4536551" cy="512535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>
            <a:spLocks noGrp="1"/>
          </p:cNvSpPr>
          <p:nvPr>
            <p:ph type="title"/>
          </p:nvPr>
        </p:nvSpPr>
        <p:spPr>
          <a:xfrm>
            <a:off x="512001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body" idx="1"/>
          </p:nvPr>
        </p:nvSpPr>
        <p:spPr>
          <a:xfrm>
            <a:off x="512001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4"/>
          <p:cNvSpPr/>
          <p:nvPr/>
        </p:nvSpPr>
        <p:spPr>
          <a:xfrm flipH="1">
            <a:off x="4607449" y="729324"/>
            <a:ext cx="147431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Only">
  <p:cSld name="Header Only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9" name="Google Shape;139;p15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1" name="Google Shape;141;p15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5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Header &amp; Subtitle">
  <p:cSld name="1_Header &amp; Subtitle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6" name="Google Shape;146;p16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536408" y="1146189"/>
            <a:ext cx="8140628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grpSp>
        <p:nvGrpSpPr>
          <p:cNvPr id="148" name="Google Shape;148;p16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9" name="Google Shape;149;p16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6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2718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17"/>
          <p:cNvGrpSpPr/>
          <p:nvPr/>
        </p:nvGrpSpPr>
        <p:grpSpPr>
          <a:xfrm>
            <a:off x="198023" y="147081"/>
            <a:ext cx="8503920" cy="543191"/>
            <a:chOff x="198023" y="147081"/>
            <a:chExt cx="8700480" cy="543191"/>
          </a:xfrm>
        </p:grpSpPr>
        <p:pic>
          <p:nvPicPr>
            <p:cNvPr id="154" name="Google Shape;154;p17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8023" y="151749"/>
              <a:ext cx="49224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7"/>
            <p:cNvSpPr/>
            <p:nvPr/>
          </p:nvSpPr>
          <p:spPr>
            <a:xfrm>
              <a:off x="690269" y="147081"/>
              <a:ext cx="8208234" cy="64008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17"/>
          <p:cNvSpPr txBox="1">
            <a:spLocks noGrp="1"/>
          </p:cNvSpPr>
          <p:nvPr>
            <p:ph type="title"/>
          </p:nvPr>
        </p:nvSpPr>
        <p:spPr>
          <a:xfrm>
            <a:off x="536408" y="229323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body" idx="1"/>
          </p:nvPr>
        </p:nvSpPr>
        <p:spPr>
          <a:xfrm>
            <a:off x="536408" y="1169435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lumn Content">
  <p:cSld name="Two Collumn Conte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>
            <a:spLocks noGrp="1"/>
          </p:cNvSpPr>
          <p:nvPr>
            <p:ph type="body" idx="1"/>
          </p:nvPr>
        </p:nvSpPr>
        <p:spPr>
          <a:xfrm>
            <a:off x="536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body" idx="2"/>
          </p:nvPr>
        </p:nvSpPr>
        <p:spPr>
          <a:xfrm>
            <a:off x="4727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3" name="Google Shape;163;p18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8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65" name="Google Shape;165;p18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8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>
            <a:spLocks noGrp="1"/>
          </p:cNvSpPr>
          <p:nvPr>
            <p:ph type="body" idx="1"/>
          </p:nvPr>
        </p:nvSpPr>
        <p:spPr>
          <a:xfrm>
            <a:off x="536408" y="1151335"/>
            <a:ext cx="396098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body" idx="2"/>
          </p:nvPr>
        </p:nvSpPr>
        <p:spPr>
          <a:xfrm>
            <a:off x="536408" y="1631156"/>
            <a:ext cx="396098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body" idx="3"/>
          </p:nvPr>
        </p:nvSpPr>
        <p:spPr>
          <a:xfrm>
            <a:off x="4724265" y="1151335"/>
            <a:ext cx="3962536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4"/>
          </p:nvPr>
        </p:nvSpPr>
        <p:spPr>
          <a:xfrm>
            <a:off x="4724265" y="1631156"/>
            <a:ext cx="3962536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4" name="Google Shape;174;p19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19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76" name="Google Shape;176;p19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19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228600" y="1126999"/>
            <a:ext cx="8769096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0509" y="4720046"/>
            <a:ext cx="320286" cy="34098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357250" y="4806164"/>
            <a:ext cx="267333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3_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4_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5_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6_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7_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8_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>
            <a:spLocks noGrp="1"/>
          </p:cNvSpPr>
          <p:nvPr>
            <p:ph type="subTitle" idx="1"/>
          </p:nvPr>
        </p:nvSpPr>
        <p:spPr>
          <a:xfrm>
            <a:off x="2103863" y="3465715"/>
            <a:ext cx="4906537" cy="121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Early DR (grades 1–2) on DDR, EyePACS and APTOS fundus images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Advisor: Navid Amini, PhD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r>
              <a:rPr lang="en-US"/>
              <a:t>Department of Computer Science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0" y="2112255"/>
            <a:ext cx="9144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dirty="0">
                <a:solidFill>
                  <a:schemeClr val="dk1"/>
                </a:solidFill>
              </a:rPr>
              <a:t>Early Detection of Diabetic Retinopathy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37E60-3D38-F4EB-DDD8-AB78CC76A965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r>
              <a:rPr lang="en-US" dirty="0">
                <a:solidFill>
                  <a:srgbClr val="121212"/>
                </a:solidFill>
              </a:rPr>
              <a:t>About Diabetic Retinopathy</a:t>
            </a:r>
            <a:endParaRPr sz="2200" b="1" dirty="0">
              <a:solidFill>
                <a:srgbClr val="121212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49377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The clinical burden is growing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2903928" cy="55399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20" b="0" i="0" dirty="0">
                <a:solidFill>
                  <a:srgbClr val="121212"/>
                </a:solidFill>
                <a:latin typeface="Arial"/>
              </a:rPr>
              <a:t>Diabetes has expanded rapidly worldwide, increasing the number of people who need retinal screening for diabetic retinopathy.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6535" y="786384"/>
            <a:ext cx="1764792" cy="9683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097096" y="841818"/>
            <a:ext cx="73152" cy="914400"/>
          </a:xfrm>
          <a:prstGeom prst="rect">
            <a:avLst/>
          </a:prstGeom>
          <a:solidFill>
            <a:srgbClr val="00634A"/>
          </a:solidFill>
          <a:ln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0" y="854408"/>
            <a:ext cx="137160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 dirty="0">
                <a:solidFill>
                  <a:srgbClr val="00634A"/>
                </a:solidFill>
                <a:latin typeface="Arial"/>
              </a:rPr>
              <a:t>151M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6575" y="1204151"/>
            <a:ext cx="1371600" cy="40233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121212"/>
                </a:solidFill>
                <a:latin typeface="Arial"/>
              </a:rPr>
              <a:t>adults living with diabetes
in 2000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16535" y="2024253"/>
            <a:ext cx="1764792" cy="96240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097096" y="2075688"/>
            <a:ext cx="73152" cy="914400"/>
          </a:xfrm>
          <a:prstGeom prst="rect">
            <a:avLst/>
          </a:prstGeom>
          <a:solidFill>
            <a:srgbClr val="00634A"/>
          </a:solidFill>
          <a:ln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36575" y="2065972"/>
            <a:ext cx="137160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 dirty="0">
                <a:solidFill>
                  <a:srgbClr val="00634A"/>
                </a:solidFill>
                <a:latin typeface="Arial"/>
              </a:rPr>
              <a:t>589M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6575" y="2396488"/>
            <a:ext cx="1371600" cy="40233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121212"/>
                </a:solidFill>
                <a:latin typeface="Arial"/>
              </a:rPr>
              <a:t>adults living with diabetes
in 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22008" y="3168634"/>
            <a:ext cx="1759319" cy="10430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97096" y="3297313"/>
            <a:ext cx="73152" cy="914400"/>
          </a:xfrm>
          <a:prstGeom prst="rect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36575" y="3254694"/>
            <a:ext cx="1444752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 dirty="0">
                <a:solidFill>
                  <a:srgbClr val="FFCD00"/>
                </a:solidFill>
                <a:latin typeface="Arial"/>
              </a:rPr>
              <a:t>+290%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6316" y="3661392"/>
            <a:ext cx="1346487" cy="3600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121212"/>
                </a:solidFill>
                <a:latin typeface="Arial"/>
              </a:rPr>
              <a:t>observed increase in
screening population</a:t>
            </a:r>
          </a:p>
        </p:txBody>
      </p:sp>
      <p:pic>
        <p:nvPicPr>
          <p:cNvPr id="17" name="Picture 16" descr="diabetes_growth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13" y="2361462"/>
            <a:ext cx="5331355" cy="22539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743567" y="989267"/>
            <a:ext cx="2286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 i="0" dirty="0">
                <a:solidFill>
                  <a:srgbClr val="3D5F84"/>
                </a:solidFill>
                <a:latin typeface="Arial"/>
              </a:rPr>
              <a:t>Observed growth over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3567" y="1243584"/>
            <a:ext cx="2240280" cy="7315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121212"/>
                </a:solidFill>
                <a:latin typeface="Arial"/>
              </a:rPr>
              <a:t>More patients means more fundus images to grade - and more pressure for fast triage.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0AF627-36D3-95EE-AFDE-3CCF0DD2912C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Research 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420624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Catch early DR (grades 1–2)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758952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 i="0">
                <a:solidFill>
                  <a:srgbClr val="121212"/>
                </a:solidFill>
                <a:latin typeface="Arial"/>
              </a:rPr>
              <a:t>Many studies target referable DR (moderate or worse). This thesis targets the earliest grades.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6117" y="1975104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Fundus</a:t>
            </a:r>
            <a:br>
              <a:rPr sz="1100" b="1">
                <a:solidFill>
                  <a:srgbClr val="121212"/>
                </a:solidFill>
                <a:latin typeface="Arial"/>
              </a:rPr>
            </a:br>
            <a:r>
              <a:rPr sz="1100" b="1">
                <a:solidFill>
                  <a:srgbClr val="121212"/>
                </a:solidFill>
                <a:latin typeface="Arial"/>
              </a:rPr>
              <a:t>photo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4066" y="1960890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 dirty="0">
                <a:solidFill>
                  <a:srgbClr val="121212"/>
                </a:solidFill>
                <a:latin typeface="Arial"/>
              </a:rPr>
              <a:t>Deep</a:t>
            </a:r>
            <a:br>
              <a:rPr sz="1100" b="1" dirty="0">
                <a:solidFill>
                  <a:srgbClr val="121212"/>
                </a:solidFill>
                <a:latin typeface="Arial"/>
              </a:rPr>
            </a:br>
            <a:r>
              <a:rPr sz="1100" b="1" dirty="0">
                <a:solidFill>
                  <a:srgbClr val="121212"/>
                </a:solidFill>
                <a:latin typeface="Arial"/>
              </a:rPr>
              <a:t>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2015" y="1952244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 dirty="0">
                <a:solidFill>
                  <a:srgbClr val="121212"/>
                </a:solidFill>
                <a:latin typeface="Arial"/>
              </a:rPr>
              <a:t>Early-DR</a:t>
            </a:r>
            <a:br>
              <a:rPr sz="1100" b="1" dirty="0">
                <a:solidFill>
                  <a:srgbClr val="121212"/>
                </a:solidFill>
                <a:latin typeface="Arial"/>
              </a:rPr>
            </a:br>
            <a:r>
              <a:rPr sz="1100" b="1" dirty="0">
                <a:solidFill>
                  <a:srgbClr val="121212"/>
                </a:solidFill>
                <a:latin typeface="Arial"/>
              </a:rPr>
              <a:t>flag (1–2)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69964" y="1931670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Referral /</a:t>
            </a:r>
            <a:br>
              <a:rPr sz="1100" b="1">
                <a:solidFill>
                  <a:srgbClr val="121212"/>
                </a:solidFill>
                <a:latin typeface="Arial"/>
              </a:rPr>
            </a:br>
            <a:r>
              <a:rPr sz="1100" b="1">
                <a:solidFill>
                  <a:srgbClr val="121212"/>
                </a:solidFill>
                <a:latin typeface="Arial"/>
              </a:rPr>
              <a:t>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63240"/>
            <a:ext cx="224028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19" b="0">
                <a:solidFill>
                  <a:srgbClr val="121212"/>
                </a:solidFill>
                <a:latin typeface="Arial"/>
              </a:rPr>
              <a:t>Primary</a:t>
            </a:r>
            <a:br>
              <a:rPr sz="1019" b="0">
                <a:solidFill>
                  <a:srgbClr val="121212"/>
                </a:solidFill>
                <a:latin typeface="Arial"/>
              </a:rPr>
            </a:br>
            <a:r>
              <a:rPr sz="1019" b="0">
                <a:solidFill>
                  <a:srgbClr val="121212"/>
                </a:solidFill>
                <a:latin typeface="Arial"/>
              </a:rPr>
              <a:t>Sensitivity for grades 1–2 vs No DR at a fixed specificity.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3063240"/>
            <a:ext cx="23774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19" b="0">
                <a:solidFill>
                  <a:srgbClr val="121212"/>
                </a:solidFill>
                <a:latin typeface="Arial"/>
              </a:rPr>
              <a:t>Secondary</a:t>
            </a:r>
            <a:br>
              <a:rPr sz="1019" b="0">
                <a:solidFill>
                  <a:srgbClr val="121212"/>
                </a:solidFill>
                <a:latin typeface="Arial"/>
              </a:rPr>
            </a:br>
            <a:r>
              <a:rPr sz="1019" b="0">
                <a:solidFill>
                  <a:srgbClr val="121212"/>
                </a:solidFill>
                <a:latin typeface="Arial"/>
              </a:rPr>
              <a:t>Separate early (1–2) from late (3–4) DR for triage.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3063240"/>
            <a:ext cx="233172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19" b="0">
                <a:solidFill>
                  <a:srgbClr val="121212"/>
                </a:solidFill>
                <a:latin typeface="Arial"/>
              </a:rPr>
              <a:t>Robustness</a:t>
            </a:r>
            <a:br>
              <a:rPr sz="1019" b="0">
                <a:solidFill>
                  <a:srgbClr val="121212"/>
                </a:solidFill>
                <a:latin typeface="Arial"/>
              </a:rPr>
            </a:br>
            <a:r>
              <a:rPr sz="1019" b="0">
                <a:solidFill>
                  <a:srgbClr val="121212"/>
                </a:solidFill>
                <a:latin typeface="Arial"/>
              </a:rPr>
              <a:t>Held-out EyePACS patients, then APTOS, never used in training.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0704" y="4160520"/>
            <a:ext cx="6903720" cy="365760"/>
          </a:xfrm>
          <a:prstGeom prst="roundRect">
            <a:avLst/>
          </a:prstGeom>
          <a:solidFill>
            <a:srgbClr val="FFCD00"/>
          </a:solidFill>
          <a:ln w="9525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20" b="1" dirty="0">
                <a:solidFill>
                  <a:srgbClr val="121212"/>
                </a:solidFill>
                <a:latin typeface="Arial"/>
              </a:rPr>
              <a:t>Goal: high sensitivity at fixed specificity, with calibrated probabilities.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FB9CBB-52B0-613A-C36E-30186E81F683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</a:t>
            </a: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21D7F2C5-3AAE-29A3-EB2B-01438851D29E}"/>
              </a:ext>
            </a:extLst>
          </p:cNvPr>
          <p:cNvSpPr/>
          <p:nvPr/>
        </p:nvSpPr>
        <p:spPr>
          <a:xfrm>
            <a:off x="2205893" y="2273089"/>
            <a:ext cx="53492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86BF4C34-5860-73D0-4EEA-45BE3BDDA49D}"/>
              </a:ext>
            </a:extLst>
          </p:cNvPr>
          <p:cNvSpPr/>
          <p:nvPr/>
        </p:nvSpPr>
        <p:spPr>
          <a:xfrm>
            <a:off x="5943987" y="2273089"/>
            <a:ext cx="53492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DBEF0C2C-37B6-B487-308F-4BFD2C35336C}"/>
              </a:ext>
            </a:extLst>
          </p:cNvPr>
          <p:cNvSpPr/>
          <p:nvPr/>
        </p:nvSpPr>
        <p:spPr>
          <a:xfrm>
            <a:off x="4094226" y="2265958"/>
            <a:ext cx="53492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Proposed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Three data arms, one change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7315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20" b="0" i="0">
                <a:solidFill>
                  <a:srgbClr val="121212"/>
                </a:solidFill>
                <a:latin typeface="Arial"/>
              </a:rPr>
              <a:t>Same model, image size and epochs; frozen patient-level splits; test sets opened once.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Data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DDR, EyePACS, APTOS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9424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Prepare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Crop, pad, 512 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8768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Merge arms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A, B,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8112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Model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EfficientNet-B0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77456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Output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Calibrated, 95%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743200"/>
            <a:ext cx="25146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Imbalance methods tested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Weighted sampler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30552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Class-balanced loss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9584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Focal loss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Strong augmentation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0552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Augmentation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2743200"/>
            <a:ext cx="29260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The three arms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999232"/>
            <a:ext cx="3520440" cy="960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A: DDR only (clean baseline)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B: DDR + EyePACS, source-balanced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C: version 1 merge (negative control)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 wins on its own test but not on APTOS = it learned the source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160520"/>
            <a:ext cx="6903720" cy="329184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80" b="1">
                <a:solidFill>
                  <a:srgbClr val="121212"/>
                </a:solidFill>
                <a:latin typeface="Arial"/>
              </a:rPr>
              <a:t>Not a new network: the value is the design, the controls and the evidence.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6</a:t>
            </a:r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D3022105-94A7-5198-D6E2-77CC59383713}"/>
              </a:ext>
            </a:extLst>
          </p:cNvPr>
          <p:cNvSpPr/>
          <p:nvPr/>
        </p:nvSpPr>
        <p:spPr>
          <a:xfrm flipV="1">
            <a:off x="2059718" y="205701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582591C4-F68D-4A15-B6B9-5FEB08D109EA}"/>
              </a:ext>
            </a:extLst>
          </p:cNvPr>
          <p:cNvSpPr/>
          <p:nvPr/>
        </p:nvSpPr>
        <p:spPr>
          <a:xfrm flipV="1">
            <a:off x="3660991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856019FD-6159-C16E-82A6-31C9B8A4135D}"/>
              </a:ext>
            </a:extLst>
          </p:cNvPr>
          <p:cNvSpPr/>
          <p:nvPr/>
        </p:nvSpPr>
        <p:spPr>
          <a:xfrm flipV="1">
            <a:off x="5262264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6B13386C-625D-A28B-390E-14BA0411E195}"/>
              </a:ext>
            </a:extLst>
          </p:cNvPr>
          <p:cNvSpPr/>
          <p:nvPr/>
        </p:nvSpPr>
        <p:spPr>
          <a:xfrm flipV="1">
            <a:off x="6876416" y="2059850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1" y="987552"/>
            <a:ext cx="6640605" cy="137390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19" dirty="0">
                <a:solidFill>
                  <a:srgbClr val="121212"/>
                </a:solidFill>
                <a:latin typeface="Arial"/>
              </a:rPr>
              <a:t>• International Diabetes Federation. IDF Diabetes Atlas, 11th ed., 2025.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19" dirty="0">
                <a:solidFill>
                  <a:srgbClr val="121212"/>
                </a:solidFill>
                <a:latin typeface="Arial"/>
              </a:rPr>
              <a:t>• Ting, D. S. W., et al. 'Artificial intelligence-assisted diabetic retinopathy screening.' Ophthalmology, 2021.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19" dirty="0">
                <a:solidFill>
                  <a:srgbClr val="121212"/>
                </a:solidFill>
                <a:latin typeface="Arial"/>
              </a:rPr>
              <a:t>• Shah, P., et al. 'Progression of DR and screening demand.' JAMA Ophthalmology, 2024.</a:t>
            </a:r>
            <a:endParaRPr lang="en-US" sz="919" dirty="0">
              <a:solidFill>
                <a:srgbClr val="121212"/>
              </a:solidFill>
              <a:latin typeface="Arial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WHO. Guidelines on diabetic retinopathy screening, 2023.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CDC. Eye-health guidance for people with diabetes, 2024.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Li, T., et al. Diagnostic assessment of deep learning algorithms for DR screening (DDR). Information Sciences, 2019.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Kaggle. Diabetic Retinopathy Detection (EyePACS), 2015; APTOS 2019 Blindness Detection.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Guo, C., et al. On calibration of modern neural networks. ICML, 2017.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Sipka, T., et al. The hitchhiker’s guide to prior-shift adaptation. WACV, 2022.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endParaRPr sz="919" dirty="0">
              <a:solidFill>
                <a:srgbClr val="121212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03F86-CDFA-B93E-DF6D-3F1C21538AE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>
            <a:spLocks noGrp="1"/>
          </p:cNvSpPr>
          <p:nvPr>
            <p:ph type="title"/>
          </p:nvPr>
        </p:nvSpPr>
        <p:spPr>
          <a:xfrm>
            <a:off x="866073" y="1977949"/>
            <a:ext cx="3592512" cy="59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600"/>
              <a:t>THANK YOU</a:t>
            </a:r>
            <a:endParaRPr/>
          </a:p>
        </p:txBody>
      </p:sp>
      <p:sp>
        <p:nvSpPr>
          <p:cNvPr id="12" name="TYSub"/>
          <p:cNvSpPr txBox="1"/>
          <p:nvPr/>
        </p:nvSpPr>
        <p:spPr>
          <a:xfrm>
            <a:off x="500000" y="2650000"/>
            <a:ext cx="400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i="1" dirty="0">
                <a:solidFill>
                  <a:srgbClr val="444444"/>
                </a:solidFill>
              </a:rPr>
              <a:t>Questions? We’d love to discuss!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E6E6E"/>
                </a:solidFill>
                <a:latin typeface="Arial"/>
              </a:rPr>
              <a:t>PROGRESS  ·  MEASURED ON THE REAL DDR + EYEPACS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4864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The EyePACS merge has a measurable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024128"/>
            <a:ext cx="8284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F7173"/>
                </a:solidFill>
                <a:latin typeface="Arial"/>
              </a:rPr>
              <a:t>Topping up only the short grades links “which dataset” to “how severe”. Measured from the label files alone — no images, no GPU, no 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1426464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F7173"/>
                </a:solidFill>
                <a:latin typeface="Arial"/>
              </a:rPr>
              <a:t>SHARE OF EACH GRADE TAKEN FROM EYEPACS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0</a:t>
            </a:r>
          </a:p>
        </p:txBody>
      </p:sp>
      <p:sp>
        <p:nvSpPr>
          <p:cNvPr id="8" name="Rectangle 7"/>
          <p:cNvSpPr/>
          <p:nvPr/>
        </p:nvSpPr>
        <p:spPr>
          <a:xfrm>
            <a:off x="1389888" y="1929384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18836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94560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89888" y="2240279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89888" y="2240279"/>
            <a:ext cx="173370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219456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79.0%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50545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89888" y="2551176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7" y="250545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16352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89888" y="2862072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89888" y="2862072"/>
            <a:ext cx="1727118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7" y="281635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78.7%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127248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89888" y="3172968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3172968"/>
            <a:ext cx="95902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7" y="312724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43.7%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26864" y="1426464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2" y="150876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0.512 bits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2" y="1755648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the severity label is recoverable from the dataset name alone — 24.6% of its information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26864" y="2185416"/>
            <a:ext cx="4087368" cy="731520"/>
          </a:xfrm>
          <a:prstGeom prst="roundRect">
            <a:avLst>
              <a:gd name="adj" fmla="val 6000"/>
            </a:avLst>
          </a:prstGeom>
          <a:solidFill>
            <a:srgbClr val="F7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226771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2514600"/>
            <a:ext cx="3703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merged EyePACS images carry disease, so 38.7% of all disease cases are identifiable purely by recognising the camera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26864" y="3017520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8032" y="309981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6E6E"/>
                </a:solidFill>
                <a:latin typeface="Arial"/>
              </a:rPr>
              <a:t>0.167 → 0.000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2" y="3346704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score of a dataset-name-only predictor: under a random split, versus in a single-clinic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3712463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The shortcut is specific to the earliest decision — any disease versus none (AUC 0.694), and useless for referable disease (0.482).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That is exactly the decision this thesis targets, so the merge must be audited rather than assumed safe.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4389120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F7173"/>
                </a:solidFill>
                <a:latin typeface="Arial"/>
              </a:rPr>
              <a:t>A classifier also tells DDR from EyePACS images with AUROC 0.996. Design consequence: three arms (A DDR only, B source-balanced, C this merge as a negative control), with every result reported per source.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4736592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F7173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Complete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From fundus image to a calibrated early-DR flag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7</a:t>
            </a:r>
          </a:p>
        </p:txBody>
      </p:sp>
      <p:sp>
        <p:nvSpPr>
          <p:cNvPr id="101" name="Label train"/>
          <p:cNvSpPr txBox="1"/>
          <p:nvPr/>
        </p:nvSpPr>
        <p:spPr>
          <a:xfrm>
            <a:off x="502920" y="1188720"/>
            <a:ext cx="54864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1">
                <a:solidFill>
                  <a:srgbClr val="1E7A5A"/>
                </a:solidFill>
                <a:latin typeface="Arial"/>
              </a:rPr>
              <a:t>TRAIN: one model per arm, task and seed</a:t>
            </a:r>
          </a:p>
        </p:txBody>
      </p:sp>
      <p:sp>
        <p:nvSpPr>
          <p:cNvPr id="102" name="Train 1"/>
          <p:cNvSpPr/>
          <p:nvPr/>
        </p:nvSpPr>
        <p:spPr>
          <a:xfrm>
            <a:off x="502920" y="1481328"/>
            <a:ext cx="1216152" cy="9144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Fundus image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DDR, EyePACS, APTOS; frozen patient-level splits</a:t>
            </a:r>
          </a:p>
        </p:txBody>
      </p:sp>
      <p:sp>
        <p:nvSpPr>
          <p:cNvPr id="103" name="Arrow 1"/>
          <p:cNvSpPr/>
          <p:nvPr/>
        </p:nvSpPr>
        <p:spPr>
          <a:xfrm>
            <a:off x="1746504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04" name="Train 2"/>
          <p:cNvSpPr/>
          <p:nvPr/>
        </p:nvSpPr>
        <p:spPr>
          <a:xfrm>
            <a:off x="1901952" y="1481328"/>
            <a:ext cx="1216152" cy="9144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Preprocess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Crop border, pad to square, resize to 512 px (colour norm optional)</a:t>
            </a:r>
          </a:p>
        </p:txBody>
      </p:sp>
      <p:sp>
        <p:nvSpPr>
          <p:cNvPr id="105" name="Arrow 2"/>
          <p:cNvSpPr/>
          <p:nvPr/>
        </p:nvSpPr>
        <p:spPr>
          <a:xfrm>
            <a:off x="3145536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06" name="Train 3"/>
          <p:cNvSpPr/>
          <p:nvPr/>
        </p:nvSpPr>
        <p:spPr>
          <a:xfrm>
            <a:off x="3300984" y="1481328"/>
            <a:ext cx="1216152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Sampler + augment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Arm B: source-balanced. Weighted, class-aware or repeat-factor. Mild or strong</a:t>
            </a:r>
          </a:p>
        </p:txBody>
      </p:sp>
      <p:sp>
        <p:nvSpPr>
          <p:cNvPr id="107" name="Arrow 3"/>
          <p:cNvSpPr/>
          <p:nvPr/>
        </p:nvSpPr>
        <p:spPr>
          <a:xfrm>
            <a:off x="4544568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08" name="Train 4"/>
          <p:cNvSpPr/>
          <p:nvPr/>
        </p:nvSpPr>
        <p:spPr>
          <a:xfrm>
            <a:off x="4700016" y="1481328"/>
            <a:ext cx="1216152" cy="9144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Backbone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EfficientNet-B0, ImageNet weights (ViT + RETFound as extension)</a:t>
            </a:r>
          </a:p>
        </p:txBody>
      </p:sp>
      <p:sp>
        <p:nvSpPr>
          <p:cNvPr id="109" name="Arrow 4"/>
          <p:cNvSpPr/>
          <p:nvPr/>
        </p:nvSpPr>
        <p:spPr>
          <a:xfrm>
            <a:off x="5943600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0" name="Train 5"/>
          <p:cNvSpPr/>
          <p:nvPr/>
        </p:nvSpPr>
        <p:spPr>
          <a:xfrm>
            <a:off x="6099048" y="1481328"/>
            <a:ext cx="1216152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Head (1 per run)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0 vs 1-4, early vs late, 3-class or 5-grade</a:t>
            </a:r>
          </a:p>
        </p:txBody>
      </p:sp>
      <p:sp>
        <p:nvSpPr>
          <p:cNvPr id="111" name="Arrow 5"/>
          <p:cNvSpPr/>
          <p:nvPr/>
        </p:nvSpPr>
        <p:spPr>
          <a:xfrm>
            <a:off x="7342631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2" name="Train 6"/>
          <p:cNvSpPr/>
          <p:nvPr/>
        </p:nvSpPr>
        <p:spPr>
          <a:xfrm>
            <a:off x="7498080" y="1481328"/>
            <a:ext cx="1216152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Loss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Cross-entropy, class-balanced CE, or focal (gamma 1-3)</a:t>
            </a:r>
          </a:p>
        </p:txBody>
      </p:sp>
      <p:sp>
        <p:nvSpPr>
          <p:cNvPr id="113" name="Arrow down"/>
          <p:cNvSpPr/>
          <p:nvPr/>
        </p:nvSpPr>
        <p:spPr>
          <a:xfrm>
            <a:off x="8106156" y="2423160"/>
            <a:ext cx="0" cy="50292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4" name="Label validate"/>
          <p:cNvSpPr txBox="1"/>
          <p:nvPr/>
        </p:nvSpPr>
        <p:spPr>
          <a:xfrm>
            <a:off x="502920" y="2651760"/>
            <a:ext cx="54864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1">
                <a:solidFill>
                  <a:srgbClr val="1E7A5A"/>
                </a:solidFill>
                <a:latin typeface="Arial"/>
              </a:rPr>
              <a:t>VALIDATE AND FREEZE, THEN TEST</a:t>
            </a:r>
          </a:p>
        </p:txBody>
      </p:sp>
      <p:sp>
        <p:nvSpPr>
          <p:cNvPr id="115" name="Eval 1"/>
          <p:cNvSpPr/>
          <p:nvPr/>
        </p:nvSpPr>
        <p:spPr>
          <a:xfrm>
            <a:off x="7251192" y="3017520"/>
            <a:ext cx="1463040" cy="9144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Best epoch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Chosen on validation score only</a:t>
            </a:r>
          </a:p>
        </p:txBody>
      </p:sp>
      <p:sp>
        <p:nvSpPr>
          <p:cNvPr id="116" name="Arrow back 1"/>
          <p:cNvSpPr/>
          <p:nvPr/>
        </p:nvSpPr>
        <p:spPr>
          <a:xfrm flipH="1">
            <a:off x="7054596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7" name="Eval 2"/>
          <p:cNvSpPr/>
          <p:nvPr/>
        </p:nvSpPr>
        <p:spPr>
          <a:xfrm>
            <a:off x="5564124" y="3017520"/>
            <a:ext cx="14630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Temperature scaling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One number T, fitted on validation</a:t>
            </a:r>
          </a:p>
        </p:txBody>
      </p:sp>
      <p:sp>
        <p:nvSpPr>
          <p:cNvPr id="118" name="Arrow back 2"/>
          <p:cNvSpPr/>
          <p:nvPr/>
        </p:nvSpPr>
        <p:spPr>
          <a:xfrm flipH="1">
            <a:off x="5367528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9" name="Eval 3"/>
          <p:cNvSpPr/>
          <p:nvPr/>
        </p:nvSpPr>
        <p:spPr>
          <a:xfrm>
            <a:off x="3877056" y="3017520"/>
            <a:ext cx="14630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Prior-shift correction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Training class mix back to natural prevalence</a:t>
            </a:r>
          </a:p>
        </p:txBody>
      </p:sp>
      <p:sp>
        <p:nvSpPr>
          <p:cNvPr id="120" name="Arrow back 3"/>
          <p:cNvSpPr/>
          <p:nvPr/>
        </p:nvSpPr>
        <p:spPr>
          <a:xfrm flipH="1">
            <a:off x="3680460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21" name="Eval 4"/>
          <p:cNvSpPr/>
          <p:nvPr/>
        </p:nvSpPr>
        <p:spPr>
          <a:xfrm>
            <a:off x="2189988" y="3017520"/>
            <a:ext cx="14630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Frozen threshold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Set at the declared specificity (0.90) on validation</a:t>
            </a:r>
          </a:p>
        </p:txBody>
      </p:sp>
      <p:sp>
        <p:nvSpPr>
          <p:cNvPr id="122" name="Arrow back 4"/>
          <p:cNvSpPr/>
          <p:nvPr/>
        </p:nvSpPr>
        <p:spPr>
          <a:xfrm flipH="1">
            <a:off x="1993392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23" name="Eval 5"/>
          <p:cNvSpPr/>
          <p:nvPr/>
        </p:nvSpPr>
        <p:spPr>
          <a:xfrm>
            <a:off x="502920" y="3017520"/>
            <a:ext cx="1463040" cy="914400"/>
          </a:xfrm>
          <a:prstGeom prst="roundRect">
            <a:avLst/>
          </a:prstGeom>
          <a:solidFill>
            <a:srgbClr val="FFF0B3"/>
          </a:solidFill>
          <a:ln w="9525">
            <a:solidFill>
              <a:srgbClr val="E0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Outputs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Calibrated probability, early-DR flag, per-source metrics with 95% CI</a:t>
            </a:r>
          </a:p>
        </p:txBody>
      </p:sp>
      <p:sp>
        <p:nvSpPr>
          <p:cNvPr id="124" name="Banner"/>
          <p:cNvSpPr/>
          <p:nvPr/>
        </p:nvSpPr>
        <p:spPr>
          <a:xfrm>
            <a:off x="502920" y="4133087"/>
            <a:ext cx="8211312" cy="384048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80" b="1">
                <a:solidFill>
                  <a:srgbClr val="121212"/>
                </a:solidFill>
                <a:latin typeface="Arial"/>
              </a:rPr>
              <a:t>Test sets opened once: DDR + held-out EyePACS, then APTOS last. Grad-CAM with a randomised-weights check.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Data: Three Fundus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Different sizes, grade mixes and cameras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4</a:t>
            </a:r>
          </a:p>
        </p:txBody>
      </p:sp>
      <p:pic>
        <p:nvPicPr>
          <p:cNvPr id="201" name="Chart 1" descr="Bar chart: percentage of each DR grade in DDR, EyePACS and APTO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DDR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12,522 gradable images. Random 60/20/20 split (7,454 / 2,552 / 2,516): this copy has no official split or patient IDs.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EyePACS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35,108 images. Split by patient: 24,572 train, 5,266 validation, 5,270 test.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APTOS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3,662 images. External test only: never used for training or model selection.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Early DR (grades 1-2) is 41% of DDR, 22% of EyePACS and 37% of APTOS.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Training Setup and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EfficientNet-B0, 512 px, 10 epochs, 3 seeds per arm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8</a:t>
            </a:r>
          </a:p>
        </p:txBody>
      </p:sp>
      <p:pic>
        <p:nvPicPr>
          <p:cNvPr id="201" name="Chart 1" descr="Line chart: validation PR-AUC per epoch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Same recipe for every arm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AdamW, learning rate 3e-4, mixed precision. Best epoch chosen on validation only.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Cost on a Kaggle GPU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About 110 s per epoch (A), 450 s (B), 150 s (C): roughly 6 hours for the nine runs.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Raw outputs are overconfident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Fitted temperature T = 1.6 to 2.4 across the nine runs; calibration is fitted on validation.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Validation sets differ by arm, so these curves show convergence, not which arm is better.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Result 1: DDR Test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Early DR (grades 1-2) vs No DR, mean of 3 seeds, threshold frozen on validation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9</a:t>
            </a:r>
          </a:p>
        </p:txBody>
      </p:sp>
      <p:pic>
        <p:nvPicPr>
          <p:cNvPr id="201" name="Chart 1" descr="Bar charts: sensitivity and PR-AUC on the DDR test set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Sensitivity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 0.937, B 0.925, C 0.937. B vs A: −0.012, Holm p = 0.084 (not significant).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PR-AUC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B is 0.007 above A (Holm p = 0.002); C equals A.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Seed spread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Standard deviation 0.0003 to 0.003 for B and C: far smaller than the EyePACS differences.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Adding EyePACS did not improve sensitivity on DDR. (DDR split is random: see limitations.)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Result 2: Held-Out EyePACS Patients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Early DR vs No DR on unseen EyePACS patients, all grades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10</a:t>
            </a:r>
          </a:p>
        </p:txBody>
      </p:sp>
      <p:pic>
        <p:nvPicPr>
          <p:cNvPr id="201" name="Chart 1" descr="Bar charts: sensitivity and PR-AUC on held-out EyePACS patients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Arm C: the source shortcut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Sensitivity 0.997 but PR-AUC 0.43, below DDR-only A (0.53): consistent with flagging most EyePACS images as DR.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Arm B: source-balanced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PR-AUC 0.80 (+0.27 over A, Holm p = 0.002), but sensitivity 0.73 at the frozen threshold.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Arm A: never saw EyePACS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Sensitivity 0.885, PR-AUC 0.53.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In arm C every EyePACS training image has disease, so the camera predicts the label.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Result 3: APTOS External Set (Preliminary)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Never used for training or selection; 3,662 images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11</a:t>
            </a:r>
          </a:p>
        </p:txBody>
      </p:sp>
      <p:pic>
        <p:nvPicPr>
          <p:cNvPr id="201" name="Chart 1" descr="Bar charts: sensitivity and AUROC on APTOS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All three arms look alike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Sensitivity 0.99 to 1.00, AUROC 0.994 to 0.995. B vs A sensitivity: −0.006 (Holm p = 0.002).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Higher than expected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AUROC 0.994 from a model trained on DDR only is more than the plan anticipated.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Not claimed yet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Overlap check, specificity and grade-1 results still to be reviewed.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Treat as preliminary: not presented as evidence of robustness.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Result 4: Imbalance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Sampler, loss and augmentation, one change at a time (single seed)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12</a:t>
            </a:r>
          </a:p>
        </p:txBody>
      </p:sp>
      <p:pic>
        <p:nvPicPr>
          <p:cNvPr id="201" name="Chart 1" descr="Horizontal bars: best validation score of twelve imbalance run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4937760" cy="3090672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No method beat baseline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Best (focal gamma 1) 0.9770 vs baseline 0.9761: inside seed noise.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Strong augmentation failed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Both runs reached only about 0.57: training did not work, so this test is inconclusive.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Limit of the test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The score is early-vs-none PR-AUC; rare grades 1, 3 and 4 are not scored separately.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On this metric, plain cross-entropy is as good as every imbalance method.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Extensions and Sanity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Single-seed runs on DDR, scored on validation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13</a:t>
            </a:r>
          </a:p>
        </p:txBody>
      </p:sp>
      <p:sp>
        <p:nvSpPr>
          <p:cNvPr id="201" name="Card 1"/>
          <p:cNvSpPr/>
          <p:nvPr/>
        </p:nvSpPr>
        <p:spPr>
          <a:xfrm>
            <a:off x="502920" y="1280160"/>
            <a:ext cx="3977639" cy="13716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Early vs late (stage 2)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Validation AUROC 0.951 at the best epoch: early and late DR separate well on DDR.</a:t>
            </a:r>
          </a:p>
        </p:txBody>
      </p:sp>
      <p:sp>
        <p:nvSpPr>
          <p:cNvPr id="202" name="Card 2"/>
          <p:cNvSpPr/>
          <p:nvPr/>
        </p:nvSpPr>
        <p:spPr>
          <a:xfrm>
            <a:off x="4663440" y="1280160"/>
            <a:ext cx="39776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Three-class label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Validation PR-AUC 0.974 vs 0.972 for the two-class head (arm A): no meaningful difference.</a:t>
            </a:r>
          </a:p>
        </p:txBody>
      </p:sp>
      <p:sp>
        <p:nvSpPr>
          <p:cNvPr id="203" name="Card 3"/>
          <p:cNvSpPr/>
          <p:nvPr/>
        </p:nvSpPr>
        <p:spPr>
          <a:xfrm>
            <a:off x="502920" y="2788920"/>
            <a:ext cx="39776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Colour normalisation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0.973 vs 0.972: no gain, and 3.4 times slower to train (about 380 s per epoch).</a:t>
            </a:r>
          </a:p>
        </p:txBody>
      </p:sp>
      <p:sp>
        <p:nvSpPr>
          <p:cNvPr id="204" name="Card 4"/>
          <p:cNvSpPr/>
          <p:nvPr/>
        </p:nvSpPr>
        <p:spPr>
          <a:xfrm>
            <a:off x="4663440" y="2788920"/>
            <a:ext cx="3977639" cy="13716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Grad-CAM sanity check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Trained vs randomised-weights maps correlate 0.12 and −0.27 in two runs: the maps depend on the model.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Test-set metrics for these runs are not analysed here.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What These Results Do Not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Read before quoting any number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14</a:t>
            </a:r>
          </a:p>
        </p:txBody>
      </p:sp>
      <p:sp>
        <p:nvSpPr>
          <p:cNvPr id="201" name="Card 1"/>
          <p:cNvSpPr/>
          <p:nvPr/>
        </p:nvSpPr>
        <p:spPr>
          <a:xfrm>
            <a:off x="50292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DDR split is random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No patient IDs and no official split in this copy: images from one patient can sit in both train and test.</a:t>
            </a:r>
          </a:p>
        </p:txBody>
      </p:sp>
      <p:sp>
        <p:nvSpPr>
          <p:cNvPr id="202" name="Card 2"/>
          <p:cNvSpPr/>
          <p:nvPr/>
        </p:nvSpPr>
        <p:spPr>
          <a:xfrm>
            <a:off x="466344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Duplicate candidates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834 candidate groups: 375 cross splits, 39 cross datasets. Under review; DDR and APTOS numbers may be inflated.</a:t>
            </a:r>
          </a:p>
        </p:txBody>
      </p:sp>
      <p:sp>
        <p:nvSpPr>
          <p:cNvPr id="203" name="Card 3"/>
          <p:cNvSpPr/>
          <p:nvPr/>
        </p:nvSpPr>
        <p:spPr>
          <a:xfrm>
            <a:off x="502920" y="278892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APTOS looks too good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Not claimed as robustness until the overlap check is done.</a:t>
            </a:r>
          </a:p>
        </p:txBody>
      </p:sp>
      <p:sp>
        <p:nvSpPr>
          <p:cNvPr id="204" name="Card 4"/>
          <p:cNvSpPr/>
          <p:nvPr/>
        </p:nvSpPr>
        <p:spPr>
          <a:xfrm>
            <a:off x="4663440" y="2788920"/>
            <a:ext cx="39776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Not yet reported here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Specificity reached, grade-1-only sensitivity, ECE, Brier and 95% intervals (saved in the results files).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The arm C pattern matches the label audit, but it is also unchecked for duplicates.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Conclusions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What the evidence supports so far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15</a:t>
            </a:r>
          </a:p>
        </p:txBody>
      </p:sp>
      <p:sp>
        <p:nvSpPr>
          <p:cNvPr id="201" name="Conclusion 1"/>
          <p:cNvSpPr/>
          <p:nvPr/>
        </p:nvSpPr>
        <p:spPr>
          <a:xfrm>
            <a:off x="502920" y="1280160"/>
            <a:ext cx="4069080" cy="9144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 merge as written teaches the source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Arm C is best on its own validation set (0.982) and worst on EyePACS PR-AUC (0.43).</a:t>
            </a:r>
          </a:p>
        </p:txBody>
      </p:sp>
      <p:sp>
        <p:nvSpPr>
          <p:cNvPr id="202" name="Conclusion 2"/>
          <p:cNvSpPr/>
          <p:nvPr/>
        </p:nvSpPr>
        <p:spPr>
          <a:xfrm>
            <a:off x="502920" y="2286000"/>
            <a:ext cx="4069080" cy="9144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Source-balancing helps EyePACS, not DDR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B lifts EyePACS PR-AUC by 0.27; DDR sensitivity does not improve.</a:t>
            </a:r>
          </a:p>
        </p:txBody>
      </p:sp>
      <p:sp>
        <p:nvSpPr>
          <p:cNvPr id="203" name="Conclusion 3"/>
          <p:cNvSpPr/>
          <p:nvPr/>
        </p:nvSpPr>
        <p:spPr>
          <a:xfrm>
            <a:off x="502920" y="3291840"/>
            <a:ext cx="406908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Imbalance methods: no clear gain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All within noise of plain cross-entropy on the primary metric.</a:t>
            </a:r>
          </a:p>
        </p:txBody>
      </p:sp>
      <p:sp>
        <p:nvSpPr>
          <p:cNvPr id="204" name="Next steps"/>
          <p:cNvSpPr/>
          <p:nvPr/>
        </p:nvSpPr>
        <p:spPr>
          <a:xfrm>
            <a:off x="4754880" y="1280160"/>
            <a:ext cx="3931920" cy="2926080"/>
          </a:xfrm>
          <a:prstGeom prst="roundRect">
            <a:avLst>
              <a:gd name="adj" fmla="val 6000"/>
            </a:avLst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Next steps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1. Run the duplicate check and look at the pairs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2. Official or patient-level DDR split; retrain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3. Diagnose strong augmentation; rerun ablations with 3 seeds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4. Report specificity, grade-1 sensitivity, ECE, intervals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5. Re-evaluate APTOS after de-duplication; write 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16647</TotalTime>
  <Words>737</Words>
  <Application>Microsoft Office PowerPoint</Application>
  <PresentationFormat>On-screen Show (16:9)</PresentationFormat>
  <Paragraphs>142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About Diabetic Retinopathy</vt:lpstr>
      <vt:lpstr>PowerPoint Presentation</vt:lpstr>
      <vt:lpstr>Research Aim</vt:lpstr>
      <vt:lpstr>PowerPoint Presentation</vt:lpstr>
      <vt:lpstr>How It Differs From Current Work</vt:lpstr>
      <vt:lpstr>PowerPoint Presentation</vt:lpstr>
      <vt:lpstr>Next Steps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Roy Suja, Roshan</dc:creator>
  <cp:lastModifiedBy>Kazim Alikhan</cp:lastModifiedBy>
  <cp:revision>18</cp:revision>
  <dcterms:modified xsi:type="dcterms:W3CDTF">2026-08-01T08:50:42Z</dcterms:modified>
</cp:coreProperties>
</file>