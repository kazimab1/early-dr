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310" r:id="rId36"/>
    <p:sldId id="295" r:id="rId21"/>
    <p:sldId id="304" r:id="rId30"/>
    <p:sldId id="305" r:id="rId31"/>
    <p:sldId id="306" r:id="rId32"/>
    <p:sldId id="307" r:id="rId33"/>
    <p:sldId id="308" r:id="rId34"/>
    <p:sldId id="309" r:id="rId35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group-split results, three seeds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 (original run)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 and Kaggle pipeline: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C: original and group-split runs, 3 seeds each, with 95% intervals, ECE and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evaluation; 14 imbalance runs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strong augmentation, APTOS size strata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 (AUROC changed by at most 0.003 on DDR and APTOS)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Image size alone does not explain the APTOS score (0.984 to 0.989 within same-size groups; post-hoc)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Own-source operating points (post-hoc)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capture cues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Literature search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Original run, 3 seeds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Original run, 3 seeds: sensitivity 0.93 with specificity 0.91,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Group-Split Results (Three Seeds)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Mean and 95% interval over seeds 42, 43, 44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sp>
        <p:nvSpPr>
          <p:cNvPr id="201" name="H Metric"/>
          <p:cNvSpPr/>
          <p:nvPr/>
        </p:nvSpPr>
        <p:spPr>
          <a:xfrm>
            <a:off x="502920" y="1280160"/>
            <a:ext cx="228600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202" name="H A: DDR only"/>
          <p:cNvSpPr/>
          <p:nvPr/>
        </p:nvSpPr>
        <p:spPr>
          <a:xfrm>
            <a:off x="2880360" y="1280160"/>
            <a:ext cx="192024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A: DDR only</a:t>
            </a:r>
          </a:p>
        </p:txBody>
      </p:sp>
      <p:sp>
        <p:nvSpPr>
          <p:cNvPr id="203" name="H B: source-balanced"/>
          <p:cNvSpPr/>
          <p:nvPr/>
        </p:nvSpPr>
        <p:spPr>
          <a:xfrm>
            <a:off x="4846320" y="1280160"/>
            <a:ext cx="192024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B: source-balanced</a:t>
            </a:r>
          </a:p>
        </p:txBody>
      </p:sp>
      <p:sp>
        <p:nvSpPr>
          <p:cNvPr id="204" name="H C: old merge"/>
          <p:cNvSpPr/>
          <p:nvPr/>
        </p:nvSpPr>
        <p:spPr>
          <a:xfrm>
            <a:off x="6812280" y="1280160"/>
            <a:ext cx="1828800" cy="292608"/>
          </a:xfrm>
          <a:prstGeom prst="roundRect">
            <a:avLst/>
          </a:prstGeom>
          <a:solidFill>
            <a:srgbClr val="3D5F84"/>
          </a:solidFill>
          <a:ln w="9525">
            <a:solidFill>
              <a:srgbClr val="3D5F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C: old merge</a:t>
            </a:r>
          </a:p>
        </p:txBody>
      </p:sp>
      <p:sp>
        <p:nvSpPr>
          <p:cNvPr id="205" name="M0"/>
          <p:cNvSpPr/>
          <p:nvPr/>
        </p:nvSpPr>
        <p:spPr>
          <a:xfrm>
            <a:off x="502920" y="1627632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DDR: sensitivity</a:t>
            </a:r>
          </a:p>
        </p:txBody>
      </p:sp>
      <p:sp>
        <p:nvSpPr>
          <p:cNvPr id="206" name="V03.15"/>
          <p:cNvSpPr/>
          <p:nvPr/>
        </p:nvSpPr>
        <p:spPr>
          <a:xfrm>
            <a:off x="2880360" y="1627632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0.941 (0.926-0.955)</a:t>
            </a:r>
          </a:p>
        </p:txBody>
      </p:sp>
      <p:sp>
        <p:nvSpPr>
          <p:cNvPr id="207" name="V05.3"/>
          <p:cNvSpPr/>
          <p:nvPr/>
        </p:nvSpPr>
        <p:spPr>
          <a:xfrm>
            <a:off x="4846320" y="1627632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0.925 (0.909-0.941)</a:t>
            </a:r>
          </a:p>
        </p:txBody>
      </p:sp>
      <p:sp>
        <p:nvSpPr>
          <p:cNvPr id="208" name="V07.45"/>
          <p:cNvSpPr/>
          <p:nvPr/>
        </p:nvSpPr>
        <p:spPr>
          <a:xfrm>
            <a:off x="6812280" y="1627632"/>
            <a:ext cx="182880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0.938 (0.923-0.953)</a:t>
            </a:r>
          </a:p>
        </p:txBody>
      </p:sp>
      <p:sp>
        <p:nvSpPr>
          <p:cNvPr id="209" name="M1"/>
          <p:cNvSpPr/>
          <p:nvPr/>
        </p:nvSpPr>
        <p:spPr>
          <a:xfrm>
            <a:off x="502920" y="2020824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AUROC</a:t>
            </a:r>
          </a:p>
        </p:txBody>
      </p:sp>
      <p:sp>
        <p:nvSpPr>
          <p:cNvPr id="210" name="V13.15"/>
          <p:cNvSpPr/>
          <p:nvPr/>
        </p:nvSpPr>
        <p:spPr>
          <a:xfrm>
            <a:off x="2880360" y="2020824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0.780 (0.762-0.799)</a:t>
            </a:r>
          </a:p>
        </p:txBody>
      </p:sp>
      <p:sp>
        <p:nvSpPr>
          <p:cNvPr id="211" name="V15.3"/>
          <p:cNvSpPr/>
          <p:nvPr/>
        </p:nvSpPr>
        <p:spPr>
          <a:xfrm>
            <a:off x="4846320" y="2020824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0.884 (0.870-0.897)</a:t>
            </a:r>
          </a:p>
        </p:txBody>
      </p:sp>
      <p:sp>
        <p:nvSpPr>
          <p:cNvPr id="212" name="V17.45"/>
          <p:cNvSpPr/>
          <p:nvPr/>
        </p:nvSpPr>
        <p:spPr>
          <a:xfrm>
            <a:off x="6812280" y="2020824"/>
            <a:ext cx="182880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0.717 (0.698-0.738)</a:t>
            </a:r>
          </a:p>
        </p:txBody>
      </p:sp>
      <p:sp>
        <p:nvSpPr>
          <p:cNvPr id="213" name="M2"/>
          <p:cNvSpPr/>
          <p:nvPr/>
        </p:nvSpPr>
        <p:spPr>
          <a:xfrm>
            <a:off x="502920" y="2414016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specificity</a:t>
            </a:r>
          </a:p>
        </p:txBody>
      </p:sp>
      <p:sp>
        <p:nvSpPr>
          <p:cNvPr id="214" name="V23.15"/>
          <p:cNvSpPr/>
          <p:nvPr/>
        </p:nvSpPr>
        <p:spPr>
          <a:xfrm>
            <a:off x="2880360" y="2414016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0.438</a:t>
            </a:r>
          </a:p>
        </p:txBody>
      </p:sp>
      <p:sp>
        <p:nvSpPr>
          <p:cNvPr id="215" name="V25.3"/>
          <p:cNvSpPr/>
          <p:nvPr/>
        </p:nvSpPr>
        <p:spPr>
          <a:xfrm>
            <a:off x="4846320" y="2414016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0.898</a:t>
            </a:r>
          </a:p>
        </p:txBody>
      </p:sp>
      <p:sp>
        <p:nvSpPr>
          <p:cNvPr id="216" name="V27.45"/>
          <p:cNvSpPr/>
          <p:nvPr/>
        </p:nvSpPr>
        <p:spPr>
          <a:xfrm>
            <a:off x="6812280" y="2414016"/>
            <a:ext cx="182880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0.008</a:t>
            </a:r>
          </a:p>
        </p:txBody>
      </p:sp>
      <p:sp>
        <p:nvSpPr>
          <p:cNvPr id="217" name="M3"/>
          <p:cNvSpPr/>
          <p:nvPr/>
        </p:nvSpPr>
        <p:spPr>
          <a:xfrm>
            <a:off x="502920" y="2807208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APTOS: AUROC</a:t>
            </a:r>
          </a:p>
        </p:txBody>
      </p:sp>
      <p:sp>
        <p:nvSpPr>
          <p:cNvPr id="218" name="V33.15"/>
          <p:cNvSpPr/>
          <p:nvPr/>
        </p:nvSpPr>
        <p:spPr>
          <a:xfrm>
            <a:off x="2880360" y="2807208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0.994 (0.991-0.996)</a:t>
            </a:r>
          </a:p>
        </p:txBody>
      </p:sp>
      <p:sp>
        <p:nvSpPr>
          <p:cNvPr id="219" name="V35.3"/>
          <p:cNvSpPr/>
          <p:nvPr/>
        </p:nvSpPr>
        <p:spPr>
          <a:xfrm>
            <a:off x="4846320" y="2807208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0.994 (0.991-0.996)</a:t>
            </a:r>
          </a:p>
        </p:txBody>
      </p:sp>
      <p:sp>
        <p:nvSpPr>
          <p:cNvPr id="220" name="V37.45"/>
          <p:cNvSpPr/>
          <p:nvPr/>
        </p:nvSpPr>
        <p:spPr>
          <a:xfrm>
            <a:off x="6812280" y="2807208"/>
            <a:ext cx="182880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0.990 (0.988-0.993)</a:t>
            </a:r>
          </a:p>
        </p:txBody>
      </p:sp>
      <p:sp>
        <p:nvSpPr>
          <p:cNvPr id="221" name="M4"/>
          <p:cNvSpPr/>
          <p:nvPr/>
        </p:nvSpPr>
        <p:spPr>
          <a:xfrm>
            <a:off x="502920" y="3200400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EyePACS: ECE / Brier</a:t>
            </a:r>
          </a:p>
        </p:txBody>
      </p:sp>
      <p:sp>
        <p:nvSpPr>
          <p:cNvPr id="222" name="V43.15"/>
          <p:cNvSpPr/>
          <p:nvPr/>
        </p:nvSpPr>
        <p:spPr>
          <a:xfrm>
            <a:off x="2880360" y="3200400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0.326 / 0.300</a:t>
            </a:r>
          </a:p>
        </p:txBody>
      </p:sp>
      <p:sp>
        <p:nvSpPr>
          <p:cNvPr id="223" name="V45.3"/>
          <p:cNvSpPr/>
          <p:nvPr/>
        </p:nvSpPr>
        <p:spPr>
          <a:xfrm>
            <a:off x="4846320" y="3200400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0.056 / 0.091</a:t>
            </a:r>
          </a:p>
        </p:txBody>
      </p:sp>
      <p:sp>
        <p:nvSpPr>
          <p:cNvPr id="224" name="V47.45"/>
          <p:cNvSpPr/>
          <p:nvPr/>
        </p:nvSpPr>
        <p:spPr>
          <a:xfrm>
            <a:off x="6812280" y="3200400"/>
            <a:ext cx="1828800" cy="356616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0.717 / 0.707</a:t>
            </a:r>
          </a:p>
        </p:txBody>
      </p:sp>
      <p:sp>
        <p:nvSpPr>
          <p:cNvPr id="225" name="M5"/>
          <p:cNvSpPr/>
          <p:nvPr/>
        </p:nvSpPr>
        <p:spPr>
          <a:xfrm>
            <a:off x="502920" y="3593591"/>
            <a:ext cx="2286000" cy="356616"/>
          </a:xfrm>
          <a:prstGeom prst="roundRect">
            <a:avLst/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00" b="1">
                <a:solidFill>
                  <a:srgbClr val="121212"/>
                </a:solidFill>
                <a:latin typeface="Arial"/>
              </a:rPr>
              <a:t>APTOS: ECE / Brier</a:t>
            </a:r>
          </a:p>
        </p:txBody>
      </p:sp>
      <p:sp>
        <p:nvSpPr>
          <p:cNvPr id="226" name="V53.15"/>
          <p:cNvSpPr/>
          <p:nvPr/>
        </p:nvSpPr>
        <p:spPr>
          <a:xfrm>
            <a:off x="2880360" y="3593591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0.219 / 0.151</a:t>
            </a:r>
          </a:p>
        </p:txBody>
      </p:sp>
      <p:sp>
        <p:nvSpPr>
          <p:cNvPr id="227" name="V55.3"/>
          <p:cNvSpPr/>
          <p:nvPr/>
        </p:nvSpPr>
        <p:spPr>
          <a:xfrm>
            <a:off x="4846320" y="3593591"/>
            <a:ext cx="192024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0.082 / 0.046</a:t>
            </a:r>
          </a:p>
        </p:txBody>
      </p:sp>
      <p:sp>
        <p:nvSpPr>
          <p:cNvPr id="228" name="V57.45"/>
          <p:cNvSpPr/>
          <p:nvPr/>
        </p:nvSpPr>
        <p:spPr>
          <a:xfrm>
            <a:off x="6812280" y="3593591"/>
            <a:ext cx="1828800" cy="3566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000" b="0">
                <a:solidFill>
                  <a:srgbClr val="3a3a3a"/>
                </a:solidFill>
                <a:latin typeface="Arial"/>
              </a:rPr>
              <a:t>0.313 / 0.246</a:t>
            </a:r>
          </a:p>
        </p:txBody>
      </p:sp>
      <p:sp>
        <p:nvSpPr>
          <p:cNvPr id="229" name="Note"/>
          <p:cNvSpPr/>
          <p:nvPr/>
        </p:nvSpPr>
        <p:spPr>
          <a:xfrm>
            <a:off x="502920" y="4005072"/>
            <a:ext cx="8138160" cy="2926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900" b="0">
                <a:solidFill>
                  <a:srgbClr val="3a3a3a"/>
                </a:solidFill>
                <a:latin typeface="Arial"/>
              </a:rPr>
              <a:t>Group-split models, mean over seeds 42, 43, 44 with 95% patient-level bootstrap intervals. ECE and Brier: any DR vs No DR, all grades; lower is better.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Diagnostic checks, using saved files and train/validation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it; over 3 seeds AUROC changed by at most 0.003 on DDR and APTOS.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Within same-size APTOS groups the models still score 0.984 to 0.989.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and image size are not the explanation; the threshold and capture cues remain.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may carry other capture cues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does not explain its score (post-hoc), but its labels are still predictable from size alone (0.96).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removed, but a patient's other eye cannot be.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Post-hoc analyses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Per-grade, specificity and size-strata results were added after seeing the data and are labelled so.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AUROC 0.884 (0.870-0.897), specificity 0.90, ECE 0.056 vs 0.326 (A) and 0.717 (C).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labels; APTOS is confounded;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1. Own-source operating points (post-hoc)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2. Matched-subset check for APTOS capture cues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3. Use geometric augmentation on all classes; keep minority-only as the cue control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 Literature search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5. Write the thesis chapters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