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303" r:id="rId29"/>
    <p:sldId id="294" r:id="rId20"/>
    <p:sldId id="292" r:id="rId18"/>
    <p:sldId id="288" r:id="rId7"/>
    <p:sldId id="310" r:id="rId36"/>
    <p:sldId id="295" r:id="rId21"/>
    <p:sldId id="304" r:id="rId30"/>
    <p:sldId id="305" r:id="rId31"/>
    <p:sldId id="306" r:id="rId32"/>
    <p:sldId id="307" r:id="rId33"/>
    <p:sldId id="308" r:id="rId34"/>
    <p:sldId id="309" r:id="rId35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  
  <Relationship Id="rId20" Type="http://schemas.openxmlformats.org/officeDocument/2006/relationships/slide" Target="slides/slide13.xml"/>
  <Relationship Id="rId21" Type="http://schemas.openxmlformats.org/officeDocument/2006/relationships/slide" Target="slides/slide14.xml"/>
  
  
  
  
  
  
  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  <Relationship Id="rId35" Type="http://schemas.openxmlformats.org/officeDocument/2006/relationships/slide" Target="slides/slide28.xml"/>
  <Relationship Id="rId36" Type="http://schemas.openxmlformats.org/officeDocument/2006/relationships/slide" Target="slides/slide29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I have measured so far, and it changed the design of the project. Because the top-up is applied only to the short grades, grades 0 and 2 contain no EyePACS images while grades 1 and 3 are nearly 80 percent EyePACS. A quarter of the severity label is recoverable from the dataset name alone. Every merged EyePACS image carries disease, so a model that learns only to recognise the camera gets 38.7 percent of disease cases right with no false alarms — and only for the earliest decision, which is the one I am targeting. So the merge is not just an imbalance fix; it has a cost, and the thesis now measures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3_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4_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3_1.png"/><Relationship Id="rIdImg2" Type="http://schemas.openxmlformats.org/officeDocument/2006/relationships/image" Target="../media/chart_slide23_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6_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Project progress update: group-split results, three seeds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all EyePACS grades,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(control): DDR + EyePACS grades 1, 3, 4 only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does well on its own test, not on unseen sources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6E6E"/>
                </a:solidFill>
                <a:latin typeface="Arial"/>
              </a:rPr>
              <a:t>PROGRESS  ·  MEASURED ON THE REAL DDR + EYEPACS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486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EyePACS merge has a measurable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24128"/>
            <a:ext cx="8284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7173"/>
                </a:solidFill>
                <a:latin typeface="Arial"/>
              </a:rPr>
              <a:t>Topping up only the short grades links “which dataset” to “how severe”. Measured from the label files alone — no images, no GPU, no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426464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F7173"/>
                </a:solidFill>
                <a:latin typeface="Arial"/>
              </a:rPr>
              <a:t>SHARE OF EACH GRADE TAKEN FROM EYEPACS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929384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8836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240279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240279"/>
            <a:ext cx="173370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94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51176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2862072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862072"/>
            <a:ext cx="1727118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281635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172968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172968"/>
            <a:ext cx="95902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12724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43.7%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1426464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0.512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755648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the severity label is recoverable from the dataset name alone — 24.6% of its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185416"/>
            <a:ext cx="4087368" cy="731520"/>
          </a:xfrm>
          <a:prstGeom prst="roundRect">
            <a:avLst>
              <a:gd name="adj" fmla="val 6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14600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merged EyePACS images carry disease, so 38.7% of all disease cases are identifiable purely by recognising the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3017520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0998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  <a:latin typeface="Arial"/>
              </a:rPr>
              <a:t>0.167 → 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346704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score of a dataset-name-only predictor: under a random split, versus in a single-clinic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12463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The shortcut is specific to the earliest decision — any disease versus none (AUC 0.694), and useless for referable disease (0.482).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That is exactly the decision this thesis targets, so the merge must be audited rather than assumed safe.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389120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F7173"/>
                </a:solidFill>
                <a:latin typeface="Arial"/>
              </a:rPr>
              <a:t>A classifier also tells DDR from EyePACS images with AUROC 0.996. Design consequence: three arms (A DDR only, B source-balanced, C this merge as a negative control), with every result reported per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36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717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Data: Three Fundus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Different sizes, grade mixes and cameras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pic>
        <p:nvPicPr>
          <p:cNvPr id="201" name="Chart 1" descr="Bar chart: percentage of each DR grade in DDR, EyePACS and APTO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12,522 gradable images. Random 60/20/20 split (7,454 / 2,552 / 2,516): this copy has no official split or patient IDs.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35,108 images. Split by patient: 24,572 train, 5,266 validation, 5,270 test.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3,662 images. External test only: never used for training or model selection.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Early DR (grades 1-2) is 41% of DDR, 22% of EyePACS and 37% of APTOS.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Training Setup and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EfficientNet-B0, 512 px, 10 epochs, 3 seeds per arm (original run)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pic>
        <p:nvPicPr>
          <p:cNvPr id="201" name="Chart 1" descr="Line chart: validation PR-AUC per epoch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Same recipe for every arm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AdamW, learning rate 3e-4, mixed precision. Best epoch chosen on validation only.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Cost on a Kaggle GPU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About 110 s per epoch (A), 450 s (B), 150 s (C): roughly 6 hours for the nine runs.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Raw outputs are overconfident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Fitted temperature T = 1.6 to 2.4 across the nine runs; calibration is fitted on validation.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Validation sets differ by arm, so these curves show convergence, not which arm is better.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Progress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Where the project stands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  <p:sp>
        <p:nvSpPr>
          <p:cNvPr id="201" name="Column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Done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Data audit and Kaggle pipeline: prepare, train, calibrate, evaluate, plot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Arms A, B, C: original run and group-split run, 3 seeds each, evaluated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Internal and APTOS evaluation; 14 imbalance runs and 3 extensions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Checks: duplicates, image properties, strong augmentation, APTOS size strata</a:t>
            </a:r>
          </a:p>
        </p:txBody>
      </p:sp>
      <p:sp>
        <p:nvSpPr>
          <p:cNvPr id="202" name="Column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Checked and ruled out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Near-duplicate leakage does not explain the high DDR scores (AUROC changed by at most 0.003 on DDR and APTOS)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Image size alone does not explain the APTOS score (0.984 to 0.989 within same-size groups; post-hoc)</a:t>
            </a:r>
          </a:p>
        </p:txBody>
      </p:sp>
      <p:sp>
        <p:nvSpPr>
          <p:cNvPr id="203" name="Column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To do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Own-source operating points (post-hoc)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Matched-subset check for APTOS capture cues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Literature search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Write the thesis chapters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Main findings: the original merge teaches the source; in-domain scores are inflated.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Key Results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A: DDR only. B: DDR + EyePACS, source-balanced. C: old merge. Original run, 3 seeds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  <p:pic>
        <p:nvPicPr>
          <p:cNvPr id="201" name="Chart 1" descr="Bar charts: DDR sensitivity and specificity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554480"/>
            <a:ext cx="3685032" cy="2103120"/>
          </a:xfrm>
          <a:prstGeom prst="rect">
            <a:avLst/>
          </a:prstGeom>
        </p:spPr>
      </p:pic>
      <p:pic>
        <p:nvPicPr>
          <p:cNvPr id="202" name="Chart 2" descr="Bar charts: EyePACS sensitivity and specificity for arms A, B and C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663440" y="1554480"/>
            <a:ext cx="3685032" cy="2103120"/>
          </a:xfrm>
          <a:prstGeom prst="rect">
            <a:avLst/>
          </a:prstGeom>
        </p:spPr>
      </p:pic>
      <p:sp>
        <p:nvSpPr>
          <p:cNvPr id="203" name="Heading 1"/>
          <p:cNvSpPr/>
          <p:nvPr/>
        </p:nvSpPr>
        <p:spPr>
          <a:xfrm>
            <a:off x="45720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test set</a:t>
            </a:r>
          </a:p>
        </p:txBody>
      </p:sp>
      <p:sp>
        <p:nvSpPr>
          <p:cNvPr id="204" name="Heading 2"/>
          <p:cNvSpPr/>
          <p:nvPr/>
        </p:nvSpPr>
        <p:spPr>
          <a:xfrm>
            <a:off x="466344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Held-out EyePACS patients</a:t>
            </a:r>
          </a:p>
        </p:txBody>
      </p:sp>
      <p:sp>
        <p:nvSpPr>
          <p:cNvPr id="205" name="Takeaway 1"/>
          <p:cNvSpPr/>
          <p:nvPr/>
        </p:nvSpPr>
        <p:spPr>
          <a:xfrm>
            <a:off x="457200" y="3657600"/>
            <a:ext cx="402336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Original run, 3 seeds: sensitivity 0.93 with specificity 0.91, all arms alike.</a:t>
            </a:r>
          </a:p>
        </p:txBody>
      </p:sp>
      <p:sp>
        <p:nvSpPr>
          <p:cNvPr id="206" name="Takeaway 2"/>
          <p:cNvSpPr/>
          <p:nvPr/>
        </p:nvSpPr>
        <p:spPr>
          <a:xfrm>
            <a:off x="4663440" y="3657600"/>
            <a:ext cx="4023360" cy="603504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Same threshold: specificity 0.39 (A), 0.89 (B), 0.013 (C): C flags 99% of healthy images.</a:t>
            </a:r>
          </a:p>
        </p:txBody>
      </p:sp>
      <p:sp>
        <p:nvSpPr>
          <p:cNvPr id="207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frozen threshold does not transfer across datasets: compare AUROC, not sensitivity.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Group-Split Results (Three Seeds)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Mean ± sd over seeds 42, 43, 44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  <p:sp>
        <p:nvSpPr>
          <p:cNvPr id="201" name="H Metric"/>
          <p:cNvSpPr/>
          <p:nvPr/>
        </p:nvSpPr>
        <p:spPr>
          <a:xfrm>
            <a:off x="502920" y="1280160"/>
            <a:ext cx="2834640" cy="292608"/>
          </a:xfrm>
          <a:prstGeom prst="roundRect">
            <a:avLst/>
          </a:prstGeom>
          <a:solidFill>
            <a:srgbClr val="3D5F84"/>
          </a:solidFill>
          <a:ln w="9525">
            <a:solidFill>
              <a:srgbClr val="3D5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202" name="H A: DDR only"/>
          <p:cNvSpPr/>
          <p:nvPr/>
        </p:nvSpPr>
        <p:spPr>
          <a:xfrm>
            <a:off x="3429000" y="1280160"/>
            <a:ext cx="1737360" cy="292608"/>
          </a:xfrm>
          <a:prstGeom prst="roundRect">
            <a:avLst/>
          </a:prstGeom>
          <a:solidFill>
            <a:srgbClr val="3D5F84"/>
          </a:solidFill>
          <a:ln w="9525">
            <a:solidFill>
              <a:srgbClr val="3D5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A: DDR only</a:t>
            </a:r>
          </a:p>
        </p:txBody>
      </p:sp>
      <p:sp>
        <p:nvSpPr>
          <p:cNvPr id="203" name="H B: source-balanced"/>
          <p:cNvSpPr/>
          <p:nvPr/>
        </p:nvSpPr>
        <p:spPr>
          <a:xfrm>
            <a:off x="5257800" y="1280160"/>
            <a:ext cx="1737360" cy="292608"/>
          </a:xfrm>
          <a:prstGeom prst="roundRect">
            <a:avLst/>
          </a:prstGeom>
          <a:solidFill>
            <a:srgbClr val="3D5F84"/>
          </a:solidFill>
          <a:ln w="9525">
            <a:solidFill>
              <a:srgbClr val="3D5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B: source-balanced</a:t>
            </a:r>
          </a:p>
        </p:txBody>
      </p:sp>
      <p:sp>
        <p:nvSpPr>
          <p:cNvPr id="204" name="H C: old merge"/>
          <p:cNvSpPr/>
          <p:nvPr/>
        </p:nvSpPr>
        <p:spPr>
          <a:xfrm>
            <a:off x="7086600" y="1280160"/>
            <a:ext cx="1554480" cy="292608"/>
          </a:xfrm>
          <a:prstGeom prst="roundRect">
            <a:avLst/>
          </a:prstGeom>
          <a:solidFill>
            <a:srgbClr val="3D5F84"/>
          </a:solidFill>
          <a:ln w="9525">
            <a:solidFill>
              <a:srgbClr val="3D5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C: old merge</a:t>
            </a:r>
          </a:p>
        </p:txBody>
      </p:sp>
      <p:sp>
        <p:nvSpPr>
          <p:cNvPr id="205" name="M0"/>
          <p:cNvSpPr/>
          <p:nvPr/>
        </p:nvSpPr>
        <p:spPr>
          <a:xfrm>
            <a:off x="502920" y="1627632"/>
            <a:ext cx="2834640" cy="41148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00" b="1">
                <a:solidFill>
                  <a:srgbClr val="121212"/>
                </a:solidFill>
                <a:latin typeface="Arial"/>
              </a:rPr>
              <a:t>DDR: sensitivity at frozen threshold</a:t>
            </a:r>
          </a:p>
        </p:txBody>
      </p:sp>
      <p:sp>
        <p:nvSpPr>
          <p:cNvPr id="206" name="V03.75"/>
          <p:cNvSpPr/>
          <p:nvPr/>
        </p:nvSpPr>
        <p:spPr>
          <a:xfrm>
            <a:off x="3429000" y="1627632"/>
            <a:ext cx="173736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0.941 ± 0.009</a:t>
            </a:r>
          </a:p>
        </p:txBody>
      </p:sp>
      <p:sp>
        <p:nvSpPr>
          <p:cNvPr id="207" name="V05.75"/>
          <p:cNvSpPr/>
          <p:nvPr/>
        </p:nvSpPr>
        <p:spPr>
          <a:xfrm>
            <a:off x="5257800" y="1627632"/>
            <a:ext cx="173736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0.925 ± 0.004</a:t>
            </a:r>
          </a:p>
        </p:txBody>
      </p:sp>
      <p:sp>
        <p:nvSpPr>
          <p:cNvPr id="208" name="V07.75"/>
          <p:cNvSpPr/>
          <p:nvPr/>
        </p:nvSpPr>
        <p:spPr>
          <a:xfrm>
            <a:off x="7086600" y="1627632"/>
            <a:ext cx="155448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0.938 ± 0.005</a:t>
            </a:r>
          </a:p>
        </p:txBody>
      </p:sp>
      <p:sp>
        <p:nvSpPr>
          <p:cNvPr id="209" name="M1"/>
          <p:cNvSpPr/>
          <p:nvPr/>
        </p:nvSpPr>
        <p:spPr>
          <a:xfrm>
            <a:off x="502920" y="2084832"/>
            <a:ext cx="2834640" cy="41148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00" b="1">
                <a:solidFill>
                  <a:srgbClr val="121212"/>
                </a:solidFill>
                <a:latin typeface="Arial"/>
              </a:rPr>
              <a:t>EyePACS: AUROC</a:t>
            </a:r>
          </a:p>
        </p:txBody>
      </p:sp>
      <p:sp>
        <p:nvSpPr>
          <p:cNvPr id="210" name="V13.75"/>
          <p:cNvSpPr/>
          <p:nvPr/>
        </p:nvSpPr>
        <p:spPr>
          <a:xfrm>
            <a:off x="3429000" y="2084832"/>
            <a:ext cx="173736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0.780 ± 0.006</a:t>
            </a:r>
          </a:p>
        </p:txBody>
      </p:sp>
      <p:sp>
        <p:nvSpPr>
          <p:cNvPr id="211" name="V15.75"/>
          <p:cNvSpPr/>
          <p:nvPr/>
        </p:nvSpPr>
        <p:spPr>
          <a:xfrm>
            <a:off x="5257800" y="2084832"/>
            <a:ext cx="173736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0.884 ± 0.002</a:t>
            </a:r>
          </a:p>
        </p:txBody>
      </p:sp>
      <p:sp>
        <p:nvSpPr>
          <p:cNvPr id="212" name="V17.75"/>
          <p:cNvSpPr/>
          <p:nvPr/>
        </p:nvSpPr>
        <p:spPr>
          <a:xfrm>
            <a:off x="7086600" y="2084832"/>
            <a:ext cx="155448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0.717 ± 0.011</a:t>
            </a:r>
          </a:p>
        </p:txBody>
      </p:sp>
      <p:sp>
        <p:nvSpPr>
          <p:cNvPr id="213" name="M2"/>
          <p:cNvSpPr/>
          <p:nvPr/>
        </p:nvSpPr>
        <p:spPr>
          <a:xfrm>
            <a:off x="502920" y="2542032"/>
            <a:ext cx="2834640" cy="41148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00" b="1">
                <a:solidFill>
                  <a:srgbClr val="121212"/>
                </a:solidFill>
                <a:latin typeface="Arial"/>
              </a:rPr>
              <a:t>EyePACS: specificity at frozen threshold</a:t>
            </a:r>
          </a:p>
        </p:txBody>
      </p:sp>
      <p:sp>
        <p:nvSpPr>
          <p:cNvPr id="214" name="V23.75"/>
          <p:cNvSpPr/>
          <p:nvPr/>
        </p:nvSpPr>
        <p:spPr>
          <a:xfrm>
            <a:off x="3429000" y="2542032"/>
            <a:ext cx="173736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0.438 ± 0.019</a:t>
            </a:r>
          </a:p>
        </p:txBody>
      </p:sp>
      <p:sp>
        <p:nvSpPr>
          <p:cNvPr id="215" name="V25.75"/>
          <p:cNvSpPr/>
          <p:nvPr/>
        </p:nvSpPr>
        <p:spPr>
          <a:xfrm>
            <a:off x="5257800" y="2542032"/>
            <a:ext cx="173736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0.898 ± 0.004</a:t>
            </a:r>
          </a:p>
        </p:txBody>
      </p:sp>
      <p:sp>
        <p:nvSpPr>
          <p:cNvPr id="216" name="V27.75"/>
          <p:cNvSpPr/>
          <p:nvPr/>
        </p:nvSpPr>
        <p:spPr>
          <a:xfrm>
            <a:off x="7086600" y="2542032"/>
            <a:ext cx="155448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0.008 ± 0.001</a:t>
            </a:r>
          </a:p>
        </p:txBody>
      </p:sp>
      <p:sp>
        <p:nvSpPr>
          <p:cNvPr id="217" name="M3"/>
          <p:cNvSpPr/>
          <p:nvPr/>
        </p:nvSpPr>
        <p:spPr>
          <a:xfrm>
            <a:off x="502920" y="2999232"/>
            <a:ext cx="2834640" cy="41148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00" b="1">
                <a:solidFill>
                  <a:srgbClr val="121212"/>
                </a:solidFill>
                <a:latin typeface="Arial"/>
              </a:rPr>
              <a:t>APTOS: AUROC</a:t>
            </a:r>
          </a:p>
        </p:txBody>
      </p:sp>
      <p:sp>
        <p:nvSpPr>
          <p:cNvPr id="218" name="V33.75"/>
          <p:cNvSpPr/>
          <p:nvPr/>
        </p:nvSpPr>
        <p:spPr>
          <a:xfrm>
            <a:off x="3429000" y="2999232"/>
            <a:ext cx="173736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0.994 ± 0.005</a:t>
            </a:r>
          </a:p>
        </p:txBody>
      </p:sp>
      <p:sp>
        <p:nvSpPr>
          <p:cNvPr id="219" name="V35.75"/>
          <p:cNvSpPr/>
          <p:nvPr/>
        </p:nvSpPr>
        <p:spPr>
          <a:xfrm>
            <a:off x="5257800" y="2999232"/>
            <a:ext cx="173736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0.994 ± 0.001</a:t>
            </a:r>
          </a:p>
        </p:txBody>
      </p:sp>
      <p:sp>
        <p:nvSpPr>
          <p:cNvPr id="220" name="V37.75"/>
          <p:cNvSpPr/>
          <p:nvPr/>
        </p:nvSpPr>
        <p:spPr>
          <a:xfrm>
            <a:off x="7086600" y="2999232"/>
            <a:ext cx="155448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0.990 ± 0.003</a:t>
            </a:r>
          </a:p>
        </p:txBody>
      </p:sp>
      <p:sp>
        <p:nvSpPr>
          <p:cNvPr id="221" name="M4"/>
          <p:cNvSpPr/>
          <p:nvPr/>
        </p:nvSpPr>
        <p:spPr>
          <a:xfrm>
            <a:off x="502920" y="3456432"/>
            <a:ext cx="2834640" cy="41148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00" b="1">
                <a:solidFill>
                  <a:srgbClr val="121212"/>
                </a:solidFill>
                <a:latin typeface="Arial"/>
              </a:rPr>
              <a:t>EyePACS: PR-AUC (early vs none)</a:t>
            </a:r>
          </a:p>
        </p:txBody>
      </p:sp>
      <p:sp>
        <p:nvSpPr>
          <p:cNvPr id="222" name="V43.75"/>
          <p:cNvSpPr/>
          <p:nvPr/>
        </p:nvSpPr>
        <p:spPr>
          <a:xfrm>
            <a:off x="3429000" y="3456432"/>
            <a:ext cx="173736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0.569 ± 0.028</a:t>
            </a:r>
          </a:p>
        </p:txBody>
      </p:sp>
      <p:sp>
        <p:nvSpPr>
          <p:cNvPr id="223" name="V45.75"/>
          <p:cNvSpPr/>
          <p:nvPr/>
        </p:nvSpPr>
        <p:spPr>
          <a:xfrm>
            <a:off x="5257800" y="3456432"/>
            <a:ext cx="173736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0.800 ± 0.002</a:t>
            </a:r>
          </a:p>
        </p:txBody>
      </p:sp>
      <p:sp>
        <p:nvSpPr>
          <p:cNvPr id="224" name="V47.75"/>
          <p:cNvSpPr/>
          <p:nvPr/>
        </p:nvSpPr>
        <p:spPr>
          <a:xfrm>
            <a:off x="7086600" y="3456432"/>
            <a:ext cx="155448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0.465 ± 0.019</a:t>
            </a:r>
          </a:p>
        </p:txBody>
      </p:sp>
      <p:sp>
        <p:nvSpPr>
          <p:cNvPr id="225" name="Note"/>
          <p:cNvSpPr/>
          <p:nvPr/>
        </p:nvSpPr>
        <p:spPr>
          <a:xfrm>
            <a:off x="502920" y="3931920"/>
            <a:ext cx="813816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950" b="0">
                <a:solidFill>
                  <a:srgbClr val="3a3a3a"/>
                </a:solidFill>
                <a:latin typeface="Arial"/>
              </a:rPr>
              <a:t>Group-split models, mean ± sd over seeds 42, 43, 44. A = DDR only. B = DDR + all EyePACS, source-balanced. C = DDR + EyePACS grades 1, 3, 4. ECE, Brier and intervals still to report.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 Checks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Diagnostic checks, using saved files and train/validation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Duplicates and split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834 candidate groups; 4% of DDR test had a near-duplicate in train. A group split removed it; over 3 seeds AUROC changed by at most 0.003 on DDR and APTOS.</a:t>
            </a:r>
          </a:p>
        </p:txBody>
      </p:sp>
      <p:sp>
        <p:nvSpPr>
          <p:cNvPr id="202" name="Card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Image properties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Image size alone: DDR 0.58, APTOS 0.96, EyePACS 0.53. Within same-size APTOS groups the models still score 0.984 to 0.989.</a:t>
            </a:r>
          </a:p>
        </p:txBody>
      </p:sp>
      <p:sp>
        <p:nvSpPr>
          <p:cNvPr id="203" name="Card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Strong augmentation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BatchNorm mismatch from the noise/blur part. Geometric aug on all classes: 0.977; on minority only: 0.834 (a label cue).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Duplicates and image size are not the explanation; the threshold and capture cues remain.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4: Imbalance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Sampler, loss and augmentation, one change at a time (single seed, 14 runs)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11</a:t>
            </a:r>
          </a:p>
        </p:txBody>
      </p:sp>
      <p:pic>
        <p:nvPicPr>
          <p:cNvPr id="201" name="Chart 1" descr="Horizontal bars: best validation score of fourteen imbalance run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4572000" cy="301752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No method beat baseline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Best 0.9772 (geometric aug, all classes) vs baseline 0.9761: inside seed noise.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Augmentation leaked the label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Geometric aug on all classes: 0.977. On minority classes only: 0.834. Strong aug failed for another reason: next slide.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Limit of the test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score is early-vs-none PR-AUC; rare grades 1, 3 and 4 are not scored separately.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On this metric, plain cross-entropy is as good as every imbalance method.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These Results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Read before quoting any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12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The frozen threshold does not transfer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On EyePACS specificity is 0.39 (A) and 0.013 (C): sensitivity alone is misleading off-domain.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APTOS may carry other capture cues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Size does not explain its score (post-hoc), but its labels are still predictable from size alone (0.96).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4320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DDR: same-patient leakage remains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 patient IDs. Near-duplicates were removed, but a patient's other eye cannot be.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4320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Post-hoc analyses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Per-grade, specificity and size-strata results were added after seeing the data and are labelled so.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EyePACS, with a patient-level split and clean properties, is the most trustworthy benchmark.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the evidence supports so far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13</a:t>
            </a:r>
          </a:p>
        </p:txBody>
      </p:sp>
      <p:sp>
        <p:nvSpPr>
          <p:cNvPr id="201" name="Conclusion 1"/>
          <p:cNvSpPr/>
          <p:nvPr/>
        </p:nvSpPr>
        <p:spPr>
          <a:xfrm>
            <a:off x="502920" y="1280160"/>
            <a:ext cx="4069080" cy="9144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merge as written teaches the source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 flags 99% of healthy EyePACS images as DR, matching the label audit.</a:t>
            </a:r>
          </a:p>
        </p:txBody>
      </p:sp>
      <p:sp>
        <p:nvSpPr>
          <p:cNvPr id="202" name="Conclusion 2"/>
          <p:cNvSpPr/>
          <p:nvPr/>
        </p:nvSpPr>
        <p:spPr>
          <a:xfrm>
            <a:off x="502920" y="2286000"/>
            <a:ext cx="4069080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Source-balancing helps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B: EyePACS specificity 0.89, AUROC 0.88; DDR sensitivity unchanged.</a:t>
            </a:r>
          </a:p>
        </p:txBody>
      </p:sp>
      <p:sp>
        <p:nvSpPr>
          <p:cNvPr id="203" name="Conclusion 3"/>
          <p:cNvSpPr/>
          <p:nvPr/>
        </p:nvSpPr>
        <p:spPr>
          <a:xfrm>
            <a:off x="502920" y="3291840"/>
            <a:ext cx="40690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 is the clean benchmark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Properties do not predict its labels; APTOS is confounded; DDR leakage is small.</a:t>
            </a:r>
          </a:p>
        </p:txBody>
      </p:sp>
      <p:sp>
        <p:nvSpPr>
          <p:cNvPr id="204" name="Next steps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Next steps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1. Own-source operating points (post-hoc)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2. Matched-subset check for APTOS capture cues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3. Use geometric augmentation on all classes; keep minority-only as the cue control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4. Literature search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5. Write the thesis chapters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The Three Data 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Exactly what each arm trains 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sp>
        <p:nvSpPr>
          <p:cNvPr id="201" name="Arm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A: DDR only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Trained on DDR alone. The clean baseline: it never sees EyePACS.</a:t>
            </a:r>
          </a:p>
          <a:p>
            <a:pPr algn="l"/>
            <a:r>
              <a:rPr sz="1050" b="1">
                <a:solidFill>
                  <a:srgbClr val="121212"/>
                </a:solidFill>
                <a:latin typeface="Arial"/>
              </a:rPr>
              <a:t>Role: baseline</a:t>
            </a:r>
          </a:p>
        </p:txBody>
      </p:sp>
      <p:sp>
        <p:nvSpPr>
          <p:cNvPr id="202" name="Arm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B: DDR + all EyePACS, source-balanced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All EyePACS grades are added. The sampler makes each source equally likely within every grade, so grade frequencies stay natural.</a:t>
            </a:r>
          </a:p>
          <a:p>
            <a:pPr algn="l"/>
            <a:r>
              <a:rPr sz="1050" b="1">
                <a:solidFill>
                  <a:srgbClr val="121212"/>
                </a:solidFill>
                <a:latin typeface="Arial"/>
              </a:rPr>
              <a:t>Role: does more data help without teaching the source?</a:t>
            </a:r>
          </a:p>
        </p:txBody>
      </p:sp>
      <p:sp>
        <p:nvSpPr>
          <p:cNvPr id="203" name="Arm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C: the old merge (negative control)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DDR plus only EyePACS grades 1, 3 and 4: no EyePACS No DR and no grade 2. EyePACS then supplies mostly disease images, so the dataset name predicts disease.</a:t>
            </a:r>
          </a:p>
          <a:p>
            <a:pPr algn="l"/>
            <a:r>
              <a:rPr sz="1050" b="1">
                <a:solidFill>
                  <a:srgbClr val="121212"/>
                </a:solidFill>
                <a:latin typeface="Arial"/>
              </a:rPr>
              <a:t>Role: a deliberately flawed control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Everything else is identical: model, image size, epochs, frozen splits and seeds.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