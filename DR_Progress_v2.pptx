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256" r:id="rId2"/>
    <p:sldId id="303" r:id="rId29"/>
    <p:sldId id="294" r:id="rId20"/>
    <p:sldId id="292" r:id="rId18"/>
    <p:sldId id="288" r:id="rId7"/>
    <p:sldId id="295" r:id="rId21"/>
    <p:sldId id="304" r:id="rId30"/>
    <p:sldId id="305" r:id="rId31"/>
    <p:sldId id="306" r:id="rId32"/>
    <p:sldId id="307" r:id="rId33"/>
    <p:sldId id="308" r:id="rId34"/>
    <p:sldId id="267" r:id="rId11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4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  
  <Relationship Id="rId20" Type="http://schemas.openxmlformats.org/officeDocument/2006/relationships/slide" Target="slides/slide13.xml"/>
  <Relationship Id="rId21" Type="http://schemas.openxmlformats.org/officeDocument/2006/relationships/slide" Target="slides/slide14.xml"/>
  
  
  
  
  
  
  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  <Relationship Id="rId34" Type="http://schemas.openxmlformats.org/officeDocument/2006/relationships/slide" Target="slides/slide27.xml"/>
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12860-1975-8061-2CE3-B8E45943A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CB5A-3658-0982-E0B8-69C71A92D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A7F9D-9802-4ED6-BF56-25C5E2F8229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39F0A-E2E7-21E1-8E46-E4DB86F5B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522C-0746-6130-9787-88A42369E1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515B6-B6AE-41D6-8F0F-4DD928EAA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83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what I have measured so far, and it changed the design of the project. Because the top-up is applied only to the short grades, grades 0 and 2 contain no EyePACS images while grades 1 and 3 are nearly 80 percent EyePACS. A quarter of the severity label is recoverable from the dataset name alone. Every merged EyePACS image carries disease, so a model that learns only to recognise the camera gets 38.7 percent of disease cases right with no false alarms — and only for the earliest decision, which is the one I am targeting. So the merge is not just an imbalance fix; it has a cost, and the thesis now measures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36195" y="2318983"/>
            <a:ext cx="5654749" cy="55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36195" y="2894946"/>
            <a:ext cx="565474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6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299504" y="184149"/>
            <a:ext cx="1819687" cy="193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6677" y="934104"/>
            <a:ext cx="6928451" cy="53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5">
            <a:alphaModFix amt="12000"/>
          </a:blip>
          <a:srcRect l="4751" t="1941" r="-4750" b="51083"/>
          <a:stretch/>
        </p:blipFill>
        <p:spPr>
          <a:xfrm>
            <a:off x="6864096" y="1829521"/>
            <a:ext cx="1924301" cy="331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536408" y="1177748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3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28" name="Google Shape;28;p3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l="2193" t="294" r="2531" b="-293"/>
          <a:stretch/>
        </p:blipFill>
        <p:spPr>
          <a:xfrm>
            <a:off x="1793311" y="0"/>
            <a:ext cx="735068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4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5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6603" y="556528"/>
            <a:ext cx="4167397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4840586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6209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332353" y="9004"/>
            <a:ext cx="3788497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r="16118"/>
          <a:stretch/>
        </p:blipFill>
        <p:spPr>
          <a:xfrm>
            <a:off x="5625197" y="556528"/>
            <a:ext cx="3495654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5489179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4802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3760" y="702216"/>
            <a:ext cx="3865880" cy="44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 flipH="1">
            <a:off x="4683073" y="720320"/>
            <a:ext cx="19949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36668" y="9004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>
  <p:cSld name="5_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36" y="0"/>
            <a:ext cx="45360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4791393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4791393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427668" y="729324"/>
            <a:ext cx="14320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4677507" y="914401"/>
            <a:ext cx="4466494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9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 b="19853"/>
          <a:stretch/>
        </p:blipFill>
        <p:spPr>
          <a:xfrm rot="-8851503">
            <a:off x="5255191" y="465522"/>
            <a:ext cx="930293" cy="24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677505" y="0"/>
            <a:ext cx="4466495" cy="914400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2058" y="2670664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>
            <a:spLocks noGrp="1"/>
          </p:cNvSpPr>
          <p:nvPr>
            <p:ph type="ctrTitle"/>
          </p:nvPr>
        </p:nvSpPr>
        <p:spPr>
          <a:xfrm>
            <a:off x="330905" y="295171"/>
            <a:ext cx="2249504" cy="55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5433" y="642359"/>
            <a:ext cx="804339" cy="81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433" y="1660176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163311" y="665781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3186250" y="170068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194563" y="270652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746" y="3663543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/>
          <p:nvPr/>
        </p:nvSpPr>
        <p:spPr>
          <a:xfrm>
            <a:off x="3186250" y="3704055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-26057" y="-9562"/>
            <a:ext cx="543222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1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97" name="Google Shape;97;p11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1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00" name="Google Shape;100;p11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1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2" descr="A group of people posing for the camera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9563"/>
            <a:ext cx="5387332" cy="5161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2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109" name="Google Shape;109;p12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2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12" name="Google Shape;112;p12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2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 descr="A group of people walking down a street  Description automatically generated"/>
          <p:cNvPicPr preferRelativeResize="0"/>
          <p:nvPr/>
        </p:nvPicPr>
        <p:blipFill rotWithShape="1">
          <a:blip r:embed="rId2">
            <a:alphaModFix/>
          </a:blip>
          <a:srcRect t="-162" b="-176"/>
          <a:stretch/>
        </p:blipFill>
        <p:spPr>
          <a:xfrm>
            <a:off x="3369971" y="-17293"/>
            <a:ext cx="5774029" cy="5160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3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3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ection Header">
  <p:cSld name="6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 descr="A group of people walking down a street next to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07449" y="0"/>
            <a:ext cx="4536551" cy="51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512001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512001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/>
          <p:nvPr/>
        </p:nvSpPr>
        <p:spPr>
          <a:xfrm flipH="1">
            <a:off x="4607449" y="729324"/>
            <a:ext cx="147431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15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1" name="Google Shape;141;p15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5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eader &amp; Subtitle">
  <p:cSld name="1_Header &amp; Subtitl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16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536408" y="1146189"/>
            <a:ext cx="8140628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9" name="Google Shape;149;p16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6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2718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7"/>
          <p:cNvGrpSpPr/>
          <p:nvPr/>
        </p:nvGrpSpPr>
        <p:grpSpPr>
          <a:xfrm>
            <a:off x="198023" y="147081"/>
            <a:ext cx="8503920" cy="543191"/>
            <a:chOff x="198023" y="147081"/>
            <a:chExt cx="8700480" cy="543191"/>
          </a:xfrm>
        </p:grpSpPr>
        <p:pic>
          <p:nvPicPr>
            <p:cNvPr id="154" name="Google Shape;154;p17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023" y="151749"/>
              <a:ext cx="49224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7"/>
            <p:cNvSpPr/>
            <p:nvPr/>
          </p:nvSpPr>
          <p:spPr>
            <a:xfrm>
              <a:off x="690269" y="147081"/>
              <a:ext cx="8208234" cy="64008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536408" y="229323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536408" y="1169435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lumn Content">
  <p:cSld name="Two Collumn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536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2"/>
          </p:nvPr>
        </p:nvSpPr>
        <p:spPr>
          <a:xfrm>
            <a:off x="4727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18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8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65" name="Google Shape;165;p18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536408" y="1151335"/>
            <a:ext cx="396098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2"/>
          </p:nvPr>
        </p:nvSpPr>
        <p:spPr>
          <a:xfrm>
            <a:off x="536408" y="1631156"/>
            <a:ext cx="396098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3"/>
          </p:nvPr>
        </p:nvSpPr>
        <p:spPr>
          <a:xfrm>
            <a:off x="4724265" y="1151335"/>
            <a:ext cx="396253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4"/>
          </p:nvPr>
        </p:nvSpPr>
        <p:spPr>
          <a:xfrm>
            <a:off x="4724265" y="1631156"/>
            <a:ext cx="3962536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9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76" name="Google Shape;176;p19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28600" y="1126999"/>
            <a:ext cx="8769096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0509" y="4720046"/>
            <a:ext cx="320286" cy="34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357250" y="4806164"/>
            <a:ext cx="26733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3_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4_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3_1.png"/><Relationship Id="rIdImg2" Type="http://schemas.openxmlformats.org/officeDocument/2006/relationships/image" Target="../media/chart_slide23_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5_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subTitle" idx="1"/>
          </p:nvPr>
        </p:nvSpPr>
        <p:spPr>
          <a:xfrm>
            <a:off x="2103863" y="3465715"/>
            <a:ext cx="4906537" cy="121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Project progress update: DDR, EyePACS and APTOS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Advisor: Navid Amini, PhD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r>
              <a:rPr lang="en-US"/>
              <a:t>Department of Computer Science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0" y="2112255"/>
            <a:ext cx="91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dk1"/>
                </a:solidFill>
              </a:rPr>
              <a:t>Early Detection of Diabetic Retinopathy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7E60-3D38-F4EB-DDD8-AB78CC76A965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data arms, one change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>
                <a:solidFill>
                  <a:srgbClr val="121212"/>
                </a:solidFill>
                <a:latin typeface="Arial"/>
              </a:rPr>
              <a:t>Same model, image size and epochs; frozen patient-level splits; test sets opened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Data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DDR, EyePACS, APTOS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Prepare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Crop, pad, 512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Merge arms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A, B,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Model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EfficientNet-B0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456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Output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Calibrated, 95%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743200"/>
            <a:ext cx="2514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Imbalance methods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Weighted sampler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Class-balanced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Focal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Strong augmentation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Augmentation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743200"/>
            <a:ext cx="29260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The three 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99232"/>
            <a:ext cx="352044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A: DDR only (clean baseline)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B: DDR + EyePACS, source-balanced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C: version 1 merge (negative control)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 wins on its own test but not on APTOS = it learned the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160520"/>
            <a:ext cx="6903720" cy="329184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Not a new network: the value is the design, the controls and the evidence.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</a:t>
            </a: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3022105-94A7-5198-D6E2-77CC59383713}"/>
              </a:ext>
            </a:extLst>
          </p:cNvPr>
          <p:cNvSpPr/>
          <p:nvPr/>
        </p:nvSpPr>
        <p:spPr>
          <a:xfrm flipV="1">
            <a:off x="2059718" y="205701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582591C4-F68D-4A15-B6B9-5FEB08D109EA}"/>
              </a:ext>
            </a:extLst>
          </p:cNvPr>
          <p:cNvSpPr/>
          <p:nvPr/>
        </p:nvSpPr>
        <p:spPr>
          <a:xfrm flipV="1">
            <a:off x="3660991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856019FD-6159-C16E-82A6-31C9B8A4135D}"/>
              </a:ext>
            </a:extLst>
          </p:cNvPr>
          <p:cNvSpPr/>
          <p:nvPr/>
        </p:nvSpPr>
        <p:spPr>
          <a:xfrm flipV="1">
            <a:off x="5262264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6B13386C-625D-A28B-390E-14BA0411E195}"/>
              </a:ext>
            </a:extLst>
          </p:cNvPr>
          <p:cNvSpPr/>
          <p:nvPr/>
        </p:nvSpPr>
        <p:spPr>
          <a:xfrm flipV="1">
            <a:off x="6876416" y="2059850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866073" y="1977949"/>
            <a:ext cx="3592512" cy="59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/>
              <a:t>THANK YOU</a:t>
            </a:r>
            <a:endParaRPr/>
          </a:p>
        </p:txBody>
      </p:sp>
      <p:sp>
        <p:nvSpPr>
          <p:cNvPr id="12" name="TYSub"/>
          <p:cNvSpPr txBox="1"/>
          <p:nvPr/>
        </p:nvSpPr>
        <p:spPr>
          <a:xfrm>
            <a:off x="500000" y="265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i="1" dirty="0">
                <a:solidFill>
                  <a:srgbClr val="444444"/>
                </a:solidFill>
              </a:rPr>
              <a:t>Questions? We’d love to discuss!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E6E6E"/>
                </a:solidFill>
                <a:latin typeface="Arial"/>
              </a:rPr>
              <a:t>PROGRESS  ·  MEASURED ON THE REAL DDR + EYEPACS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4864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EyePACS merge has a measurable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024128"/>
            <a:ext cx="8284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7173"/>
                </a:solidFill>
                <a:latin typeface="Arial"/>
              </a:rPr>
              <a:t>Topping up only the short grades links “which dataset” to “how severe”. Measured from the label files alone — no images, no GPU, no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426464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F7173"/>
                </a:solidFill>
                <a:latin typeface="Arial"/>
              </a:rPr>
              <a:t>SHARE OF EACH GRADE TAKEN FROM EYEPACS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929384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8836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2240279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89888" y="2240279"/>
            <a:ext cx="173370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19456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2551176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50545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9888" y="2862072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9888" y="2862072"/>
            <a:ext cx="1727118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281635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27248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9888" y="3172968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3172968"/>
            <a:ext cx="95902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312724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43.7%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1426464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1508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0.512 bits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1755648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the severity label is recoverable from the dataset name alone — 24.6% of its information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6864" y="2185416"/>
            <a:ext cx="4087368" cy="731520"/>
          </a:xfrm>
          <a:prstGeom prst="roundRect">
            <a:avLst>
              <a:gd name="adj" fmla="val 6000"/>
            </a:avLst>
          </a:prstGeom>
          <a:solidFill>
            <a:srgbClr val="F7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2267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514600"/>
            <a:ext cx="3703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merged EyePACS images carry disease, so 38.7% of all disease cases are identifiable purely by recognising the camera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26864" y="3017520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309981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6E6E"/>
                </a:solidFill>
                <a:latin typeface="Arial"/>
              </a:rPr>
              <a:t>0.167 → 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3346704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score of a dataset-name-only predictor: under a random split, versus in a single-clinic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712463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The shortcut is specific to the earliest decision — any disease versus none (AUC 0.694), and useless for referable disease (0.482).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That is exactly the decision this thesis targets, so the merge must be audited rather than assumed safe.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389120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F7173"/>
                </a:solidFill>
                <a:latin typeface="Arial"/>
              </a:rPr>
              <a:t>A classifier also tells DDR from EyePACS images with AUROC 0.996. Design consequence: three arms (A DDR only, B source-balanced, C this merge as a negative control), with every result reported per source.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7365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717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Data: Three Fundus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Different sizes, grade mixes and cameras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pic>
        <p:nvPicPr>
          <p:cNvPr id="201" name="Chart 1" descr="Bar chart: percentage of each DR grade in DDR, EyePACS and APTO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DDR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12,522 gradable images. Random 60/20/20 split (7,454 / 2,552 / 2,516): this copy has no official split or patient IDs.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35,108 images. Split by patient: 24,572 train, 5,266 validation, 5,270 test.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APTOS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3,662 images. External test only: never used for training or model selection.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Early DR (grades 1-2) is 41% of DDR, 22% of EyePACS and 37% of APTOS.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Training Setup and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EfficientNet-B0, 512 px, 10 epochs, 3 seeds per arm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</a:p>
        </p:txBody>
      </p:sp>
      <p:pic>
        <p:nvPicPr>
          <p:cNvPr id="201" name="Chart 1" descr="Line chart: validation PR-AUC per epoch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Same recipe for every arm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AdamW, learning rate 3e-4, mixed precision. Best epoch chosen on validation only.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Cost on a Kaggle GPU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About 110 s per epoch (A), 450 s (B), 150 s (C): roughly 6 hours for the nine runs.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Raw outputs are overconfident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Fitted temperature T = 1.6 to 2.4 across the nine runs; calibration is fitted on validation.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Validation sets differ by arm, so these curves show convergence, not which arm is better.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Progress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Where the project stands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</a:t>
            </a:r>
          </a:p>
        </p:txBody>
      </p:sp>
      <p:sp>
        <p:nvSpPr>
          <p:cNvPr id="201" name="Column 1"/>
          <p:cNvSpPr/>
          <p:nvPr/>
        </p:nvSpPr>
        <p:spPr>
          <a:xfrm>
            <a:off x="502920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Done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Data audit: class counts and merge table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Pipeline on Kaggle: prepare, train, calibrate, evaluate, plot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Arms A, B, C trained (3 seeds each)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Internal and APTOS test evaluation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12 imbalance runs and 3 extensions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Checks: duplicates, image-property shortcut, augmentation diagnosis</a:t>
            </a:r>
          </a:p>
        </p:txBody>
      </p:sp>
      <p:sp>
        <p:nvSpPr>
          <p:cNvPr id="202" name="Column 2"/>
          <p:cNvSpPr/>
          <p:nvPr/>
        </p:nvSpPr>
        <p:spPr>
          <a:xfrm>
            <a:off x="3273552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Prepared, not yet run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Geometric-only augmentation runs (all classes vs minority only)</a:t>
            </a:r>
          </a:p>
        </p:txBody>
      </p:sp>
      <p:sp>
        <p:nvSpPr>
          <p:cNvPr id="203" name="Column 3"/>
          <p:cNvSpPr/>
          <p:nvPr/>
        </p:nvSpPr>
        <p:spPr>
          <a:xfrm>
            <a:off x="6044183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To do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Group-aware DDR split; retrain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Report AUROC, per-grade results and own-source operating points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Capture-artifact mitigation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Five seeds, intervals, ECE, Brier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Write the thesis chapters</a:t>
            </a:r>
          </a:p>
        </p:txBody>
      </p:sp>
      <p:sp>
        <p:nvSpPr>
          <p:cNvPr id="204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Main findings: the original merge teaches the source; in-domain scores are inflated.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Key Results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Early DR (grades 1-2) vs No DR, mean of 3 seeds, threshold frozen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</a:t>
            </a:r>
          </a:p>
        </p:txBody>
      </p:sp>
      <p:pic>
        <p:nvPicPr>
          <p:cNvPr id="201" name="Chart 1" descr="Bar charts: DDR sensitivity and specificity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554480"/>
            <a:ext cx="3685032" cy="2103120"/>
          </a:xfrm>
          <a:prstGeom prst="rect">
            <a:avLst/>
          </a:prstGeom>
        </p:spPr>
      </p:pic>
      <p:pic>
        <p:nvPicPr>
          <p:cNvPr id="202" name="Chart 2" descr="Bar charts: EyePACS sensitivity and specificity for arms A, B and C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663440" y="1554480"/>
            <a:ext cx="3685032" cy="2103120"/>
          </a:xfrm>
          <a:prstGeom prst="rect">
            <a:avLst/>
          </a:prstGeom>
        </p:spPr>
      </p:pic>
      <p:sp>
        <p:nvSpPr>
          <p:cNvPr id="203" name="Heading 1"/>
          <p:cNvSpPr/>
          <p:nvPr/>
        </p:nvSpPr>
        <p:spPr>
          <a:xfrm>
            <a:off x="45720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 test set</a:t>
            </a:r>
          </a:p>
        </p:txBody>
      </p:sp>
      <p:sp>
        <p:nvSpPr>
          <p:cNvPr id="204" name="Heading 2"/>
          <p:cNvSpPr/>
          <p:nvPr/>
        </p:nvSpPr>
        <p:spPr>
          <a:xfrm>
            <a:off x="466344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Held-out EyePACS patients</a:t>
            </a:r>
          </a:p>
        </p:txBody>
      </p:sp>
      <p:sp>
        <p:nvSpPr>
          <p:cNvPr id="205" name="Takeaway 1"/>
          <p:cNvSpPr/>
          <p:nvPr/>
        </p:nvSpPr>
        <p:spPr>
          <a:xfrm>
            <a:off x="457200" y="3657600"/>
            <a:ext cx="402336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0.93 with specificity 0.91, as designed: all arms alike.</a:t>
            </a:r>
          </a:p>
        </p:txBody>
      </p:sp>
      <p:sp>
        <p:nvSpPr>
          <p:cNvPr id="206" name="Takeaway 2"/>
          <p:cNvSpPr/>
          <p:nvPr/>
        </p:nvSpPr>
        <p:spPr>
          <a:xfrm>
            <a:off x="4663440" y="3657600"/>
            <a:ext cx="4023360" cy="603504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Same threshold: specificity 0.39 (A), 0.89 (B), 0.013 (C): C flags 99% of healthy images.</a:t>
            </a:r>
          </a:p>
        </p:txBody>
      </p:sp>
      <p:sp>
        <p:nvSpPr>
          <p:cNvPr id="207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The frozen threshold does not transfer across datasets: compare AUROC, not sensitivity.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 Checks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diagnostic checks, using saved files and train/validation data only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Duplicates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834 candidate groups, only 480 same-grade. Removing them changes no metric by more than 0.001.</a:t>
            </a:r>
          </a:p>
        </p:txBody>
      </p:sp>
      <p:sp>
        <p:nvSpPr>
          <p:cNvPr id="202" name="Card 2"/>
          <p:cNvSpPr/>
          <p:nvPr/>
        </p:nvSpPr>
        <p:spPr>
          <a:xfrm>
            <a:off x="3273552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Capture properties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Image size, file size, colour and sharpness alone predict early DR: DDR 0.87, APTOS 0.976, EyePACS 0.59.</a:t>
            </a:r>
          </a:p>
        </p:txBody>
      </p:sp>
      <p:sp>
        <p:nvSpPr>
          <p:cNvPr id="203" name="Card 3"/>
          <p:cNvSpPr/>
          <p:nvPr/>
        </p:nvSpPr>
        <p:spPr>
          <a:xfrm>
            <a:off x="6044183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Strong augmentation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Failure is a BatchNorm mismatch from the noise/blur part (0.58 to 0.96 once fixed). Geometric part is fine.</a:t>
            </a:r>
          </a:p>
        </p:txBody>
      </p:sp>
      <p:sp>
        <p:nvSpPr>
          <p:cNvPr id="204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Duplicates are not the problem; capture properties and the threshold are.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4: Imbalance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Sampler, loss and augmentation, one change at a time (single seed)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</a:p>
        </p:txBody>
      </p:sp>
      <p:pic>
        <p:nvPicPr>
          <p:cNvPr id="201" name="Chart 1" descr="Horizontal bars: best validation score of twelve imbalance run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4937760" cy="3090672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No method beat baseline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Best (focal gamma 1) 0.9770 vs baseline 0.9761: inside seed noise.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Strong augmentation failed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Both runs reached only about 0.57. The cause is found: next slide.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Limit of the test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score is early-vs-none PR-AUC; rare grades 1, 3 and 4 are not scored separately.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On this metric, plain cross-entropy is as good as every imbalance method.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These Results Do Not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Read before quoting any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The frozen threshold does not transfer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On EyePACS specificity is 0.39 (A) and 0.013 (C): sensitivity alone is misleading off-domain.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Capture artifacts in DDR and APTOS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Image properties alone predict the label (AUROC 0.87 and 0.976).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4320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 split is random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No patient IDs: same-patient leakage is untested. Exact duplicates are not the issue.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4320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Not yet reported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Confidence intervals, ECE, Brier and five seeds. Per-grade and specificity analyses are post-hoc.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The arm C contrast and the label audit stand; the rest needs a cleaner split and test.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What the evidence supports so far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11</a:t>
            </a:r>
          </a:p>
        </p:txBody>
      </p:sp>
      <p:sp>
        <p:nvSpPr>
          <p:cNvPr id="201" name="Conclusion 1"/>
          <p:cNvSpPr/>
          <p:nvPr/>
        </p:nvSpPr>
        <p:spPr>
          <a:xfrm>
            <a:off x="502920" y="1280160"/>
            <a:ext cx="4069080" cy="9144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merge as written teaches the source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C flags 99% of healthy EyePACS images as DR, matching the label audit.</a:t>
            </a:r>
          </a:p>
        </p:txBody>
      </p:sp>
      <p:sp>
        <p:nvSpPr>
          <p:cNvPr id="202" name="Conclusion 2"/>
          <p:cNvSpPr/>
          <p:nvPr/>
        </p:nvSpPr>
        <p:spPr>
          <a:xfrm>
            <a:off x="502920" y="2286000"/>
            <a:ext cx="4069080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Source-balancing helps off-domain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B: EyePACS specificity 0.89, AUROC 0.88; DDR sensitivity unchanged.</a:t>
            </a:r>
          </a:p>
        </p:txBody>
      </p:sp>
      <p:sp>
        <p:nvSpPr>
          <p:cNvPr id="203" name="Conclusion 3"/>
          <p:cNvSpPr/>
          <p:nvPr/>
        </p:nvSpPr>
        <p:spPr>
          <a:xfrm>
            <a:off x="502920" y="3291840"/>
            <a:ext cx="40690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In-domain scores are inflated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Capture properties alone predict DDR (0.87) and APTOS (0.976) labels.</a:t>
            </a:r>
          </a:p>
        </p:txBody>
      </p:sp>
      <p:sp>
        <p:nvSpPr>
          <p:cNvPr id="204" name="Next steps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Next steps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1. Rerun augmentation with geometric-only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2. Group-aware DDR split (official split or near-duplicate groups)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3. Report AUROC and per-grade results; own-source operating points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4. Test capture mitigation: size-matched subsets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5. Five seeds, intervals, ECE and Brier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6. Re-evaluate once; label post-hoc analyses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16647</TotalTime>
  <Words>737</Words>
  <Application>Microsoft Office PowerPoint</Application>
  <PresentationFormat>On-screen Show (16:9)</PresentationFormat>
  <Paragraphs>142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About Diabetic Retinopathy</vt:lpstr>
      <vt:lpstr>PowerPoint Presentation</vt:lpstr>
      <vt:lpstr>Research Aim</vt:lpstr>
      <vt:lpstr>PowerPoint Presentation</vt:lpstr>
      <vt:lpstr>How It Differs From Current Work</vt:lpstr>
      <vt:lpstr>PowerPoint Presentation</vt:lpstr>
      <vt:lpstr>Next Steps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Roy Suja, Roshan</dc:creator>
  <cp:lastModifiedBy>Kazim Alikhan</cp:lastModifiedBy>
  <cp:revision>18</cp:revision>
  <dcterms:modified xsi:type="dcterms:W3CDTF">2026-08-01T08:50:42Z</dcterms:modified>
</cp:coreProperties>
</file>