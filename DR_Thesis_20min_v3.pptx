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9" r:id="rId5"/>
    <p:sldId id="294" r:id="rId20"/>
    <p:sldId id="292" r:id="rId18"/>
    <p:sldId id="288" r:id="rId7"/>
    <p:sldId id="293" r:id="rId19"/>
    <p:sldId id="295" r:id="rId21"/>
    <p:sldId id="303" r:id="rId29"/>
    <p:sldId id="304" r:id="rId30"/>
    <p:sldId id="305" r:id="rId31"/>
    <p:sldId id="306" r:id="rId32"/>
    <p:sldId id="307" r:id="rId33"/>
    <p:sldId id="308" r:id="rId34"/>
    <p:sldId id="309" r:id="rId35"/>
    <p:sldId id="310" r:id="rId36"/>
    <p:sldId id="300" r:id="rId26"/>
    <p:sldId id="311" r:id="rId37"/>
    <p:sldId id="312" r:id="rId38"/>
    <p:sldId id="265" r:id="rId10"/>
    <p:sldId id="267" r:id="rId11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  <Relationship Id="rId19" Type="http://schemas.openxmlformats.org/officeDocument/2006/relationships/slide" Target="slides/slide12.xml"/>
  <Relationship Id="rId20" Type="http://schemas.openxmlformats.org/officeDocument/2006/relationships/slide" Target="slides/slide13.xml"/>
  <Relationship Id="rId21" Type="http://schemas.openxmlformats.org/officeDocument/2006/relationships/slide" Target="slides/slide14.xml"/>
  
  
  
  
  <Relationship Id="rId26" Type="http://schemas.openxmlformats.org/officeDocument/2006/relationships/slide" Target="slides/slide19.xml"/>
  
  
  <Relationship Id="rId29" Type="http://schemas.openxmlformats.org/officeDocument/2006/relationships/slide" Target="slides/slide22.xml"/>
  <Relationship Id="rId30" Type="http://schemas.openxmlformats.org/officeDocument/2006/relationships/slide" Target="slides/slide23.xml"/>
  <Relationship Id="rId31" Type="http://schemas.openxmlformats.org/officeDocument/2006/relationships/slide" Target="slides/slide24.xml"/>
  <Relationship Id="rId32" Type="http://schemas.openxmlformats.org/officeDocument/2006/relationships/slide" Target="slides/slide25.xml"/>
  <Relationship Id="rId33" Type="http://schemas.openxmlformats.org/officeDocument/2006/relationships/slide" Target="slides/slide26.xml"/>
  <Relationship Id="rId34" Type="http://schemas.openxmlformats.org/officeDocument/2006/relationships/slide" Target="slides/slide27.xml"/>
  <Relationship Id="rId35" Type="http://schemas.openxmlformats.org/officeDocument/2006/relationships/slide" Target="slides/slide28.xml"/>
  <Relationship Id="rId36" Type="http://schemas.openxmlformats.org/officeDocument/2006/relationships/slide" Target="slides/slide29.xml"/>
  <Relationship Id="rId37" Type="http://schemas.openxmlformats.org/officeDocument/2006/relationships/slide" Target="slides/slide30.xml"/>
  <Relationship Id="rId38" Type="http://schemas.openxmlformats.org/officeDocument/2006/relationships/slide" Target="slides/slide31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12860-1975-8061-2CE3-B8E45943A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CB5A-3658-0982-E0B8-69C71A92D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7F9D-9802-4ED6-BF56-25C5E2F8229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39F0A-E2E7-21E1-8E46-E4DB86F5B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522C-0746-6130-9787-88A42369E1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515B6-B6AE-41D6-8F0F-4DD928EAA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8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what I have measured so far, and it changed the design of the project. Because the top-up is applied only to the short grades, grades 0 and 2 contain no EyePACS images while grades 1 and 3 are nearly 80 percent EyePACS. A quarter of the severity label is recoverable from the dataset name alone. Every merged EyePACS image carries disease, so a model that learns only to recognise the camera gets 38.7 percent of disease cases right with no false alarms — and only for the earliest decision, which is the one I am targeting. So the merge is not just an imbalance fix; it has a cost, and the thesis now measures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36195" y="2318983"/>
            <a:ext cx="5654749" cy="55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36195" y="2894946"/>
            <a:ext cx="565474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299504" y="184149"/>
            <a:ext cx="1819687" cy="193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77" y="934104"/>
            <a:ext cx="6928451" cy="53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5">
            <a:alphaModFix amt="12000"/>
          </a:blip>
          <a:srcRect l="4751" t="1941" r="-4750" b="51083"/>
          <a:stretch/>
        </p:blipFill>
        <p:spPr>
          <a:xfrm>
            <a:off x="6864096" y="1829521"/>
            <a:ext cx="1924301" cy="331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536408" y="1177748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3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28" name="Google Shape;28;p3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l="2193" t="294" r="2531" b="-293"/>
          <a:stretch/>
        </p:blipFill>
        <p:spPr>
          <a:xfrm>
            <a:off x="1793311" y="0"/>
            <a:ext cx="73506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4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6603" y="556528"/>
            <a:ext cx="4167397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4840586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6209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332353" y="9004"/>
            <a:ext cx="3788497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r="16118"/>
          <a:stretch/>
        </p:blipFill>
        <p:spPr>
          <a:xfrm>
            <a:off x="5625197" y="556528"/>
            <a:ext cx="3495654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5489179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802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3760" y="702216"/>
            <a:ext cx="3865880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 flipH="1">
            <a:off x="4683073" y="720320"/>
            <a:ext cx="19949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36668" y="9004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36" y="0"/>
            <a:ext cx="45360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4791393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4791393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427668" y="729324"/>
            <a:ext cx="14320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4677507" y="914401"/>
            <a:ext cx="4466494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9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 b="19853"/>
          <a:stretch/>
        </p:blipFill>
        <p:spPr>
          <a:xfrm rot="-8851503">
            <a:off x="5255191" y="465522"/>
            <a:ext cx="930293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677505" y="0"/>
            <a:ext cx="4466495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2058" y="2670664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>
            <a:spLocks noGrp="1"/>
          </p:cNvSpPr>
          <p:nvPr>
            <p:ph type="ctrTitle"/>
          </p:nvPr>
        </p:nvSpPr>
        <p:spPr>
          <a:xfrm>
            <a:off x="330905" y="295171"/>
            <a:ext cx="2249504" cy="55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5433" y="642359"/>
            <a:ext cx="804339" cy="8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433" y="1660176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163311" y="665781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3186250" y="170068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194563" y="270652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746" y="3663543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3186250" y="3704055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-26057" y="-9562"/>
            <a:ext cx="543222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1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00" name="Google Shape;100;p11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2" descr="A group of people posing for the camera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563"/>
            <a:ext cx="5387332" cy="5161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2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109" name="Google Shape;109;p12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2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12" name="Google Shape;112;p12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2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 descr="A group of people walking down a street  Description automatically generated"/>
          <p:cNvPicPr preferRelativeResize="0"/>
          <p:nvPr/>
        </p:nvPicPr>
        <p:blipFill rotWithShape="1">
          <a:blip r:embed="rId2">
            <a:alphaModFix/>
          </a:blip>
          <a:srcRect t="-162" b="-176"/>
          <a:stretch/>
        </p:blipFill>
        <p:spPr>
          <a:xfrm>
            <a:off x="3369971" y="-17293"/>
            <a:ext cx="5774029" cy="5160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3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 descr="A group of people walking down a street next to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7449" y="0"/>
            <a:ext cx="4536551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512001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/>
          <p:nvPr/>
        </p:nvSpPr>
        <p:spPr>
          <a:xfrm flipH="1">
            <a:off x="4607449" y="729324"/>
            <a:ext cx="147431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15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1" name="Google Shape;141;p15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5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&amp; Subtitle">
  <p:cSld name="1_Header &amp; Sub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36408" y="1146189"/>
            <a:ext cx="8140628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9" name="Google Shape;149;p16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6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2718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198023" y="147081"/>
            <a:ext cx="8503920" cy="543191"/>
            <a:chOff x="198023" y="147081"/>
            <a:chExt cx="8700480" cy="543191"/>
          </a:xfrm>
        </p:grpSpPr>
        <p:pic>
          <p:nvPicPr>
            <p:cNvPr id="154" name="Google Shape;154;p17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023" y="151749"/>
              <a:ext cx="49224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/>
            <p:nvPr/>
          </p:nvSpPr>
          <p:spPr>
            <a:xfrm>
              <a:off x="690269" y="147081"/>
              <a:ext cx="8208234" cy="64008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536408" y="229323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lumn Content">
  <p:cSld name="Two Collumn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536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2"/>
          </p:nvPr>
        </p:nvSpPr>
        <p:spPr>
          <a:xfrm>
            <a:off x="4727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18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8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65" name="Google Shape;165;p18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36408" y="1151335"/>
            <a:ext cx="396098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2"/>
          </p:nvPr>
        </p:nvSpPr>
        <p:spPr>
          <a:xfrm>
            <a:off x="536408" y="1631156"/>
            <a:ext cx="396098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3"/>
          </p:nvPr>
        </p:nvSpPr>
        <p:spPr>
          <a:xfrm>
            <a:off x="4724265" y="1151335"/>
            <a:ext cx="396253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4"/>
          </p:nvPr>
        </p:nvSpPr>
        <p:spPr>
          <a:xfrm>
            <a:off x="4724265" y="1631156"/>
            <a:ext cx="396253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76" name="Google Shape;176;p19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8600" y="1126999"/>
            <a:ext cx="8769096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0509" y="4720046"/>
            <a:ext cx="320286" cy="3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357250" y="4806164"/>
            <a:ext cx="26733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3_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14_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2_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3_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4_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5_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6_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7_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8_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chart_slide29_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ubTitle" idx="1"/>
          </p:nvPr>
        </p:nvSpPr>
        <p:spPr>
          <a:xfrm>
            <a:off x="2103863" y="3465715"/>
            <a:ext cx="4906537" cy="121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Early DR (grades 1–2) on DDR, EyePACS and APTOS fundus images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Advisor: Navid Amini, PhD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r>
              <a:rPr lang="en-US"/>
              <a:t>Department of Computer Science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0" y="2112255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</a:rPr>
              <a:t>Early Detection of Diabetic Retinopathy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7E60-3D38-F4EB-DDD8-AB78CC76A96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r>
              <a:rPr lang="en-US" dirty="0">
                <a:solidFill>
                  <a:srgbClr val="121212"/>
                </a:solidFill>
              </a:rPr>
              <a:t>About Diabetic Retinopathy</a:t>
            </a:r>
            <a:endParaRPr sz="2200" b="1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49377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The clinical burden is growing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2903928" cy="55399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 dirty="0">
                <a:solidFill>
                  <a:srgbClr val="121212"/>
                </a:solidFill>
                <a:latin typeface="Arial"/>
              </a:rPr>
              <a:t>Diabetes has expanded rapidly worldwide, increasing the number of people who need retinal screening for diabetic retinopathy.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6535" y="786384"/>
            <a:ext cx="1764792" cy="9683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97096" y="841818"/>
            <a:ext cx="73152" cy="914400"/>
          </a:xfrm>
          <a:prstGeom prst="rect">
            <a:avLst/>
          </a:prstGeom>
          <a:solidFill>
            <a:srgbClr val="00634A"/>
          </a:solidFill>
          <a:ln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854408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00634A"/>
                </a:solidFill>
                <a:latin typeface="Arial"/>
              </a:rPr>
              <a:t>151M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6575" y="1204151"/>
            <a:ext cx="1371600" cy="40233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adults living with diabetes
in 2000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6535" y="2024253"/>
            <a:ext cx="1764792" cy="96240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97096" y="2075688"/>
            <a:ext cx="73152" cy="914400"/>
          </a:xfrm>
          <a:prstGeom prst="rect">
            <a:avLst/>
          </a:prstGeom>
          <a:solidFill>
            <a:srgbClr val="00634A"/>
          </a:solidFill>
          <a:ln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6575" y="2065972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00634A"/>
                </a:solidFill>
                <a:latin typeface="Arial"/>
              </a:rPr>
              <a:t>589M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6575" y="2396488"/>
            <a:ext cx="1371600" cy="40233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adults living with diabetes
in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2008" y="3168634"/>
            <a:ext cx="1759319" cy="10430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97096" y="3297313"/>
            <a:ext cx="73152" cy="914400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36575" y="3254694"/>
            <a:ext cx="144475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FFCD00"/>
                </a:solidFill>
                <a:latin typeface="Arial"/>
              </a:rPr>
              <a:t>+290%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6316" y="3661392"/>
            <a:ext cx="1346487" cy="3600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observed increase in
screening population</a:t>
            </a:r>
          </a:p>
        </p:txBody>
      </p:sp>
      <p:pic>
        <p:nvPicPr>
          <p:cNvPr id="17" name="Picture 16" descr="diabetes_growt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13" y="2361462"/>
            <a:ext cx="5331355" cy="22539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43567" y="989267"/>
            <a:ext cx="2286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3D5F84"/>
                </a:solidFill>
                <a:latin typeface="Arial"/>
              </a:rPr>
              <a:t>Observed growth 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3567" y="1243584"/>
            <a:ext cx="224028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121212"/>
                </a:solidFill>
                <a:latin typeface="Arial"/>
              </a:rPr>
              <a:t>More patients means more fundus images to grade - and more pressure for fast triage.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0AF627-36D3-95EE-AFDE-3CCF0DD2912C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Research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4206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Catch early DR (grades 1–2)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58952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121212"/>
                </a:solidFill>
                <a:latin typeface="Arial"/>
              </a:rPr>
              <a:t>Many studies target referable DR (moderate or worse). This thesis targets the earliest grades.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6117" y="1975104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Fundus</a:t>
            </a:r>
            <a:br>
              <a:rPr sz="1100" b="1">
                <a:solidFill>
                  <a:srgbClr val="121212"/>
                </a:solidFill>
                <a:latin typeface="Arial"/>
              </a:rPr>
            </a:br>
            <a:r>
              <a:rPr sz="1100" b="1">
                <a:solidFill>
                  <a:srgbClr val="121212"/>
                </a:solidFill>
                <a:latin typeface="Arial"/>
              </a:rPr>
              <a:t>photo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4066" y="1960890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"/>
              </a:rPr>
              <a:t>Deep</a:t>
            </a:r>
            <a:br>
              <a:rPr sz="1100" b="1" dirty="0">
                <a:solidFill>
                  <a:srgbClr val="121212"/>
                </a:solidFill>
                <a:latin typeface="Arial"/>
              </a:rPr>
            </a:br>
            <a:r>
              <a:rPr sz="1100" b="1" dirty="0">
                <a:solidFill>
                  <a:srgbClr val="121212"/>
                </a:solidFill>
                <a:latin typeface="Arial"/>
              </a:rPr>
              <a:t>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2015" y="1952244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"/>
              </a:rPr>
              <a:t>Early-DR</a:t>
            </a:r>
            <a:br>
              <a:rPr sz="1100" b="1" dirty="0">
                <a:solidFill>
                  <a:srgbClr val="121212"/>
                </a:solidFill>
                <a:latin typeface="Arial"/>
              </a:rPr>
            </a:br>
            <a:r>
              <a:rPr sz="1100" b="1" dirty="0">
                <a:solidFill>
                  <a:srgbClr val="121212"/>
                </a:solidFill>
                <a:latin typeface="Arial"/>
              </a:rPr>
              <a:t>flag (1–2)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9964" y="1931670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Referral /</a:t>
            </a:r>
            <a:br>
              <a:rPr sz="1100" b="1">
                <a:solidFill>
                  <a:srgbClr val="121212"/>
                </a:solidFill>
                <a:latin typeface="Arial"/>
              </a:rPr>
            </a:br>
            <a:r>
              <a:rPr sz="1100" b="1">
                <a:solidFill>
                  <a:srgbClr val="121212"/>
                </a:solidFill>
                <a:latin typeface="Arial"/>
              </a:rPr>
              <a:t>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224028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Primary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Sensitivity for grades 1–2 vs No DR at a fixed specificity.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063240"/>
            <a:ext cx="23774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Secondary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Separate early (1–2) from late (3–4) DR for triage.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063240"/>
            <a:ext cx="233172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Robustness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Held-out EyePACS patients, then APTOS, never used in training.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" y="4160520"/>
            <a:ext cx="6903720" cy="365760"/>
          </a:xfrm>
          <a:prstGeom prst="roundRect">
            <a:avLst/>
          </a:prstGeom>
          <a:solidFill>
            <a:srgbClr val="FFCD00"/>
          </a:solidFill>
          <a:ln w="9525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20" b="1" dirty="0">
                <a:solidFill>
                  <a:srgbClr val="121212"/>
                </a:solidFill>
                <a:latin typeface="Arial"/>
              </a:rPr>
              <a:t>Goal: high sensitivity at fixed specificity, with calibrated probabilities.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B9CBB-52B0-613A-C36E-30186E81F683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21D7F2C5-3AAE-29A3-EB2B-01438851D29E}"/>
              </a:ext>
            </a:extLst>
          </p:cNvPr>
          <p:cNvSpPr/>
          <p:nvPr/>
        </p:nvSpPr>
        <p:spPr>
          <a:xfrm>
            <a:off x="2205893" y="2273089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86BF4C34-5860-73D0-4EEA-45BE3BDDA49D}"/>
              </a:ext>
            </a:extLst>
          </p:cNvPr>
          <p:cNvSpPr/>
          <p:nvPr/>
        </p:nvSpPr>
        <p:spPr>
          <a:xfrm>
            <a:off x="5943987" y="2273089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DBEF0C2C-37B6-B487-308F-4BFD2C35336C}"/>
              </a:ext>
            </a:extLst>
          </p:cNvPr>
          <p:cNvSpPr/>
          <p:nvPr/>
        </p:nvSpPr>
        <p:spPr>
          <a:xfrm>
            <a:off x="4094226" y="2265958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data arms, one change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>
                <a:solidFill>
                  <a:srgbClr val="121212"/>
                </a:solidFill>
                <a:latin typeface="Arial"/>
              </a:rPr>
              <a:t>Same model, image size and epochs; frozen patient-level splits; test sets opened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Data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DDR, EyePACS, APTOS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Prepare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Crop, pad, 512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Merge arms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A, 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Model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EfficientNet-B0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Output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Calibrated,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43200"/>
            <a:ext cx="2514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Imbalance methods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Weighted sampler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Class-balanced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Focal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Strong augmentation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Augmentation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743200"/>
            <a:ext cx="29260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The three 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99232"/>
            <a:ext cx="352044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A: DDR only (clean baseline)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B: DDR + EyePACS, source-balanced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C: version 1 merge (negative control)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wins on its own test but not on APTOS = it learned the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6903720" cy="329184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Not a new network: the value is the design, the controls and the evidence.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3022105-94A7-5198-D6E2-77CC59383713}"/>
              </a:ext>
            </a:extLst>
          </p:cNvPr>
          <p:cNvSpPr/>
          <p:nvPr/>
        </p:nvSpPr>
        <p:spPr>
          <a:xfrm flipV="1">
            <a:off x="2059718" y="205701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582591C4-F68D-4A15-B6B9-5FEB08D109EA}"/>
              </a:ext>
            </a:extLst>
          </p:cNvPr>
          <p:cNvSpPr/>
          <p:nvPr/>
        </p:nvSpPr>
        <p:spPr>
          <a:xfrm flipV="1">
            <a:off x="3660991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56019FD-6159-C16E-82A6-31C9B8A4135D}"/>
              </a:ext>
            </a:extLst>
          </p:cNvPr>
          <p:cNvSpPr/>
          <p:nvPr/>
        </p:nvSpPr>
        <p:spPr>
          <a:xfrm flipV="1">
            <a:off x="5262264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6B13386C-625D-A28B-390E-14BA0411E195}"/>
              </a:ext>
            </a:extLst>
          </p:cNvPr>
          <p:cNvSpPr/>
          <p:nvPr/>
        </p:nvSpPr>
        <p:spPr>
          <a:xfrm flipV="1">
            <a:off x="6876416" y="2059850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1" y="987552"/>
            <a:ext cx="6640605" cy="13739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International Diabetes Federation. IDF Diabetes Atlas, 11th ed., 2025.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Ting, D. S. W., et al. 'Artificial intelligence-assisted diabetic retinopathy screening.' Ophthalmology, 2021.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Shah, P., et al. 'Progression of DR and screening demand.' JAMA Ophthalmology, 2024.</a:t>
            </a:r>
            <a:endParaRPr lang="en-US" sz="919" dirty="0">
              <a:solidFill>
                <a:srgbClr val="121212"/>
              </a:solidFill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WHO. Guidelines on diabetic retinopathy screening, 2023.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CDC. Eye-health guidance for people with diabetes, 2024.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Li, T., et al. Diagnostic assessment of deep learning algorithms for DR screening (DDR). Information Sciences, 2019.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Kaggle. Diabetic Retinopathy Detection (EyePACS), 2015; APTOS 2019 Blindness Detection.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Guo, C., et al. On calibration of modern neural networks. ICML, 2017.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Sipka, T., et al. The hitchhiker’s guide to prior-shift adaptation. WACV, 2022.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endParaRPr sz="919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03F86-CDFA-B93E-DF6D-3F1C21538AE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66073" y="1977949"/>
            <a:ext cx="3592512" cy="59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/>
              <a:t>THANK YOU</a:t>
            </a:r>
            <a:endParaRPr/>
          </a:p>
        </p:txBody>
      </p:sp>
      <p:sp>
        <p:nvSpPr>
          <p:cNvPr id="12" name="TYSub"/>
          <p:cNvSpPr txBox="1"/>
          <p:nvPr/>
        </p:nvSpPr>
        <p:spPr>
          <a:xfrm>
            <a:off x="500000" y="265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i="1" dirty="0">
                <a:solidFill>
                  <a:srgbClr val="444444"/>
                </a:solidFill>
              </a:rPr>
              <a:t>Questions? We’d love to discuss!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6E6E"/>
                </a:solidFill>
                <a:latin typeface="Arial"/>
              </a:rPr>
              <a:t>PROGRESS  ·  MEASURED ON THE REAL DDR + EYEPACS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4864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EyePACS merge has a measurable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024128"/>
            <a:ext cx="8284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7173"/>
                </a:solidFill>
                <a:latin typeface="Arial"/>
              </a:rPr>
              <a:t>Topping up only the short grades links “which dataset” to “how severe”. Measured from the label files alone — no images, no GPU, no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426464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F7173"/>
                </a:solidFill>
                <a:latin typeface="Arial"/>
              </a:rPr>
              <a:t>SHARE OF EACH GRADE TAKEN FROM EYEPACS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929384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8836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2240279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89888" y="2240279"/>
            <a:ext cx="173370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19456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2551176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50545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2862072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9888" y="2862072"/>
            <a:ext cx="1727118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281635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27248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9888" y="3172968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3172968"/>
            <a:ext cx="95902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312724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43.7%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1426464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1508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0.512 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1755648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the severity label is recoverable from the dataset name alone — 24.6% of its 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2185416"/>
            <a:ext cx="4087368" cy="731520"/>
          </a:xfrm>
          <a:prstGeom prst="roundRect">
            <a:avLst>
              <a:gd name="adj" fmla="val 6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267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514600"/>
            <a:ext cx="3703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merged EyePACS images carry disease, so 38.7% of all disease cases are identifiable purely by recognising the camera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26864" y="3017520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30998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6E6E"/>
                </a:solidFill>
                <a:latin typeface="Arial"/>
              </a:rPr>
              <a:t>0.167 → 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3346704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score of a dataset-name-only predictor: under a random split, versus in a single-clinic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712463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The shortcut is specific to the earliest decision — any disease versus none (AUC 0.694), and useless for referable disease (0.482).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That is exactly the decision this thesis targets, so the merge must be audited rather than assumed safe.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389120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F7173"/>
                </a:solidFill>
                <a:latin typeface="Arial"/>
              </a:rPr>
              <a:t>A classifier also tells DDR from EyePACS images with AUROC 0.996. Design consequence: three arms (A DDR only, B source-balanced, C this merge as a negative control), with every result reported per source.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736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717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Complete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From fundus image to a calibrated early-DR flag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</a:p>
        </p:txBody>
      </p:sp>
      <p:sp>
        <p:nvSpPr>
          <p:cNvPr id="101" name="Label train"/>
          <p:cNvSpPr txBox="1"/>
          <p:nvPr/>
        </p:nvSpPr>
        <p:spPr>
          <a:xfrm>
            <a:off x="502920" y="1188720"/>
            <a:ext cx="5486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1E7A5A"/>
                </a:solidFill>
                <a:latin typeface="Arial"/>
              </a:rPr>
              <a:t>TRAIN: one model per arm, task and seed</a:t>
            </a:r>
          </a:p>
        </p:txBody>
      </p:sp>
      <p:sp>
        <p:nvSpPr>
          <p:cNvPr id="102" name="Train 1"/>
          <p:cNvSpPr/>
          <p:nvPr/>
        </p:nvSpPr>
        <p:spPr>
          <a:xfrm>
            <a:off x="502920" y="1481328"/>
            <a:ext cx="1216152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Fundus image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DDR, EyePACS, APTOS; frozen patient-level splits</a:t>
            </a:r>
          </a:p>
        </p:txBody>
      </p:sp>
      <p:sp>
        <p:nvSpPr>
          <p:cNvPr id="103" name="Arrow 1"/>
          <p:cNvSpPr/>
          <p:nvPr/>
        </p:nvSpPr>
        <p:spPr>
          <a:xfrm>
            <a:off x="1746504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4" name="Train 2"/>
          <p:cNvSpPr/>
          <p:nvPr/>
        </p:nvSpPr>
        <p:spPr>
          <a:xfrm>
            <a:off x="1901952" y="1481328"/>
            <a:ext cx="1216152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Preprocess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Crop border, pad to square, resize to 512 px (colour norm optional)</a:t>
            </a:r>
          </a:p>
        </p:txBody>
      </p:sp>
      <p:sp>
        <p:nvSpPr>
          <p:cNvPr id="105" name="Arrow 2"/>
          <p:cNvSpPr/>
          <p:nvPr/>
        </p:nvSpPr>
        <p:spPr>
          <a:xfrm>
            <a:off x="3145536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6" name="Train 3"/>
          <p:cNvSpPr/>
          <p:nvPr/>
        </p:nvSpPr>
        <p:spPr>
          <a:xfrm>
            <a:off x="3300984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Sampler + augment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Arm B: source-balanced. Weighted, class-aware or repeat-factor. Mild or strong</a:t>
            </a:r>
          </a:p>
        </p:txBody>
      </p:sp>
      <p:sp>
        <p:nvSpPr>
          <p:cNvPr id="107" name="Arrow 3"/>
          <p:cNvSpPr/>
          <p:nvPr/>
        </p:nvSpPr>
        <p:spPr>
          <a:xfrm>
            <a:off x="4544568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8" name="Train 4"/>
          <p:cNvSpPr/>
          <p:nvPr/>
        </p:nvSpPr>
        <p:spPr>
          <a:xfrm>
            <a:off x="4700016" y="1481328"/>
            <a:ext cx="1216152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Backbone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EfficientNet-B0, ImageNet weights (ViT + RETFound as extension)</a:t>
            </a:r>
          </a:p>
        </p:txBody>
      </p:sp>
      <p:sp>
        <p:nvSpPr>
          <p:cNvPr id="109" name="Arrow 4"/>
          <p:cNvSpPr/>
          <p:nvPr/>
        </p:nvSpPr>
        <p:spPr>
          <a:xfrm>
            <a:off x="5943600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0" name="Train 5"/>
          <p:cNvSpPr/>
          <p:nvPr/>
        </p:nvSpPr>
        <p:spPr>
          <a:xfrm>
            <a:off x="6099048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Head (1 per run)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0 vs 1-4, early vs late, 3-class or 5-grade</a:t>
            </a:r>
          </a:p>
        </p:txBody>
      </p:sp>
      <p:sp>
        <p:nvSpPr>
          <p:cNvPr id="111" name="Arrow 5"/>
          <p:cNvSpPr/>
          <p:nvPr/>
        </p:nvSpPr>
        <p:spPr>
          <a:xfrm>
            <a:off x="7342631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2" name="Train 6"/>
          <p:cNvSpPr/>
          <p:nvPr/>
        </p:nvSpPr>
        <p:spPr>
          <a:xfrm>
            <a:off x="7498080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Loss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Cross-entropy, class-balanced CE, or focal (gamma 1-3)</a:t>
            </a:r>
          </a:p>
        </p:txBody>
      </p:sp>
      <p:sp>
        <p:nvSpPr>
          <p:cNvPr id="113" name="Arrow down"/>
          <p:cNvSpPr/>
          <p:nvPr/>
        </p:nvSpPr>
        <p:spPr>
          <a:xfrm>
            <a:off x="8106156" y="2423160"/>
            <a:ext cx="0" cy="50292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4" name="Label validate"/>
          <p:cNvSpPr txBox="1"/>
          <p:nvPr/>
        </p:nvSpPr>
        <p:spPr>
          <a:xfrm>
            <a:off x="502920" y="2651760"/>
            <a:ext cx="5486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1E7A5A"/>
                </a:solidFill>
                <a:latin typeface="Arial"/>
              </a:rPr>
              <a:t>VALIDATE AND FREEZE, THEN TEST</a:t>
            </a:r>
          </a:p>
        </p:txBody>
      </p:sp>
      <p:sp>
        <p:nvSpPr>
          <p:cNvPr id="115" name="Eval 1"/>
          <p:cNvSpPr/>
          <p:nvPr/>
        </p:nvSpPr>
        <p:spPr>
          <a:xfrm>
            <a:off x="7251192" y="3017520"/>
            <a:ext cx="1463040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Best epoch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Chosen on validation score only</a:t>
            </a:r>
          </a:p>
        </p:txBody>
      </p:sp>
      <p:sp>
        <p:nvSpPr>
          <p:cNvPr id="116" name="Arrow back 1"/>
          <p:cNvSpPr/>
          <p:nvPr/>
        </p:nvSpPr>
        <p:spPr>
          <a:xfrm flipH="1">
            <a:off x="7054596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7" name="Eval 2"/>
          <p:cNvSpPr/>
          <p:nvPr/>
        </p:nvSpPr>
        <p:spPr>
          <a:xfrm>
            <a:off x="5564124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Temperature scaling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One number T, fitted on validation</a:t>
            </a:r>
          </a:p>
        </p:txBody>
      </p:sp>
      <p:sp>
        <p:nvSpPr>
          <p:cNvPr id="118" name="Arrow back 2"/>
          <p:cNvSpPr/>
          <p:nvPr/>
        </p:nvSpPr>
        <p:spPr>
          <a:xfrm flipH="1">
            <a:off x="5367528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9" name="Eval 3"/>
          <p:cNvSpPr/>
          <p:nvPr/>
        </p:nvSpPr>
        <p:spPr>
          <a:xfrm>
            <a:off x="3877056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Prior-shift correction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Training class mix back to natural prevalence</a:t>
            </a:r>
          </a:p>
        </p:txBody>
      </p:sp>
      <p:sp>
        <p:nvSpPr>
          <p:cNvPr id="120" name="Arrow back 3"/>
          <p:cNvSpPr/>
          <p:nvPr/>
        </p:nvSpPr>
        <p:spPr>
          <a:xfrm flipH="1">
            <a:off x="3680460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21" name="Eval 4"/>
          <p:cNvSpPr/>
          <p:nvPr/>
        </p:nvSpPr>
        <p:spPr>
          <a:xfrm>
            <a:off x="2189988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Frozen threshold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Set at the declared specificity (0.90) on validation</a:t>
            </a:r>
          </a:p>
        </p:txBody>
      </p:sp>
      <p:sp>
        <p:nvSpPr>
          <p:cNvPr id="122" name="Arrow back 4"/>
          <p:cNvSpPr/>
          <p:nvPr/>
        </p:nvSpPr>
        <p:spPr>
          <a:xfrm flipH="1">
            <a:off x="1993392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23" name="Eval 5"/>
          <p:cNvSpPr/>
          <p:nvPr/>
        </p:nvSpPr>
        <p:spPr>
          <a:xfrm>
            <a:off x="502920" y="3017520"/>
            <a:ext cx="1463040" cy="914400"/>
          </a:xfrm>
          <a:prstGeom prst="roundRect">
            <a:avLst/>
          </a:prstGeom>
          <a:solidFill>
            <a:srgbClr val="FFF0B3"/>
          </a:solidFill>
          <a:ln w="9525">
            <a:solidFill>
              <a:srgbClr val="E0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Outputs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Calibrated probability, early-DR flag, per-source metrics with 95% CI</a:t>
            </a:r>
          </a:p>
        </p:txBody>
      </p:sp>
      <p:sp>
        <p:nvSpPr>
          <p:cNvPr id="124" name="Banner"/>
          <p:cNvSpPr/>
          <p:nvPr/>
        </p:nvSpPr>
        <p:spPr>
          <a:xfrm>
            <a:off x="502920" y="4133087"/>
            <a:ext cx="8211312" cy="384048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Test sets opened once: DDR + held-out EyePACS, then APTOS last. Grad-CAM with a randomised-weights check.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Data: Three Fundus Datasets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Different sizes, grade mixes and cameras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4</a:t>
            </a:r>
          </a:p>
        </p:txBody>
      </p:sp>
      <p:pic>
        <p:nvPicPr>
          <p:cNvPr id="201" name="Chart 1" descr="Bar chart: percentage of each DR grade in DDR, EyePACS and APTO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DDR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12,522 gradable images. Random 60/20/20 split (7,454 / 2,552 / 2,516): this copy has no official split or patient IDs.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EyePACS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35,108 images. Split by patient: 24,572 train, 5,266 validation, 5,270 test.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APTOS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3,662 images. External test only: never used for training or model selection.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Early DR (grades 1-2) is 41% of DDR, 22% of EyePACS and 37% of APTOS.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Training Setup and Curves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EfficientNet-B0, 512 px, 10 epochs, 3 seeds per arm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</a:t>
            </a:r>
          </a:p>
        </p:txBody>
      </p:sp>
      <p:pic>
        <p:nvPicPr>
          <p:cNvPr id="201" name="Chart 1" descr="Line chart: validation PR-AUC per epoch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Same recipe for every arm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AdamW, learning rate 3e-4, mixed precision. Best epoch chosen on validation only.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Cost on a Kaggle GPU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About 110 s per epoch (A), 450 s (B), 150 s (C): roughly 6 hours for the nine runs.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Raw outputs are overconfident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Fitted temperature T = 1.6 to 2.4 across the nine runs; calibration is fitted on validation.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Validation sets differ by arm, so these curves show convergence, not which arm is better.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Extensions and Sanity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Single-seed runs on DDR, scored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17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Early vs late (stage 2)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Validation AUROC 0.951 at the best epoch: early and late DR separate well on DDR.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Three-class label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Validation PR-AUC 0.974 vs 0.972 for the two-class head (arm A): no meaningful difference.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8892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Colour normalisation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0.973 vs 0.972: no gain, and 3.4 times slower to train (about 380 s per epoch).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88920"/>
            <a:ext cx="3977639" cy="13716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Grad-CAM sanity check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Trained vs randomised-weights maps correlate 0.12 and −0.27 in two runs: the maps depend on the model.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Test-set metrics for these runs are not analysed here.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1: DDR Test Set (In-Domain)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Early DR (grades 1-2) vs No DR, mean of 3 seeds, threshold frozen on validation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</a:p>
        </p:txBody>
      </p:sp>
      <p:pic>
        <p:nvPicPr>
          <p:cNvPr id="201" name="Chart 1" descr="Bar charts: DDR sensitivity and specificity at the frozen threshold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operating point works here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Specificity 0.91, 0.94, 0.91 (target 0.90); sensitivity 0.937, 0.925, 0.937 for A, B, C.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B vs A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-0.012 (Holm p = 0.084, not significant); PR-AUC +0.007 (p = 0.002).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Caution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DDR labels are predictable from image properties alone (AUROC 0.87) and the split is random.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Adding EyePACS did not improve DDR sensitivity. In-domain numbers are optimistic.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2: Held-Out EyePACS Patients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Same frozen threshold, unseen patients, all grades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10</a:t>
            </a:r>
          </a:p>
        </p:txBody>
      </p:sp>
      <p:pic>
        <p:nvPicPr>
          <p:cNvPr id="201" name="Chart 1" descr="Bar charts: EyePACS sensitivity and specificity at the frozen threshold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Arm C: the source shortcut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Specificity 0.013: 99% of healthy EyePACS images flagged as DR. PR-AUC 0.43.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Arm A: threshold does not transfer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Never saw EyePACS: specificity 0.39, sensitivity 0.885, PR-AUC 0.53.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Arm B: source-balanced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Specificity 0.89, sensitivity 0.73, PR-AUC 0.80, AUROC 0.88.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Arm C is the source shortcut, measured directly.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3: APTOS External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Never used for training or selection; 3,662 images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11</a:t>
            </a:r>
          </a:p>
        </p:txBody>
      </p:sp>
      <p:pic>
        <p:nvPicPr>
          <p:cNvPr id="201" name="Chart 1" descr="Bar charts: APTOS sensitivity and specificity at the frozen threshold for arms A, B and C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Ranking is excellent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AUROC 0.994 to 0.995 for all arms, even grade 1 vs No DR (0.98).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threshold does not transfer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Sensitivity near 1.0 comes with specificity 0.46 (A), 0.83 (B), 0.24 (C).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Label tied to capture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Image properties alone predict APTOS early DR (AUROC 0.976): not clean evidence of robustness.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Report AUROC for APTOS. Do not quote its sensitivity.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Grade by Grade: Grade 1 Is the Hard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AUROC against No DR, per grade and per source (post-hoc analysis)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12</a:t>
            </a:r>
          </a:p>
        </p:txBody>
      </p:sp>
      <p:pic>
        <p:nvPicPr>
          <p:cNvPr id="201" name="Chart 1" descr="Bar charts: AUROC for grade 1 and grade 2 against No DR per source and arm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212080" cy="288036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Grade 2 is easy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AUROC 0.98 to 0.999 on DDR and APTOS for every arm.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Grade 1 is harder off-domain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EyePACS grade 1 vs No DR: 0.61 (A), 0.77 (B), 0.63 (C).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Why it matters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"Early DR" in DDR is mostly grade 2, which flatters the headline numbers.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Report grade 1 on its own: it is the earliest disease.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Check 1: Duplicate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Hash-matched candidates across train, validation, test and APTOS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13</a:t>
            </a:r>
          </a:p>
        </p:txBody>
      </p:sp>
      <p:pic>
        <p:nvPicPr>
          <p:cNvPr id="201" name="Chart 1" descr="Candidate duplicate pairs, labelled with dataset, split and grade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6812280" y="1261872"/>
            <a:ext cx="1920240" cy="288036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02920" y="1261872"/>
            <a:ext cx="61264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834 candidate groups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Only 480 share the same grade; the rest are mostly hash collisions.</a:t>
            </a:r>
          </a:p>
        </p:txBody>
      </p:sp>
      <p:sp>
        <p:nvSpPr>
          <p:cNvPr id="203" name="Card 2"/>
          <p:cNvSpPr/>
          <p:nvPr/>
        </p:nvSpPr>
        <p:spPr>
          <a:xfrm>
            <a:off x="502920" y="2286000"/>
            <a:ext cx="61264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Metrics barely move without them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DDR sensitivity 0.937 to 0.936; EyePACS and APTOS unchanged.</a:t>
            </a:r>
          </a:p>
        </p:txBody>
      </p:sp>
      <p:sp>
        <p:nvSpPr>
          <p:cNvPr id="204" name="Card 3"/>
          <p:cNvSpPr/>
          <p:nvPr/>
        </p:nvSpPr>
        <p:spPr>
          <a:xfrm>
            <a:off x="502920" y="3310128"/>
            <a:ext cx="61264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What it cannot see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same patient photographed twice: patient-level leakage in the random DDR split is untested.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Exact duplicates do not explain the high scores.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Check 2: Capture Properties Predict the Label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AUROC for early DR vs No DR from image size, file size, colour and sharpness only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14</a:t>
            </a:r>
          </a:p>
        </p:txBody>
      </p:sp>
      <p:pic>
        <p:nvPicPr>
          <p:cNvPr id="201" name="Chart 1" descr="Bar chart: AUROC from image properties alone for six train and test pair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120640" cy="292608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DDR: 0.87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Capture properties alone predict early DR on the DDR test set.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APTOS: 0.976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Within APTOS the label is almost fully tied to capture properties.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They do not transfer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DDR to EyePACS or APTOS: 0.52 to 0.54. EyePACS alone: 0.59.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CNN gets 0.976 on DDR, so it learns more, but part of the score is the camera.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Result 4: Imbalance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Sampler, loss and augmentation, one change at a time (single seed, 14 runs)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15</a:t>
            </a:r>
          </a:p>
        </p:txBody>
      </p:sp>
      <p:pic>
        <p:nvPicPr>
          <p:cNvPr id="201" name="Chart 1" descr="Horizontal bars: best validation score of fourteen imbalance run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4572000" cy="301752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No method beat baseline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Best 0.9772 (geometric aug, all classes) vs baseline 0.9761: inside seed noise.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Augmentation leaked the label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Geometric aug on all classes: 0.977. On minority classes only: 0.834. Strong aug failed for another reason: next slide.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Limit of the test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score is early-vs-none PR-AUC; rare grades 1, 3 and 4 are not scored separately.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On this metric, plain cross-entropy is as good as every imbalance method.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Why Strong Augmentation Failed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Diagnosed with the saved models and a short retrain (train and validation only)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16</a:t>
            </a:r>
          </a:p>
        </p:txBody>
      </p:sp>
      <p:pic>
        <p:nvPicPr>
          <p:cNvPr id="201" name="Chart 1" descr="Bar charts: strong-augmentation model scores and short retrain score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457200" y="1261872"/>
            <a:ext cx="5212080" cy="2880360"/>
          </a:xfrm>
          <a:prstGeom prst="rect">
            <a:avLst/>
          </a:prstGeom>
        </p:spPr>
      </p:pic>
      <p:sp>
        <p:nvSpPr>
          <p:cNvPr id="202" name="Card 1"/>
          <p:cNvSpPr/>
          <p:nvPr/>
        </p:nvSpPr>
        <p:spPr>
          <a:xfrm>
            <a:off x="5760720" y="1261872"/>
            <a:ext cx="29260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images are fine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Rotations and crops only: no blank or non-finite images.</a:t>
            </a:r>
          </a:p>
        </p:txBody>
      </p:sp>
      <p:sp>
        <p:nvSpPr>
          <p:cNvPr id="203" name="Card 2"/>
          <p:cNvSpPr/>
          <p:nvPr/>
        </p:nvSpPr>
        <p:spPr>
          <a:xfrm>
            <a:off x="5760720" y="2286000"/>
            <a:ext cx="2926080" cy="932688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BatchNorm mismatch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The strong-all model scores 0.58 normally but 0.96 once BatchNorm is re-estimated.</a:t>
            </a:r>
          </a:p>
        </p:txBody>
      </p:sp>
      <p:sp>
        <p:nvSpPr>
          <p:cNvPr id="204" name="Card 3"/>
          <p:cNvSpPr/>
          <p:nvPr/>
        </p:nvSpPr>
        <p:spPr>
          <a:xfrm>
            <a:off x="5760720" y="3310128"/>
            <a:ext cx="2926080" cy="932688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Confirmed by rerunning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Geometric aug on all classes trains fine (0.977). Colour/blur/noise breaks it. On minority classes only it drops to 0.834: a label cue.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Geometric-only on all classes fixes it, and gives the best raw calibration (T 1.65 vs 2.39).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What These Results Do Not Show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Read before quoting any number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18</a:t>
            </a:r>
          </a:p>
        </p:txBody>
      </p:sp>
      <p:sp>
        <p:nvSpPr>
          <p:cNvPr id="201" name="Card 1"/>
          <p:cNvSpPr/>
          <p:nvPr/>
        </p:nvSpPr>
        <p:spPr>
          <a:xfrm>
            <a:off x="50292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The frozen threshold does not transfer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On EyePACS specificity is 0.39 (A) and 0.013 (C): sensitivity alone is misleading off-domain.</a:t>
            </a:r>
          </a:p>
        </p:txBody>
      </p:sp>
      <p:sp>
        <p:nvSpPr>
          <p:cNvPr id="202" name="Card 2"/>
          <p:cNvSpPr/>
          <p:nvPr/>
        </p:nvSpPr>
        <p:spPr>
          <a:xfrm>
            <a:off x="4663440" y="128016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Capture artifacts in DDR and APTOS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Image properties alone predict the label (AUROC 0.87 and 0.976).</a:t>
            </a:r>
          </a:p>
        </p:txBody>
      </p:sp>
      <p:sp>
        <p:nvSpPr>
          <p:cNvPr id="203" name="Card 3"/>
          <p:cNvSpPr/>
          <p:nvPr/>
        </p:nvSpPr>
        <p:spPr>
          <a:xfrm>
            <a:off x="502920" y="2743200"/>
            <a:ext cx="3977639" cy="13716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DDR split is random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No patient IDs: same-patient leakage is untested. Exact duplicates are not the issue.</a:t>
            </a:r>
          </a:p>
        </p:txBody>
      </p:sp>
      <p:sp>
        <p:nvSpPr>
          <p:cNvPr id="204" name="Card 4"/>
          <p:cNvSpPr/>
          <p:nvPr/>
        </p:nvSpPr>
        <p:spPr>
          <a:xfrm>
            <a:off x="4663440" y="2743200"/>
            <a:ext cx="3977639" cy="1371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Not yet reported</a:t>
            </a:r>
          </a:p>
          <a:p>
            <a:pPr algn="l"/>
            <a:r>
              <a:rPr sz="1100" b="0">
                <a:solidFill>
                  <a:srgbClr val="3a3a3a"/>
                </a:solidFill>
                <a:latin typeface="Arial"/>
              </a:rPr>
              <a:t>Confidence intervals, ECE, Brier and five seeds. Per-grade and specificity analyses are post-hoc.</a:t>
            </a:r>
          </a:p>
        </p:txBody>
      </p:sp>
      <p:sp>
        <p:nvSpPr>
          <p:cNvPr id="205" name="Banner"/>
          <p:cNvSpPr/>
          <p:nvPr/>
        </p:nvSpPr>
        <p:spPr>
          <a:xfrm>
            <a:off x="502920" y="4315968"/>
            <a:ext cx="8138160" cy="365760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The arm C contrast and the label audit stand; the rest needs a cleaner split and test.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81381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What the evidence supports so far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19</a:t>
            </a:r>
          </a:p>
        </p:txBody>
      </p:sp>
      <p:sp>
        <p:nvSpPr>
          <p:cNvPr id="201" name="Conclusion 1"/>
          <p:cNvSpPr/>
          <p:nvPr/>
        </p:nvSpPr>
        <p:spPr>
          <a:xfrm>
            <a:off x="502920" y="1280160"/>
            <a:ext cx="4069080" cy="914400"/>
          </a:xfrm>
          <a:prstGeom prst="roundRect">
            <a:avLst/>
          </a:prstGeom>
          <a:solidFill>
            <a:srgbClr val="FFE9D9"/>
          </a:solidFill>
          <a:ln w="9525">
            <a:solidFill>
              <a:srgbClr val="EB6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The merge as written teaches the source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C flags 99% of healthy EyePACS images as DR, matching the label audit.</a:t>
            </a:r>
          </a:p>
        </p:txBody>
      </p:sp>
      <p:sp>
        <p:nvSpPr>
          <p:cNvPr id="202" name="Conclusion 2"/>
          <p:cNvSpPr/>
          <p:nvPr/>
        </p:nvSpPr>
        <p:spPr>
          <a:xfrm>
            <a:off x="502920" y="2286000"/>
            <a:ext cx="4069080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Source-balancing helps off-domain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Arm B: EyePACS specificity 0.89, AUROC 0.88; DDR sensitivity unchanged.</a:t>
            </a:r>
          </a:p>
        </p:txBody>
      </p:sp>
      <p:sp>
        <p:nvSpPr>
          <p:cNvPr id="203" name="Conclusion 3"/>
          <p:cNvSpPr/>
          <p:nvPr/>
        </p:nvSpPr>
        <p:spPr>
          <a:xfrm>
            <a:off x="502920" y="3291840"/>
            <a:ext cx="406908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150" b="1">
                <a:solidFill>
                  <a:srgbClr val="121212"/>
                </a:solidFill>
                <a:latin typeface="Arial"/>
              </a:rPr>
              <a:t>In-domain scores are inflated</a:t>
            </a:r>
          </a:p>
          <a:p>
            <a:pPr algn="l"/>
            <a:r>
              <a:rPr sz="1050" b="0">
                <a:solidFill>
                  <a:srgbClr val="3a3a3a"/>
                </a:solidFill>
                <a:latin typeface="Arial"/>
              </a:rPr>
              <a:t>Capture properties alone predict DDR (0.87) and APTOS (0.976) labels.</a:t>
            </a:r>
          </a:p>
        </p:txBody>
      </p:sp>
      <p:sp>
        <p:nvSpPr>
          <p:cNvPr id="204" name="Next steps"/>
          <p:cNvSpPr/>
          <p:nvPr/>
        </p:nvSpPr>
        <p:spPr>
          <a:xfrm>
            <a:off x="4754880" y="1280160"/>
            <a:ext cx="3931920" cy="2926080"/>
          </a:xfrm>
          <a:prstGeom prst="roundRect">
            <a:avLst>
              <a:gd name="adj" fmla="val 6000"/>
            </a:avLst>
          </a:prstGeom>
          <a:solidFill>
            <a:srgbClr val="E4ECF6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36576" rIns="91440" bIns="36576" rtlCol="0" anchor="ctr"/>
          <a:lstStyle/>
          <a:p>
            <a:pPr algn="l"/>
            <a:r>
              <a:rPr sz="1200" b="1">
                <a:solidFill>
                  <a:srgbClr val="121212"/>
                </a:solidFill>
                <a:latin typeface="Arial"/>
              </a:rPr>
              <a:t>Next steps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1. Run the group-aware DDR split notebook; retrain on it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2. Report AUROC, per-grade results and own-source operating points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3. Test capture mitigation: size-matched subsets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4. Five seeds, intervals, ECE and Brier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5. Use geometric augmentation on all classes; keep minority-only as the cue control</a:t>
            </a:r>
          </a:p>
          <a:p>
            <a:pPr algn="l"/>
            <a:r>
              <a:rPr sz="1000" b="0">
                <a:solidFill>
                  <a:srgbClr val="3a3a3a"/>
                </a:solidFill>
                <a:latin typeface="Arial"/>
              </a:rPr>
              <a:t>6. Re-evaluate once; label post-hoc analyses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16647</TotalTime>
  <Words>737</Words>
  <Application>Microsoft Office PowerPoint</Application>
  <PresentationFormat>On-screen Show (16:9)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About Diabetic Retinopathy</vt:lpstr>
      <vt:lpstr>PowerPoint Presentation</vt:lpstr>
      <vt:lpstr>Research Aim</vt:lpstr>
      <vt:lpstr>PowerPoint Presentation</vt:lpstr>
      <vt:lpstr>How It Differs From Current Work</vt:lpstr>
      <vt:lpstr>PowerPoint Presentation</vt:lpstr>
      <vt:lpstr>Next Steps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Suja, Roshan</dc:creator>
  <cp:lastModifiedBy>Kazim Alikhan</cp:lastModifiedBy>
  <cp:revision>18</cp:revision>
  <dcterms:modified xsi:type="dcterms:W3CDTF">2026-08-01T08:50:42Z</dcterms:modified>
</cp:coreProperties>
</file>