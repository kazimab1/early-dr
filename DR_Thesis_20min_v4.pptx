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4" r:id="rId20"/>
    <p:sldId id="292" r:id="rId18"/>
    <p:sldId id="288" r:id="rId7"/>
    <p:sldId id="293" r:id="rId19"/>
    <p:sldId id="295" r:id="rId21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00" r:id="rId26"/>
    <p:sldId id="312" r:id="rId38"/>
    <p:sldId id="313" r:id="rId39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<Relationship Id="rId26" Type="http://schemas.openxmlformats.org/officeDocument/2006/relationships/slide" Target="slides/slide19.xml"/>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  <Relationship Id="rId39" Type="http://schemas.openxmlformats.org/officeDocument/2006/relationships/slide" Target="slides/slide32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2_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4_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7_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8_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9_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30_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1: DDR Test Set (In-Domain)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Bar charts: DDR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operating point works here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0.91, 0.94, 0.91 (target 0.90); sensitivity 0.937, 0.925, 0.937 for A, B, C.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 vs A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-0.012 (Holm p = 0.084, not significant); PR-AUC +0.007 (p = 0.002).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Caution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split is random with no patient IDs: the other eye of a patient can sit in train. Near-duplicate leakage is small (4%).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Adding EyePACS did not improve DDR sensitivity. In-domain numbers are optimistic.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2: Held-Out EyePACS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Same frozen threshold, unseen patients, all grades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Bar charts: EyePAC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C: the source shortcut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0.013: 99% of healthy EyePACS images flagged as DR. PR-AUC 0.43.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A: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Never saw EyePACS: specificity 0.39, sensitivity 0.885, PR-AUC 0.53.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B: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0.89, sensitivity 0.73, PR-AUC 0.80, AUROC 0.88.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Arm C is the source shortcut, measured directly.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3: APTOS External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Never used for training or selection; 3,662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Bar charts: APTO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Ranking is excellent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0.994 to 0.995 for all arms, even grade 1 vs No DR (0.98).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near 1.0 comes with specificity 0.46 (A), 0.83 (B), 0.24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Label tied to capture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size alone predicts APTOS early DR (AUROC 0.96): not clean evidence of robustness.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AUROC for APTOS. Do not quote its sensitivity.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Grade by Grade: Grade 1 Is the Hard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against No DR, per grade and per source (post-hoc analysis)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pic>
        <p:nvPicPr>
          <p:cNvPr id="201" name="Chart 1" descr="Bar charts: AUROC for grade 1 and grade 2 against No DR per source and ar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2 is easy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0.98 to 0.999 on DDR and APTOS for every arm.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1 is harder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EyePACS grade 1 vs No DR: 0.61 (A), 0.77 (B), 0.63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Why it matters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"Early DR" in DDR is mostly grade 2, which flatters the headline numbers.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grade 1 on its own: it is the earliest disease.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1: Duplicate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Hash-matched candidates across train, validation, test and APTOS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pic>
        <p:nvPicPr>
          <p:cNvPr id="201" name="Chart 1" descr="Candidate duplicate pairs, labelled with dataset, split and grade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12280" y="1261872"/>
            <a:ext cx="192024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02920" y="1261872"/>
            <a:ext cx="61264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834 candidate groups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Only 480 share the same grade; the rest are mostly hash collisions.</a:t>
            </a:r>
          </a:p>
        </p:txBody>
      </p:sp>
      <p:sp>
        <p:nvSpPr>
          <p:cNvPr id="203" name="Card 2"/>
          <p:cNvSpPr/>
          <p:nvPr/>
        </p:nvSpPr>
        <p:spPr>
          <a:xfrm>
            <a:off x="502920" y="2286000"/>
            <a:ext cx="61264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Metrics barely move without them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sensitivity 0.937 to 0.936; EyePACS and APTOS unchanged.</a:t>
            </a:r>
          </a:p>
        </p:txBody>
      </p:sp>
      <p:sp>
        <p:nvSpPr>
          <p:cNvPr id="204" name="Card 3"/>
          <p:cNvSpPr/>
          <p:nvPr/>
        </p:nvSpPr>
        <p:spPr>
          <a:xfrm>
            <a:off x="502920" y="3310128"/>
            <a:ext cx="61264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see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same patient photographed twice: patient-level leakage in the random DDR split is untested.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Exact duplicates do not explain the high scores.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3: A Group-Aware DDR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Near-duplicate images kept together; arms retrained on it (one seed)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14</a:t>
            </a:r>
          </a:p>
        </p:txBody>
      </p:sp>
      <p:pic>
        <p:nvPicPr>
          <p:cNvPr id="201" name="Chart 1" descr="Bar charts: near-duplicate leakage per split and validation PR-AUC on the random and group split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Leakage was small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4.2% of test images had a near-duplicate in train under the random split; 0% under the group split.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Retraining changed little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Validation PR-AUC, new validation sets: A 0.979 vs 0.972, B 0.897 vs 0.895, C 0.988 vs 0.982.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fix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Fellow eyes of one patient (similarity 0.92 to 0.96) stay on both sides: same-patient leakage is untested.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Near-duplicate leakage does not explain the high DDR scores.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2: Which Image Properties Predict the Label?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for early DR vs No DR from image properties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</a:p>
        </p:txBody>
      </p:sp>
      <p:pic>
        <p:nvPicPr>
          <p:cNvPr id="201" name="Chart 1" descr="Bar charts: AUROC from image size, file size, colour, sharpness and all properties for four train and test pair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029200" cy="299923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DDR: size alone 0.58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size barely predicts early DR. Colour (0.74) and file size (0.73) do: likely lesion content, not camera.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APTOS: size alone 0.96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Within APTOS, image size almost fully predicts the label: a real camera or hospital confound.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EyePACS: 0.50 to 0.59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No property predicts the label: the cleanest benchmark.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Orange = image size. APTOS is camera-confounded; EyePACS is clean; DDR is mixed.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Why Strong Augmentation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Diagnosed with the saved models and a short retrain (train and validation only)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17</a:t>
            </a:r>
          </a:p>
        </p:txBody>
      </p:sp>
      <p:pic>
        <p:nvPicPr>
          <p:cNvPr id="201" name="Chart 1" descr="Bar charts: strong-augmentation model scores and short retrain score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images are fine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Rotations and crops only: no blank or non-finite images.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BatchNorm mismatch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strong-all model scores 0.58 normally but 0.96 once BatchNorm is re-estimated.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Confirmed by rerunning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 trains fine (0.977). Colour/blur/noise breaks it. On minority classes only it drops to 0.834: a label cue.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Geometric-only on all classes fixes it, and gives the best raw calibration (T 1.65 vs 2.39).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19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is confounded by capture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size alone predicts APTOS early DR (AUROC 0.96): its 0.994 is not clean evidence of robustness.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DDR: same-patient leakage remains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IDs. Near-duplicates were small (4%) and removed, but a patient's other eye cannot be.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EyePACS, with a patient-level split and clean properties, is the most trustworthy benchmark.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 is the clean benchmark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Properties do not predict its labels (0.50 to 0.59); APTOS is confounded (size 0.96); DDR leakage is small.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Evaluate the group-split models once (new declaration)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