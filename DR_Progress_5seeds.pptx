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295" r:id="rId21"/>
    <p:sldId id="304" r:id="rId30"/>
    <p:sldId id="305" r:id="rId31"/>
    <p:sldId id="306" r:id="rId32"/>
    <p:sldId id="307" r:id="rId33"/>
    <p:sldId id="308" r:id="rId34"/>
    <p:sldId id="309" r:id="rId35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6_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five seeds complete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 (original run)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 and Kaggle pipeline: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C: original run (3 seeds) and group-split run (5 seeds)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evaluation; 14 imbalance runs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 properties, strong augmentation, APTOS size strata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Checked and ruled out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Near-duplicate leakage does not explain the high DDR scores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Image size alone does not explain the APTOS score (0.984 to 0.989 within same-size groups; post-hoc)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Own-source operating points (post-hoc)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Matched-subset check for APTOS capture cues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Literature search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original run,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Original run, 3 seeds: sensitivity 0.93 with specificity 0.91,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Five-Seed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Mean and 95% interval over five seeds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H Metric"/>
          <p:cNvSpPr/>
          <p:nvPr/>
        </p:nvSpPr>
        <p:spPr>
          <a:xfrm>
            <a:off x="502920" y="1280160"/>
            <a:ext cx="283464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202" name="H A: DDR only"/>
          <p:cNvSpPr/>
          <p:nvPr/>
        </p:nvSpPr>
        <p:spPr>
          <a:xfrm>
            <a:off x="3429000" y="1280160"/>
            <a:ext cx="173736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A: DDR only</a:t>
            </a:r>
          </a:p>
        </p:txBody>
      </p:sp>
      <p:sp>
        <p:nvSpPr>
          <p:cNvPr id="203" name="H B: source-balanced"/>
          <p:cNvSpPr/>
          <p:nvPr/>
        </p:nvSpPr>
        <p:spPr>
          <a:xfrm>
            <a:off x="5257800" y="1280160"/>
            <a:ext cx="173736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B: source-balanced</a:t>
            </a:r>
          </a:p>
        </p:txBody>
      </p:sp>
      <p:sp>
        <p:nvSpPr>
          <p:cNvPr id="204" name="H C: old merge"/>
          <p:cNvSpPr/>
          <p:nvPr/>
        </p:nvSpPr>
        <p:spPr>
          <a:xfrm>
            <a:off x="7086600" y="1280160"/>
            <a:ext cx="1554480" cy="292608"/>
          </a:xfrm>
          <a:prstGeom prst="roundRect">
            <a:avLst/>
          </a:prstGeom>
          <a:solidFill>
            <a:srgbClr val="3D5F84"/>
          </a:solidFill>
          <a:ln w="9525">
            <a:solidFill>
              <a:srgbClr val="3D5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C: old merge</a:t>
            </a:r>
          </a:p>
        </p:txBody>
      </p:sp>
      <p:sp>
        <p:nvSpPr>
          <p:cNvPr id="205" name="M0"/>
          <p:cNvSpPr/>
          <p:nvPr/>
        </p:nvSpPr>
        <p:spPr>
          <a:xfrm>
            <a:off x="502920" y="16276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DDR: sensitivity at specificity 0.90</a:t>
            </a:r>
          </a:p>
        </p:txBody>
      </p:sp>
      <p:sp>
        <p:nvSpPr>
          <p:cNvPr id="206" name="V03.75"/>
          <p:cNvSpPr/>
          <p:nvPr/>
        </p:nvSpPr>
        <p:spPr>
          <a:xfrm>
            <a:off x="3429000" y="16276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07" name="V05.75"/>
          <p:cNvSpPr/>
          <p:nvPr/>
        </p:nvSpPr>
        <p:spPr>
          <a:xfrm>
            <a:off x="5257800" y="16276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08" name="V07.75"/>
          <p:cNvSpPr/>
          <p:nvPr/>
        </p:nvSpPr>
        <p:spPr>
          <a:xfrm>
            <a:off x="7086600" y="1627632"/>
            <a:ext cx="155448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09" name="M1"/>
          <p:cNvSpPr/>
          <p:nvPr/>
        </p:nvSpPr>
        <p:spPr>
          <a:xfrm>
            <a:off x="502920" y="20848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EyePACS: AUROC</a:t>
            </a:r>
          </a:p>
        </p:txBody>
      </p:sp>
      <p:sp>
        <p:nvSpPr>
          <p:cNvPr id="210" name="V13.75"/>
          <p:cNvSpPr/>
          <p:nvPr/>
        </p:nvSpPr>
        <p:spPr>
          <a:xfrm>
            <a:off x="3429000" y="20848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1" name="V15.75"/>
          <p:cNvSpPr/>
          <p:nvPr/>
        </p:nvSpPr>
        <p:spPr>
          <a:xfrm>
            <a:off x="5257800" y="20848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2" name="V17.75"/>
          <p:cNvSpPr/>
          <p:nvPr/>
        </p:nvSpPr>
        <p:spPr>
          <a:xfrm>
            <a:off x="7086600" y="2084832"/>
            <a:ext cx="155448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3" name="M2"/>
          <p:cNvSpPr/>
          <p:nvPr/>
        </p:nvSpPr>
        <p:spPr>
          <a:xfrm>
            <a:off x="502920" y="25420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EyePACS: specificity at frozen threshold</a:t>
            </a:r>
          </a:p>
        </p:txBody>
      </p:sp>
      <p:sp>
        <p:nvSpPr>
          <p:cNvPr id="214" name="V23.75"/>
          <p:cNvSpPr/>
          <p:nvPr/>
        </p:nvSpPr>
        <p:spPr>
          <a:xfrm>
            <a:off x="3429000" y="25420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5" name="V25.75"/>
          <p:cNvSpPr/>
          <p:nvPr/>
        </p:nvSpPr>
        <p:spPr>
          <a:xfrm>
            <a:off x="5257800" y="25420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6" name="V27.75"/>
          <p:cNvSpPr/>
          <p:nvPr/>
        </p:nvSpPr>
        <p:spPr>
          <a:xfrm>
            <a:off x="7086600" y="2542032"/>
            <a:ext cx="155448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7" name="M3"/>
          <p:cNvSpPr/>
          <p:nvPr/>
        </p:nvSpPr>
        <p:spPr>
          <a:xfrm>
            <a:off x="502920" y="29992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APTOS: AUROC</a:t>
            </a:r>
          </a:p>
        </p:txBody>
      </p:sp>
      <p:sp>
        <p:nvSpPr>
          <p:cNvPr id="218" name="V33.75"/>
          <p:cNvSpPr/>
          <p:nvPr/>
        </p:nvSpPr>
        <p:spPr>
          <a:xfrm>
            <a:off x="3429000" y="29992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19" name="V35.75"/>
          <p:cNvSpPr/>
          <p:nvPr/>
        </p:nvSpPr>
        <p:spPr>
          <a:xfrm>
            <a:off x="5257800" y="29992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20" name="V37.75"/>
          <p:cNvSpPr/>
          <p:nvPr/>
        </p:nvSpPr>
        <p:spPr>
          <a:xfrm>
            <a:off x="7086600" y="2999232"/>
            <a:ext cx="155448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21" name="M4"/>
          <p:cNvSpPr/>
          <p:nvPr/>
        </p:nvSpPr>
        <p:spPr>
          <a:xfrm>
            <a:off x="502920" y="3456432"/>
            <a:ext cx="2834640" cy="411480"/>
          </a:xfrm>
          <a:prstGeom prst="roundRect">
            <a:avLst/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1">
                <a:solidFill>
                  <a:srgbClr val="121212"/>
                </a:solidFill>
                <a:latin typeface="Arial"/>
              </a:rPr>
              <a:t>EyePACS: ECE and Brier</a:t>
            </a:r>
          </a:p>
        </p:txBody>
      </p:sp>
      <p:sp>
        <p:nvSpPr>
          <p:cNvPr id="222" name="V43.75"/>
          <p:cNvSpPr/>
          <p:nvPr/>
        </p:nvSpPr>
        <p:spPr>
          <a:xfrm>
            <a:off x="3429000" y="34564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23" name="V45.75"/>
          <p:cNvSpPr/>
          <p:nvPr/>
        </p:nvSpPr>
        <p:spPr>
          <a:xfrm>
            <a:off x="5257800" y="3456432"/>
            <a:ext cx="173736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24" name="V47.75"/>
          <p:cNvSpPr/>
          <p:nvPr/>
        </p:nvSpPr>
        <p:spPr>
          <a:xfrm>
            <a:off x="7086600" y="3456432"/>
            <a:ext cx="1554480" cy="41148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000" b="0">
                <a:solidFill>
                  <a:srgbClr val="3a3a3a"/>
                </a:solidFill>
                <a:latin typeface="Arial"/>
              </a:rPr>
              <a:t>[   ]</a:t>
            </a:r>
          </a:p>
        </p:txBody>
      </p:sp>
      <p:sp>
        <p:nvSpPr>
          <p:cNvPr id="225" name="Note"/>
          <p:cNvSpPr/>
          <p:nvPr/>
        </p:nvSpPr>
        <p:spPr>
          <a:xfrm>
            <a:off x="502920" y="3931920"/>
            <a:ext cx="8138160" cy="3474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Mean and 95% patient-level bootstrap interval over seeds 42 to 46, group-split models.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Diagnostic checks, using saved files and train/validation data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 and split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groups; 4% of DDR test had a near-duplicate in train. A group split removed it and the test results did not change.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Image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alone: DDR 0.58, APTOS 0.96, EyePACS 0.53. Within same-size APTOS groups the models still score 0.984 to 0.989.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BatchNorm mismatch from the noise/blur part. Geometric aug on all classes: 0.977; on minority only: 0.834 (a label cue).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and image size are not the explanation; the threshold and capture cues remain.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may carry other capture cues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Size does not explain its score (post-hoc), but its labels are still predictable from size alone (0.96).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removed, but a patient's other eye cannot be.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Post-hoc analyses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Per-grade, specificity and size-strata results were added after seeing the data and are labelled so.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labels; APTOS is confounded;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1. Own-source operating points (post-hoc)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2. Matched-subset check for APTOS capture cues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3. Use geometric augmentation on all classes; keep minority-only as the cue control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 Literature search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5. Write the thesis chapters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