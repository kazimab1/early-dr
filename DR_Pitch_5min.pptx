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303" r:id="rId29"/>
    <p:sldId id="304" r:id="rId30"/>
    <p:sldId id="305" r:id="rId31"/>
    <p:sldId id="288" r:id="rId7"/>
    <p:sldId id="293" r:id="rId19"/>
    <p:sldId id="306" r:id="rId32"/>
    <p:sldId id="307" r:id="rId33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9" Type="http://schemas.openxmlformats.org/officeDocument/2006/relationships/slide" Target="slides/slide12.xml"/>
  
  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Why it matters, what it can do, and how I will build it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Why Screening Needs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pathway breaks down before an image is graded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01" name="Path 1"/>
          <p:cNvSpPr/>
          <p:nvPr/>
        </p:nvSpPr>
        <p:spPr>
          <a:xfrm>
            <a:off x="640080" y="1325880"/>
            <a:ext cx="1737360" cy="6858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Diabetes</a:t>
            </a:r>
          </a:p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patient</a:t>
            </a:r>
          </a:p>
        </p:txBody>
      </p:sp>
      <p:sp>
        <p:nvSpPr>
          <p:cNvPr id="202" name="Path arrow 1"/>
          <p:cNvSpPr/>
          <p:nvPr/>
        </p:nvSpPr>
        <p:spPr>
          <a:xfrm>
            <a:off x="2404872" y="1673352"/>
            <a:ext cx="21945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03" name="Path 2"/>
          <p:cNvSpPr/>
          <p:nvPr/>
        </p:nvSpPr>
        <p:spPr>
          <a:xfrm>
            <a:off x="2651760" y="1325880"/>
            <a:ext cx="1737360" cy="6858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Annual eye</a:t>
            </a:r>
          </a:p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exam / photo</a:t>
            </a:r>
          </a:p>
        </p:txBody>
      </p:sp>
      <p:sp>
        <p:nvSpPr>
          <p:cNvPr id="204" name="Path arrow 2"/>
          <p:cNvSpPr/>
          <p:nvPr/>
        </p:nvSpPr>
        <p:spPr>
          <a:xfrm>
            <a:off x="4416552" y="1673352"/>
            <a:ext cx="21945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05" name="Path 3"/>
          <p:cNvSpPr/>
          <p:nvPr/>
        </p:nvSpPr>
        <p:spPr>
          <a:xfrm>
            <a:off x="4663440" y="1325880"/>
            <a:ext cx="1737360" cy="6858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Human grading</a:t>
            </a:r>
          </a:p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queue</a:t>
            </a:r>
          </a:p>
        </p:txBody>
      </p:sp>
      <p:sp>
        <p:nvSpPr>
          <p:cNvPr id="206" name="Path arrow 3"/>
          <p:cNvSpPr/>
          <p:nvPr/>
        </p:nvSpPr>
        <p:spPr>
          <a:xfrm>
            <a:off x="6428231" y="1673352"/>
            <a:ext cx="21945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07" name="Path 4"/>
          <p:cNvSpPr/>
          <p:nvPr/>
        </p:nvSpPr>
        <p:spPr>
          <a:xfrm>
            <a:off x="6675120" y="1325880"/>
            <a:ext cx="1737360" cy="6858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</a:p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treatment</a:t>
            </a:r>
          </a:p>
        </p:txBody>
      </p:sp>
      <p:sp>
        <p:nvSpPr>
          <p:cNvPr id="208" name="Gap 1"/>
          <p:cNvSpPr/>
          <p:nvPr/>
        </p:nvSpPr>
        <p:spPr>
          <a:xfrm>
            <a:off x="502920" y="2331720"/>
            <a:ext cx="2606040" cy="1554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Coverage gap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60% do not get annual eye exams.</a:t>
            </a:r>
          </a:p>
        </p:txBody>
      </p:sp>
      <p:sp>
        <p:nvSpPr>
          <p:cNvPr id="209" name="Gap 2"/>
          <p:cNvSpPr/>
          <p:nvPr/>
        </p:nvSpPr>
        <p:spPr>
          <a:xfrm>
            <a:off x="3273552" y="2331720"/>
            <a:ext cx="2606040" cy="1554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Capacity gap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More images need more grading time and specialist review.</a:t>
            </a:r>
          </a:p>
        </p:txBody>
      </p:sp>
      <p:sp>
        <p:nvSpPr>
          <p:cNvPr id="210" name="Gap 3"/>
          <p:cNvSpPr/>
          <p:nvPr/>
        </p:nvSpPr>
        <p:spPr>
          <a:xfrm>
            <a:off x="6044183" y="2331720"/>
            <a:ext cx="2606040" cy="1554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Safety gap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Early disease often has no symptoms; late detection lets preventable vision loss progress.</a:t>
            </a:r>
          </a:p>
        </p:txBody>
      </p:sp>
      <p:sp>
        <p:nvSpPr>
          <p:cNvPr id="211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Need: rapid, consistent triage immediately after fundus image capture.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It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 triage aid for the ophthalmologist, not a replacement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pic>
        <p:nvPicPr>
          <p:cNvPr id="201" name="Chart 1" descr="Retinal fundus photograph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02920" y="1463040"/>
            <a:ext cx="2194560" cy="1505102"/>
          </a:xfrm>
          <a:prstGeom prst="rect">
            <a:avLst/>
          </a:prstGeom>
        </p:spPr>
      </p:pic>
      <p:sp>
        <p:nvSpPr>
          <p:cNvPr id="202" name="Input label"/>
          <p:cNvSpPr/>
          <p:nvPr/>
        </p:nvSpPr>
        <p:spPr>
          <a:xfrm>
            <a:off x="502920" y="3017520"/>
            <a:ext cx="21945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 image</a:t>
            </a:r>
          </a:p>
        </p:txBody>
      </p:sp>
      <p:sp>
        <p:nvSpPr>
          <p:cNvPr id="203" name="Arrow 1"/>
          <p:cNvSpPr/>
          <p:nvPr/>
        </p:nvSpPr>
        <p:spPr>
          <a:xfrm>
            <a:off x="2788920" y="2286000"/>
            <a:ext cx="36576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04" name="Model"/>
          <p:cNvSpPr/>
          <p:nvPr/>
        </p:nvSpPr>
        <p:spPr>
          <a:xfrm>
            <a:off x="3246120" y="1600200"/>
            <a:ext cx="1737360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Early-DR model</a:t>
            </a:r>
          </a:p>
          <a:p>
            <a:pPr algn="ctr"/>
            <a:r>
              <a:rPr sz="1050" b="0">
                <a:solidFill>
                  <a:srgbClr val="3a3a3a"/>
                </a:solidFill>
                <a:latin typeface="Arial"/>
              </a:rPr>
              <a:t>EfficientNet-B0 with calibrated probabilities</a:t>
            </a:r>
          </a:p>
        </p:txBody>
      </p:sp>
      <p:sp>
        <p:nvSpPr>
          <p:cNvPr id="205" name="Arrow 2"/>
          <p:cNvSpPr/>
          <p:nvPr/>
        </p:nvSpPr>
        <p:spPr>
          <a:xfrm>
            <a:off x="5074920" y="2286000"/>
            <a:ext cx="36576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06" name="Output 1"/>
          <p:cNvSpPr/>
          <p:nvPr/>
        </p:nvSpPr>
        <p:spPr>
          <a:xfrm>
            <a:off x="5532120" y="1280160"/>
            <a:ext cx="3108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Early-DR flag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Grades 1-2 vs No DR at a fixed specificity</a:t>
            </a:r>
          </a:p>
        </p:txBody>
      </p:sp>
      <p:sp>
        <p:nvSpPr>
          <p:cNvPr id="207" name="Output 2"/>
          <p:cNvSpPr/>
          <p:nvPr/>
        </p:nvSpPr>
        <p:spPr>
          <a:xfrm>
            <a:off x="5532120" y="2240280"/>
            <a:ext cx="3108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Early vs late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Separates early from late disease to set priority</a:t>
            </a:r>
          </a:p>
        </p:txBody>
      </p:sp>
      <p:sp>
        <p:nvSpPr>
          <p:cNvPr id="208" name="Output 3"/>
          <p:cNvSpPr/>
          <p:nvPr/>
        </p:nvSpPr>
        <p:spPr>
          <a:xfrm>
            <a:off x="5532120" y="3200400"/>
            <a:ext cx="3108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Calibrated probability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 score clinicians can trust, tested on unseen datasets</a:t>
            </a:r>
          </a:p>
        </p:txBody>
      </p:sp>
      <p:sp>
        <p:nvSpPr>
          <p:cNvPr id="209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model supports the ophthalmologist: faster prioritization of high-risk images.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How It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Common practice as I understand it, to be checked in the literature 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01" name="H0"/>
          <p:cNvSpPr/>
          <p:nvPr/>
        </p:nvSpPr>
        <p:spPr>
          <a:xfrm>
            <a:off x="502920" y="1280160"/>
            <a:ext cx="118872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/>
            </a:r>
          </a:p>
        </p:txBody>
      </p:sp>
      <p:sp>
        <p:nvSpPr>
          <p:cNvPr id="202" name="H1"/>
          <p:cNvSpPr/>
          <p:nvPr/>
        </p:nvSpPr>
        <p:spPr>
          <a:xfrm>
            <a:off x="1783080" y="1280160"/>
            <a:ext cx="324612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Common in existing work (to verify)</a:t>
            </a:r>
          </a:p>
        </p:txBody>
      </p:sp>
      <p:sp>
        <p:nvSpPr>
          <p:cNvPr id="203" name="H2"/>
          <p:cNvSpPr/>
          <p:nvPr/>
        </p:nvSpPr>
        <p:spPr>
          <a:xfrm>
            <a:off x="5120640" y="1280160"/>
            <a:ext cx="3566160" cy="292608"/>
          </a:xfrm>
          <a:prstGeom prst="roundRect">
            <a:avLst/>
          </a:prstGeom>
          <a:solidFill>
            <a:srgbClr val="1E7A5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This project</a:t>
            </a:r>
          </a:p>
        </p:txBody>
      </p:sp>
      <p:sp>
        <p:nvSpPr>
          <p:cNvPr id="204" name="L0"/>
          <p:cNvSpPr/>
          <p:nvPr/>
        </p:nvSpPr>
        <p:spPr>
          <a:xfrm>
            <a:off x="502920" y="1645920"/>
            <a:ext cx="1188720" cy="45720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00" b="1">
                <a:solidFill>
                  <a:srgbClr val="121212"/>
                </a:solidFill>
                <a:latin typeface="Arial"/>
              </a:rPr>
              <a:t>Target</a:t>
            </a:r>
          </a:p>
        </p:txBody>
      </p:sp>
      <p:sp>
        <p:nvSpPr>
          <p:cNvPr id="205" name="C0"/>
          <p:cNvSpPr/>
          <p:nvPr/>
        </p:nvSpPr>
        <p:spPr>
          <a:xfrm>
            <a:off x="1783080" y="1645920"/>
            <a:ext cx="32461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Referable DR (moderate or worse)</a:t>
            </a:r>
          </a:p>
        </p:txBody>
      </p:sp>
      <p:sp>
        <p:nvSpPr>
          <p:cNvPr id="206" name="D0"/>
          <p:cNvSpPr/>
          <p:nvPr/>
        </p:nvSpPr>
        <p:spPr>
          <a:xfrm>
            <a:off x="5120640" y="1645920"/>
            <a:ext cx="3566160" cy="4572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121212"/>
                </a:solidFill>
                <a:latin typeface="Arial"/>
              </a:rPr>
              <a:t>Early DR (grades 1-2) at a fixed specificity</a:t>
            </a:r>
          </a:p>
        </p:txBody>
      </p:sp>
      <p:sp>
        <p:nvSpPr>
          <p:cNvPr id="207" name="L1"/>
          <p:cNvSpPr/>
          <p:nvPr/>
        </p:nvSpPr>
        <p:spPr>
          <a:xfrm>
            <a:off x="502920" y="2167128"/>
            <a:ext cx="1188720" cy="45720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00" b="1">
                <a:solidFill>
                  <a:srgbClr val="121212"/>
                </a:solidFill>
                <a:latin typeface="Arial"/>
              </a:rPr>
              <a:t>Data</a:t>
            </a:r>
          </a:p>
        </p:txBody>
      </p:sp>
      <p:sp>
        <p:nvSpPr>
          <p:cNvPr id="208" name="C1"/>
          <p:cNvSpPr/>
          <p:nvPr/>
        </p:nvSpPr>
        <p:spPr>
          <a:xfrm>
            <a:off x="1783080" y="2167128"/>
            <a:ext cx="32461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One dataset, or merged without testing the merge</a:t>
            </a:r>
          </a:p>
        </p:txBody>
      </p:sp>
      <p:sp>
        <p:nvSpPr>
          <p:cNvPr id="209" name="D1"/>
          <p:cNvSpPr/>
          <p:nvPr/>
        </p:nvSpPr>
        <p:spPr>
          <a:xfrm>
            <a:off x="5120640" y="2167128"/>
            <a:ext cx="3566160" cy="4572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121212"/>
                </a:solidFill>
                <a:latin typeface="Arial"/>
              </a:rPr>
              <a:t>The merge is tested: DDR only, source-balanced, and the old merge as a control</a:t>
            </a:r>
          </a:p>
        </p:txBody>
      </p:sp>
      <p:sp>
        <p:nvSpPr>
          <p:cNvPr id="210" name="L2"/>
          <p:cNvSpPr/>
          <p:nvPr/>
        </p:nvSpPr>
        <p:spPr>
          <a:xfrm>
            <a:off x="502920" y="2688336"/>
            <a:ext cx="1188720" cy="45720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00" b="1">
                <a:solidFill>
                  <a:srgbClr val="121212"/>
                </a:solidFill>
                <a:latin typeface="Arial"/>
              </a:rPr>
              <a:t>Imbalance</a:t>
            </a:r>
          </a:p>
        </p:txBody>
      </p:sp>
      <p:sp>
        <p:nvSpPr>
          <p:cNvPr id="211" name="C2"/>
          <p:cNvSpPr/>
          <p:nvPr/>
        </p:nvSpPr>
        <p:spPr>
          <a:xfrm>
            <a:off x="1783080" y="2688336"/>
            <a:ext cx="32461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 new method against a few baselines</a:t>
            </a:r>
          </a:p>
        </p:txBody>
      </p:sp>
      <p:sp>
        <p:nvSpPr>
          <p:cNvPr id="212" name="D2"/>
          <p:cNvSpPr/>
          <p:nvPr/>
        </p:nvSpPr>
        <p:spPr>
          <a:xfrm>
            <a:off x="5120640" y="2688336"/>
            <a:ext cx="3566160" cy="4572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121212"/>
                </a:solidFill>
                <a:latin typeface="Arial"/>
              </a:rPr>
              <a:t>Sampler, loss and augmentation one at a time, with a control</a:t>
            </a:r>
          </a:p>
        </p:txBody>
      </p:sp>
      <p:sp>
        <p:nvSpPr>
          <p:cNvPr id="213" name="L3"/>
          <p:cNvSpPr/>
          <p:nvPr/>
        </p:nvSpPr>
        <p:spPr>
          <a:xfrm>
            <a:off x="502920" y="3209544"/>
            <a:ext cx="1188720" cy="45720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00" b="1">
                <a:solidFill>
                  <a:srgbClr val="121212"/>
                </a:solidFill>
                <a:latin typeface="Arial"/>
              </a:rPr>
              <a:t>Transfer</a:t>
            </a:r>
          </a:p>
        </p:txBody>
      </p:sp>
      <p:sp>
        <p:nvSpPr>
          <p:cNvPr id="214" name="C3"/>
          <p:cNvSpPr/>
          <p:nvPr/>
        </p:nvSpPr>
        <p:spPr>
          <a:xfrm>
            <a:off x="1783080" y="3209544"/>
            <a:ext cx="32461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Internal splits or one external set</a:t>
            </a:r>
          </a:p>
        </p:txBody>
      </p:sp>
      <p:sp>
        <p:nvSpPr>
          <p:cNvPr id="215" name="D3"/>
          <p:cNvSpPr/>
          <p:nvPr/>
        </p:nvSpPr>
        <p:spPr>
          <a:xfrm>
            <a:off x="5120640" y="3209544"/>
            <a:ext cx="3566160" cy="4572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121212"/>
                </a:solidFill>
                <a:latin typeface="Arial"/>
              </a:rPr>
              <a:t>Held-out EyePACS patients plus APTOS, reported per source</a:t>
            </a:r>
          </a:p>
        </p:txBody>
      </p:sp>
      <p:sp>
        <p:nvSpPr>
          <p:cNvPr id="216" name="L4"/>
          <p:cNvSpPr/>
          <p:nvPr/>
        </p:nvSpPr>
        <p:spPr>
          <a:xfrm>
            <a:off x="502920" y="3730752"/>
            <a:ext cx="1188720" cy="45720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00" b="1">
                <a:solidFill>
                  <a:srgbClr val="121212"/>
                </a:solidFill>
                <a:latin typeface="Arial"/>
              </a:rPr>
              <a:t>Probabilities</a:t>
            </a:r>
          </a:p>
        </p:txBody>
      </p:sp>
      <p:sp>
        <p:nvSpPr>
          <p:cNvPr id="217" name="C4"/>
          <p:cNvSpPr/>
          <p:nvPr/>
        </p:nvSpPr>
        <p:spPr>
          <a:xfrm>
            <a:off x="1783080" y="3730752"/>
            <a:ext cx="32461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Accuracy or AUC</a:t>
            </a:r>
          </a:p>
        </p:txBody>
      </p:sp>
      <p:sp>
        <p:nvSpPr>
          <p:cNvPr id="218" name="D4"/>
          <p:cNvSpPr/>
          <p:nvPr/>
        </p:nvSpPr>
        <p:spPr>
          <a:xfrm>
            <a:off x="5120640" y="3730752"/>
            <a:ext cx="3566160" cy="4572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121212"/>
                </a:solidFill>
                <a:latin typeface="Arial"/>
              </a:rPr>
              <a:t>Calibrated, prior-shift-corrected, with reliability curves</a:t>
            </a:r>
          </a:p>
        </p:txBody>
      </p:sp>
      <p:sp>
        <p:nvSpPr>
          <p:cNvPr id="219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Not a new network: the value is the design and the evidence. Novelty claims wait for the literature search.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Six Rules for Every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makes the evidence trustworthy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Rule 1"/>
          <p:cNvSpPr/>
          <p:nvPr/>
        </p:nvSpPr>
        <p:spPr>
          <a:xfrm>
            <a:off x="502920" y="12801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1  Freeze the splits first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Split by patient where IDs exist, save as files, never change them.</a:t>
            </a:r>
          </a:p>
        </p:txBody>
      </p:sp>
      <p:sp>
        <p:nvSpPr>
          <p:cNvPr id="202" name="Rule 2"/>
          <p:cNvSpPr/>
          <p:nvPr/>
        </p:nvSpPr>
        <p:spPr>
          <a:xfrm>
            <a:off x="3246120" y="1280160"/>
            <a:ext cx="2606040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2  Declare the analysis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One primary comparison and the specificity target are written down before any test split is opened.</a:t>
            </a:r>
          </a:p>
        </p:txBody>
      </p:sp>
      <p:sp>
        <p:nvSpPr>
          <p:cNvPr id="203" name="Rule 3"/>
          <p:cNvSpPr/>
          <p:nvPr/>
        </p:nvSpPr>
        <p:spPr>
          <a:xfrm>
            <a:off x="5989320" y="128016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3  Change one thing per run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One training script and one config file per experiment.</a:t>
            </a:r>
          </a:p>
        </p:txBody>
      </p:sp>
      <p:sp>
        <p:nvSpPr>
          <p:cNvPr id="204" name="Rule 4"/>
          <p:cNvSpPr/>
          <p:nvPr/>
        </p:nvSpPr>
        <p:spPr>
          <a:xfrm>
            <a:off x="502920" y="27889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4  Select on validation only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Thresholds, temperature and prior correction are fitted on validation, then frozen.</a:t>
            </a:r>
          </a:p>
        </p:txBody>
      </p:sp>
      <p:sp>
        <p:nvSpPr>
          <p:cNvPr id="205" name="Rule 5"/>
          <p:cNvSpPr/>
          <p:nvPr/>
        </p:nvSpPr>
        <p:spPr>
          <a:xfrm>
            <a:off x="3246120" y="2788920"/>
            <a:ext cx="2606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5  Measure the noise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3-5 seeds, patient-level bootstrap intervals, Holm-corrected comparisons.</a:t>
            </a:r>
          </a:p>
        </p:txBody>
      </p:sp>
      <p:sp>
        <p:nvSpPr>
          <p:cNvPr id="206" name="Rule 6"/>
          <p:cNvSpPr/>
          <p:nvPr/>
        </p:nvSpPr>
        <p:spPr>
          <a:xfrm>
            <a:off x="5989320" y="2788920"/>
            <a:ext cx="2606040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6  Open the test once, external last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Held-out EyePACS and APTOS are never used for training or selection.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Every result is reported per source, with confidence intervals.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Expected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this thesis will add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sp>
        <p:nvSpPr>
          <p:cNvPr id="201" name="Contribution 1"/>
          <p:cNvSpPr/>
          <p:nvPr/>
        </p:nvSpPr>
        <p:spPr>
          <a:xfrm>
            <a:off x="502920" y="1280160"/>
            <a:ext cx="192024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2400" b="1">
                <a:solidFill>
                  <a:srgbClr val="EB6834"/>
                </a:solidFill>
                <a:latin typeface="Arial"/>
              </a:rPr>
              <a:t>1</a:t>
            </a:r>
          </a:p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Early-first evidence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at a fixed specificity for grades 1-2, with confidence intervals.</a:t>
            </a:r>
          </a:p>
        </p:txBody>
      </p:sp>
      <p:sp>
        <p:nvSpPr>
          <p:cNvPr id="202" name="Contribution 2"/>
          <p:cNvSpPr/>
          <p:nvPr/>
        </p:nvSpPr>
        <p:spPr>
          <a:xfrm>
            <a:off x="2578608" y="1280160"/>
            <a:ext cx="192024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2400" b="1">
                <a:solidFill>
                  <a:srgbClr val="1E7A5A"/>
                </a:solidFill>
                <a:latin typeface="Arial"/>
              </a:rPr>
              <a:t>2</a:t>
            </a:r>
          </a:p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 tested merge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Whether adding EyePACS helps or only teaches the source, using a negative control.</a:t>
            </a:r>
          </a:p>
        </p:txBody>
      </p:sp>
      <p:sp>
        <p:nvSpPr>
          <p:cNvPr id="203" name="Contribution 3"/>
          <p:cNvSpPr/>
          <p:nvPr/>
        </p:nvSpPr>
        <p:spPr>
          <a:xfrm>
            <a:off x="4654296" y="1280160"/>
            <a:ext cx="192024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2400" b="1">
                <a:solidFill>
                  <a:srgbClr val="EB6834"/>
                </a:solidFill>
                <a:latin typeface="Arial"/>
              </a:rPr>
              <a:t>3</a:t>
            </a:r>
          </a:p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 controlled comparison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Sampler, loss and augmentation tested one at a time, with an augmentation control.</a:t>
            </a:r>
          </a:p>
        </p:txBody>
      </p:sp>
      <p:sp>
        <p:nvSpPr>
          <p:cNvPr id="204" name="Contribution 4"/>
          <p:cNvSpPr/>
          <p:nvPr/>
        </p:nvSpPr>
        <p:spPr>
          <a:xfrm>
            <a:off x="6729984" y="1280160"/>
            <a:ext cx="192024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2400" b="1">
                <a:solidFill>
                  <a:srgbClr val="1E7A5A"/>
                </a:solidFill>
                <a:latin typeface="Arial"/>
              </a:rPr>
              <a:t>4</a:t>
            </a:r>
          </a:p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Probabilities for screening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Calibrated, prior-shift-corrected outputs, checked on unseen sources.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Not a new network, and no accuracy gain is promised in advance.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